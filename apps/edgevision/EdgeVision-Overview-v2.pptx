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38"/>
  </p:sldMasterIdLst>
  <p:notesMasterIdLst>
    <p:notesMasterId r:id="rId53"/>
  </p:notesMasterIdLst>
  <p:handoutMasterIdLst>
    <p:handoutMasterId r:id="rId54"/>
  </p:handoutMasterIdLst>
  <p:sldIdLst>
    <p:sldId id="256" r:id="rId52"/>
    <p:sldId id="257" r:id="rId51"/>
    <p:sldId id="258" r:id="rId50"/>
    <p:sldId id="259" r:id="rId49"/>
    <p:sldId id="260" r:id="rId48"/>
    <p:sldId id="261" r:id="rId47"/>
    <p:sldId id="262" r:id="rId46"/>
    <p:sldId id="263" r:id="rId45"/>
    <p:sldId id="264" r:id="rId44"/>
    <p:sldId id="265" r:id="rId43"/>
    <p:sldId id="266" r:id="rId42"/>
    <p:sldId id="267" r:id="rId41"/>
    <p:sldId id="268" r:id="rId40"/>
    <p:sldId id="269" r:id="rId39"/>
    <p:sldId id="270" r:id="rId71"/>
    <p:sldId id="271" r:id="rId72"/>
    <p:sldId id="272" r:id="rId73"/>
    <p:sldId id="273" r:id="rId74"/>
    <p:sldId id="274" r:id="rId75"/>
    <p:sldId id="275" r:id="rId76"/>
    <p:sldId id="276" r:id="rId77"/>
    <p:sldId id="277" r:id="rId78"/>
    <p:sldId id="278" r:id="rId79"/>
    <p:sldId id="279" r:id="rId80"/>
    <p:sldId id="280" r:id="rId81"/>
  </p:sldIdLst>
  <p:sldSz cx="12192000" cy="6858000"/>
  <p:notesSz cx="6858000" cy="9144000"/>
  <p:embeddedFontLst>
    <p:embeddedFont>
      <p:font typeface="Ericsson Hilda" pitchFamily="2" charset="0"/>
      <p:regular r:id="rId55"/>
      <p:bold r:id="rId56"/>
      <p:italic r:id="rId57"/>
      <p:boldItalic r:id="rId58"/>
    </p:embeddedFont>
    <p:embeddedFont>
      <p:font typeface="Ericsson Hilda ExtraBold" pitchFamily="2" charset="0"/>
      <p:bold r:id="rId59"/>
    </p:embeddedFont>
    <p:embeddedFont>
      <p:font typeface="Ericsson Hilda ExtraLight" pitchFamily="2" charset="0"/>
      <p:regular r:id="rId60"/>
    </p:embeddedFont>
    <p:embeddedFont>
      <p:font typeface="Ericsson Hilda Light" pitchFamily="2" charset="0"/>
      <p:regular r:id="rId61"/>
      <p:italic r:id="rId62"/>
    </p:embeddedFont>
    <p:embeddedFont>
      <p:font typeface="Ericsson Technical Icons" pitchFamily="2" charset="0"/>
      <p:regular r:id="rId63"/>
      <p:bold r:id="rId64"/>
      <p:italic r:id="rId65"/>
      <p:boldItalic r:id="rId66"/>
    </p:embeddedFont>
  </p:embeddedFontLst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7"/>
  </p:normalViewPr>
  <p:slideViewPr>
    <p:cSldViewPr snapToGrid="0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slideMaster" Target="slideMasters/slideMaster1.xml"/><Relationship Id="rId39" Type="http://schemas.openxmlformats.org/officeDocument/2006/relationships/slide" Target="slides/slide14.xml"/><Relationship Id="rId40" Type="http://schemas.openxmlformats.org/officeDocument/2006/relationships/slide" Target="slides/slide13.xml"/><Relationship Id="rId41" Type="http://schemas.openxmlformats.org/officeDocument/2006/relationships/slide" Target="slides/slide12.xml"/><Relationship Id="rId42" Type="http://schemas.openxmlformats.org/officeDocument/2006/relationships/slide" Target="slides/slide11.xml"/><Relationship Id="rId43" Type="http://schemas.openxmlformats.org/officeDocument/2006/relationships/slide" Target="slides/slide10.xml"/><Relationship Id="rId44" Type="http://schemas.openxmlformats.org/officeDocument/2006/relationships/slide" Target="slides/slide9.xml"/><Relationship Id="rId45" Type="http://schemas.openxmlformats.org/officeDocument/2006/relationships/slide" Target="slides/slide8.xml"/><Relationship Id="rId46" Type="http://schemas.openxmlformats.org/officeDocument/2006/relationships/slide" Target="slides/slide7.xml"/><Relationship Id="rId47" Type="http://schemas.openxmlformats.org/officeDocument/2006/relationships/slide" Target="slides/slide6.xml"/><Relationship Id="rId48" Type="http://schemas.openxmlformats.org/officeDocument/2006/relationships/slide" Target="slides/slide5.xml"/><Relationship Id="rId49" Type="http://schemas.openxmlformats.org/officeDocument/2006/relationships/slide" Target="slides/slide4.xml"/><Relationship Id="rId50" Type="http://schemas.openxmlformats.org/officeDocument/2006/relationships/slide" Target="slides/slide3.xml"/><Relationship Id="rId51" Type="http://schemas.openxmlformats.org/officeDocument/2006/relationships/slide" Target="slides/slide2.xml"/><Relationship Id="rId52" Type="http://schemas.openxmlformats.org/officeDocument/2006/relationships/slide" Target="slides/slide1.xml"/><Relationship Id="rId53" Type="http://schemas.openxmlformats.org/officeDocument/2006/relationships/notesMaster" Target="notesMasters/notesMaster1.xml"/><Relationship Id="rId54" Type="http://schemas.openxmlformats.org/officeDocument/2006/relationships/handoutMaster" Target="handoutMasters/handoutMaster1.xml"/><Relationship Id="rId55" Type="http://schemas.openxmlformats.org/officeDocument/2006/relationships/font" Target="fonts/font1.fntdata"/><Relationship Id="rId56" Type="http://schemas.openxmlformats.org/officeDocument/2006/relationships/font" Target="fonts/font2.fntdata"/><Relationship Id="rId57" Type="http://schemas.openxmlformats.org/officeDocument/2006/relationships/font" Target="fonts/font3.fntdata"/><Relationship Id="rId58" Type="http://schemas.openxmlformats.org/officeDocument/2006/relationships/font" Target="fonts/font4.fntdata"/><Relationship Id="rId59" Type="http://schemas.openxmlformats.org/officeDocument/2006/relationships/font" Target="fonts/font5.fntdata"/><Relationship Id="rId60" Type="http://schemas.openxmlformats.org/officeDocument/2006/relationships/font" Target="fonts/font6.fntdata"/><Relationship Id="rId61" Type="http://schemas.openxmlformats.org/officeDocument/2006/relationships/font" Target="fonts/font7.fntdata"/><Relationship Id="rId62" Type="http://schemas.openxmlformats.org/officeDocument/2006/relationships/font" Target="fonts/font8.fntdata"/><Relationship Id="rId63" Type="http://schemas.openxmlformats.org/officeDocument/2006/relationships/font" Target="fonts/font9.fntdata"/><Relationship Id="rId64" Type="http://schemas.openxmlformats.org/officeDocument/2006/relationships/font" Target="fonts/font10.fntdata"/><Relationship Id="rId65" Type="http://schemas.openxmlformats.org/officeDocument/2006/relationships/font" Target="fonts/font11.fntdata"/><Relationship Id="rId66" Type="http://schemas.openxmlformats.org/officeDocument/2006/relationships/font" Target="fonts/font12.fntdata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15.xml"/><Relationship Id="rId72" Type="http://schemas.openxmlformats.org/officeDocument/2006/relationships/slide" Target="slides/slide16.xml"/><Relationship Id="rId73" Type="http://schemas.openxmlformats.org/officeDocument/2006/relationships/slide" Target="slides/slide17.xml"/><Relationship Id="rId74" Type="http://schemas.openxmlformats.org/officeDocument/2006/relationships/slide" Target="slides/slide18.xml"/><Relationship Id="rId75" Type="http://schemas.openxmlformats.org/officeDocument/2006/relationships/slide" Target="slides/slide19.xml"/><Relationship Id="rId76" Type="http://schemas.openxmlformats.org/officeDocument/2006/relationships/slide" Target="slides/slide20.xml"/><Relationship Id="rId77" Type="http://schemas.openxmlformats.org/officeDocument/2006/relationships/slide" Target="slides/slide21.xml"/><Relationship Id="rId78" Type="http://schemas.openxmlformats.org/officeDocument/2006/relationships/slide" Target="slides/slide22.xml"/><Relationship Id="rId79" Type="http://schemas.openxmlformats.org/officeDocument/2006/relationships/slide" Target="slides/slide23.xml"/><Relationship Id="rId80" Type="http://schemas.openxmlformats.org/officeDocument/2006/relationships/slide" Target="slides/slide24.xml"/><Relationship Id="rId81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FD348-9C7F-4865-875C-863EC6E2C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94207-A46E-4F9A-91C9-BB4398CEA9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05526-C577-427D-800D-7921EA160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A4CFA-39AC-4AB6-B521-EBDB0AF74A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AEDCC-D3AE-4D3E-A1AA-6BA600F2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6212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fld id="{F949BC75-2359-4F98-918A-7033C92AD4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3382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talk is in two halves — first the platform, then the application.</a:t>
            </a:r>
          </a:p>
          <a:p/>
          <a:p>
            <a:r>
              <a:t>Talking points:</a:t>
            </a:r>
          </a:p>
          <a:p>
            <a:r>
              <a:t>- Part 1: the platform = CAMARA + 5G + Kubernetes that exposes compute at the edge.</a:t>
            </a:r>
          </a:p>
          <a:p>
            <a:r>
              <a:t>- Part 2: EdgeVision = the YOLO-based object-detection demo that runs on it.</a:t>
            </a:r>
          </a:p>
          <a:p>
            <a:r>
              <a:t>- The point of the split: the platform is generic; any container can run there.</a:t>
            </a:r>
          </a:p>
          <a:p/>
          <a:p>
            <a:r>
              <a:t>REFERENCE: CAMARA project, Linux Foundation + GSMA, since 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Edge compute solves four real problems: battery, latency, GPU access, collaboration.</a:t>
            </a:r>
          </a:p>
          <a:p/>
          <a:p>
            <a:r>
              <a:t>Talking points:</a:t>
            </a:r>
          </a:p>
          <a:p>
            <a:r>
              <a:t>- Don't anchor on one of these — different apps care about different cards.</a:t>
            </a:r>
          </a:p>
          <a:p>
            <a:r>
              <a:t>- AR/VR cares about latency and battery; analytics cares about cost; cooperative driving cares about collaboration.</a:t>
            </a:r>
          </a:p>
          <a:p>
            <a:r>
              <a:t>- The closing line teases the platform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CAMARA = standardized HTTP APIs to the network. Two families: communication, compute.</a:t>
            </a:r>
          </a:p>
          <a:p/>
          <a:p>
            <a:r>
              <a:t>Talking points:</a:t>
            </a:r>
          </a:p>
          <a:p>
            <a:r>
              <a:t>- The left family is what people usually associate with CAMARA (QoS, location).</a:t>
            </a:r>
          </a:p>
          <a:p>
            <a:r>
              <a:t>- The right family is younger but is the topic here.</a:t>
            </a:r>
          </a:p>
          <a:p>
            <a:r>
              <a:t>- Stress 'open source' — anyone can implement, anyone can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Only Edge Discovery is stable. App Management is alpha.</a:t>
            </a:r>
          </a:p>
          <a:p/>
          <a:p>
            <a:r>
              <a:t>Talking points:</a:t>
            </a:r>
          </a:p>
          <a:p>
            <a:r>
              <a:t>- The whole Edge Cloud umbrella was split into 6 sub-projects in April 2024.</a:t>
            </a:r>
          </a:p>
          <a:p>
            <a:r>
              <a:t>- Stable = SimpleEdgeDiscovery only. Everything else is moving.</a:t>
            </a:r>
          </a:p>
          <a:p>
            <a:r>
              <a:t>- This is why our shim diverges on manifest shape — there's nothing solid to align to yet.</a:t>
            </a:r>
          </a:p>
          <a:p/>
          <a:p>
            <a:r>
              <a:t>REFERENCE: github.com/camaraproject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platform exposes three things to any application: a control-plane API (CAMARA), a place to run a container, and a way to reach it.</a:t>
            </a:r>
          </a:p>
          <a:p/>
          <a:p>
            <a:r>
              <a:t>Talking points:</a:t>
            </a:r>
          </a:p>
          <a:p>
            <a:r>
              <a:t>- This slide is intentionally generic. No YOLO, no Triton, no model — just the service shape.</a:t>
            </a:r>
          </a:p>
          <a:p>
            <a:r>
              <a:t>- Blue arrow = control plane (the CAMARA API). Teal arrow = data plane (your app's traffic).</a:t>
            </a:r>
          </a:p>
          <a:p>
            <a:r>
              <a:t>- The data plane DOES NOT pass through the NEF-shim. NEF returns host:port and steps aside.</a:t>
            </a:r>
          </a:p>
          <a:p>
            <a:r>
              <a:t>- 'Tenant Pod' is whatever the developer brings — we'll see what we put there in Part 2.</a:t>
            </a:r>
          </a:p>
          <a:p/>
          <a:p>
            <a:r>
              <a:t>Colour meaning: Blue = control / CAMARA, Teal = data plane / edge compute, Grey = transport.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Four HTTP calls cover the full lifetime of an edge workload.</a:t>
            </a:r>
          </a:p>
          <a:p/>
          <a:p>
            <a:r>
              <a:t>Talking points:</a:t>
            </a:r>
          </a:p>
          <a:p>
            <a:r>
              <a:t>- Step 1: discovery is geography + capabilities (GPU model, CPU cores, memory).</a:t>
            </a:r>
          </a:p>
          <a:p>
            <a:r>
              <a:t>- Step 2: register the manifest, then create an instance on a chosen zone. Two calls so the same manifest can be instantiated repeatedly.</a:t>
            </a:r>
          </a:p>
          <a:p>
            <a:r>
              <a:t>- Step 3: returns host:port. The client now bypasses CAMARA entirely.</a:t>
            </a:r>
          </a:p>
          <a:p>
            <a:r>
              <a:t>- Step 4: when done, DELETE. k8s resources go away; manifest stays registered if you want to redeploy.</a:t>
            </a:r>
          </a:p>
          <a:p/>
          <a:p>
            <a:r>
              <a:t>Colour meaning: Blue = lifecycle steps, Coral = teardown / destructive.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This is the whole API. Five endpoints plus DELETE.</a:t>
            </a:r>
          </a:p>
          <a:p/>
          <a:p>
            <a:r>
              <a:t>Talking points:</a:t>
            </a:r>
          </a:p>
          <a:p>
            <a:r>
              <a:t>- GETs return JSON, no body needed. POSTs send JSON.</a:t>
            </a:r>
          </a:p>
          <a:p>
            <a:r>
              <a:t>- Two POSTs, deliberately: register manifest separately from instantiating it. Same manifest can be re-deployed without re-sending the body.</a:t>
            </a:r>
          </a:p>
          <a:p>
            <a:r>
              <a:t>- The polled status uses two fields: 'status' (terminal-ish) and 'phase' (fine-grained k8s phase).</a:t>
            </a:r>
          </a:p>
          <a:p>
            <a:r>
              <a:t>- Endpoint discovery is what the client really wants. After this, no more CAMARA calls until teardown.</a:t>
            </a:r>
          </a:p>
          <a:p>
            <a:r>
              <a:t>- DELETE returns 204 No Content. Idempotent: deleting a non-existent instance returns 404 but the cluster state is the same.</a:t>
            </a:r>
          </a:p>
          <a:p/>
          <a:p>
            <a:r>
              <a:t>Colour meaning: Teal verb = GET (safe), Blue verb = POST (creates), Coral verb = DELETE (destroys).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One round-trip of CAMARA setup, then the client talks straight to the pod.</a:t>
            </a:r>
          </a:p>
          <a:p/>
          <a:p>
            <a:r>
              <a:t>Talking points:</a:t>
            </a:r>
          </a:p>
          <a:p>
            <a:r>
              <a:t>- Counting the CAMARA calls: 5 requests for the entire lifecycle (zones, apps, app-instances, polled status, endpoints). Then DELETE at quit.</a:t>
            </a:r>
          </a:p>
          <a:p>
            <a:r>
              <a:t>- The polling loop is intentional — CAMARA doesn't notify you when a pod is ready. Caller polls.</a:t>
            </a:r>
          </a:p>
          <a:p>
            <a:r>
              <a:t>- The orange arrow is the load-bearing point of the entire deck: once endpoints are returned, the platform steps out of the way.</a:t>
            </a:r>
          </a:p>
          <a:p>
            <a:r>
              <a:t>- The 'container init (depends on app)' is the only app-specific bit on this slide. For a small static-site container that's a few seconds; for a TRT-engine-building Triton it's many minutes.</a:t>
            </a:r>
          </a:p>
          <a:p/>
          <a:p>
            <a:r>
              <a:t>Colour meaning: Blue = CAMARA request, Teal = CAMARA response, Orange = data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API is plain HTTP. You can drive it from bash.</a:t>
            </a:r>
          </a:p>
          <a:p/>
          <a:p>
            <a:r>
              <a:t>Talking points:</a:t>
            </a:r>
          </a:p>
          <a:p>
            <a:r>
              <a:t>- This is a complete lifecycle. Cut/paste, edit the manifest, you have your own edge container running.</a:t>
            </a:r>
          </a:p>
          <a:p>
            <a:r>
              <a:t>- Step 2 separation (register → instantiate) means the same manifest can be redeployed without resending the body — useful for scripted demos.</a:t>
            </a:r>
          </a:p>
          <a:p>
            <a:r>
              <a:t>- The polling loop is what every client does. Could be replaced with WebSocket/SSE later.</a:t>
            </a:r>
          </a:p>
          <a:p>
            <a:r>
              <a:t>- Point at edge-demo/edge_demo.py — that's a real, working Python client with no abstractions. Good code to read.</a:t>
            </a:r>
          </a:p>
          <a:p/>
          <a:p>
            <a:r>
              <a:t>REFERENCE: OpenAPI spec at $API/openapi.json. edge-demo/README.md documents each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NEF-shim is a thin FastAPI service that translates CAMARA calls into k8s API calls. Nothing else.</a:t>
            </a:r>
          </a:p>
          <a:p/>
          <a:p>
            <a:r>
              <a:t>Talking points:</a:t>
            </a:r>
          </a:p>
          <a:p>
            <a:r>
              <a:t>- Stateless control-plane component, sits in the LTH cluster.</a:t>
            </a:r>
          </a:p>
          <a:p>
            <a:r>
              <a:t>- Holds two kube-clients: in-cluster for LTH, kubeconfig file for Xerces.</a:t>
            </a:r>
          </a:p>
          <a:p>
            <a:r>
              <a:t>- Tenancy is by source-IP hash. No tokens, no signup — bring an IP, get a slug.</a:t>
            </a:r>
          </a:p>
          <a:p>
            <a:r>
              <a:t>- The red line at the bottom is THE most important point of the deck: inference traffic doesn't traverse this service.</a:t>
            </a:r>
          </a:p>
          <a:p/>
          <a:p>
            <a:r>
              <a:t>Colour meaning: Blue = external API, Teal = internal k8s operations, Coral = caveat / important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Multi-tenancy is cheap — md5 of source IP and a k8s namespace label.</a:t>
            </a:r>
          </a:p>
          <a:p/>
          <a:p>
            <a:r>
              <a:t>Talking points:</a:t>
            </a:r>
          </a:p>
          <a:p>
            <a:r>
              <a:t>- Every CAMARA call carries x-forwarded-for. We hash, prefix t-, take 8 hex chars.</a:t>
            </a:r>
          </a:p>
          <a:p>
            <a:r>
              <a:t>- Each tenant gets its own Deployment + NodePort Service. Names collide deterministically.</a:t>
            </a:r>
          </a:p>
          <a:p>
            <a:r>
              <a:t>- Reality bite: switching network (5G → VPN → WiFi) changes the source IP. The old slug's resources become orphans because there's no /list endpoint to find them again.</a:t>
            </a:r>
          </a:p>
          <a:p>
            <a:r>
              <a:t>- In production this would be replaced with real auth tokens scoped to a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Two zones today, one API.</a:t>
            </a:r>
          </a:p>
          <a:p/>
          <a:p>
            <a:r>
              <a:t>Talking points:</a:t>
            </a:r>
          </a:p>
          <a:p>
            <a:r>
              <a:t>- LTH = our own k8s cluster on bare metal next to the gNB. Low latency.</a:t>
            </a:r>
          </a:p>
          <a:p>
            <a:r>
              <a:t>- Xerces = Ericsson's OpenStack cloud. More distant, older GPU.</a:t>
            </a:r>
          </a:p>
          <a:p>
            <a:r>
              <a:t>- The client compares capabilities and picks. The platform doesn't care.</a:t>
            </a:r>
          </a:p>
          <a:p>
            <a:r>
              <a:t>- The 'same shape' line is the punch — endpoint URLs look identical (host:port), only the host differs per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EdgeVision = one application split between a UE-side client and an edge-side inference pod.</a:t>
            </a:r>
          </a:p>
          <a:p/>
          <a:p>
            <a:r>
              <a:t>Talking points:</a:t>
            </a:r>
          </a:p>
          <a:p>
            <a:r>
              <a:t>- Anchor the audience: this is YOLO running on a phone vs running on a 5G-edge GPU.</a:t>
            </a:r>
          </a:p>
          <a:p>
            <a:r>
              <a:t>- The 'toggleable' bit is the demo's superpower: flip a key, watch latency change.</a:t>
            </a:r>
          </a:p>
          <a:p>
            <a:r>
              <a:t>- Both halves are stock open-source tech composed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Same three columns as Part 1 — now with EdgeVision parts in each box.</a:t>
            </a:r>
          </a:p>
          <a:p/>
          <a:p>
            <a:r>
              <a:t>Talking points:</a:t>
            </a:r>
          </a:p>
          <a:p>
            <a:r>
              <a:t>- Side-by-side this with the Part 1 diagram. The platform didn't change.</a:t>
            </a:r>
          </a:p>
          <a:p>
            <a:r>
              <a:t>- The Tkinter GUI is just a CAMARA client + a gRPC/HTTP client; nothing CAMARA-specific is hardcoded.</a:t>
            </a:r>
          </a:p>
          <a:p>
            <a:r>
              <a:t>- The edge pod is whatever the manifest says — here it's Triton + sidecar. Same NodePorts as any other pod.</a:t>
            </a:r>
          </a:p>
          <a:p>
            <a:r>
              <a:t>- The teal arrow goes straight from client to pod. CAMARA isn't on the hot path.</a:t>
            </a:r>
          </a:p>
          <a:p/>
          <a:p>
            <a:r>
              <a:t>Colour meaning: same as Part 1 (Blue control, Teal data plane).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whole 'application' is one JSON document. The platform does the rest.</a:t>
            </a:r>
          </a:p>
          <a:p/>
          <a:p>
            <a:r>
              <a:t>Talking points:</a:t>
            </a:r>
          </a:p>
          <a:p>
            <a:r>
              <a:t>- Container image is fixed; lifecycle is per-instance.</a:t>
            </a:r>
          </a:p>
          <a:p>
            <a:r>
              <a:t>- The two NICs (http, grpc) become two NodePort ports. Names are preserved in endpoint discovery.</a:t>
            </a:r>
          </a:p>
          <a:p>
            <a:r>
              <a:t>- 1200s liveness grace is calibrated for the V100 worst case. On L40S we never come close to that.</a:t>
            </a:r>
          </a:p>
          <a:p>
            <a:r>
              <a:t>- gpu=1 is the trigger for GPU scheduling, taint toleration, runtimeClass — all done by the shim.</a:t>
            </a:r>
          </a:p>
          <a:p/>
          <a:p>
            <a:r>
              <a:t>REFERENCE: client/camara.py — this is the literal APP_MANIFEST dict sent on POST /apps.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Image is just Triton + sidecar + weights + a build script. No pre-built engines.</a:t>
            </a:r>
          </a:p>
          <a:p/>
          <a:p>
            <a:r>
              <a:t>Talking points:</a:t>
            </a:r>
          </a:p>
          <a:p>
            <a:r>
              <a:t>- We rebased to 23.10 specifically so the same image works on V100. The earlier 24.10 base dropped SM 70.</a:t>
            </a:r>
          </a:p>
          <a:p>
            <a:r>
              <a:t>- No .plan files in the image means the same artifact is portable across GPU generations.</a:t>
            </a:r>
          </a:p>
          <a:p>
            <a:r>
              <a:t>- The cost: first boot per fresh pod. L40S ~3-5 min, V100 ~12-14 min.</a:t>
            </a:r>
          </a:p>
          <a:p>
            <a:r>
              <a:t>- A PersistentVolume on the engine cache directory would fix this.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First boot is dominated by TRT engine build, and is GPU-dependent.</a:t>
            </a:r>
          </a:p>
          <a:p/>
          <a:p>
            <a:r>
              <a:t>Talking points:</a:t>
            </a:r>
          </a:p>
          <a:p>
            <a:r>
              <a:t>- Important to call out the V100 cold time, otherwise the liveness probe slide doesn't make sense.</a:t>
            </a:r>
          </a:p>
          <a:p>
            <a:r>
              <a:t>- A warm restart (same node, same pod's emptyDir) skips steps 1-4. ~10 s to ready.</a:t>
            </a:r>
          </a:p>
          <a:p>
            <a:r>
              <a:t>- A new pod on the same node STILL rebuilds because emptyDir is pod-scoped. Future: move engines to a PVC.</a:t>
            </a:r>
          </a:p>
          <a:p/>
          <a:p>
            <a:r>
              <a:t>Colour meaning: Teal = good (L40S), Coral = caveat (V100).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One toggle (E in the GUI) drives a 5-call CAMARA sequence and a few minutes of k8s + Triton startup.</a:t>
            </a:r>
          </a:p>
          <a:p/>
          <a:p>
            <a:r>
              <a:t>Talking points:</a:t>
            </a:r>
          </a:p>
          <a:p>
            <a:r>
              <a:t>- The polling loop is the GUI showing real-time progress (scheduling → pulling → starting → running → ready).</a:t>
            </a:r>
          </a:p>
          <a:p>
            <a:r>
              <a:t>- Engine build is the dominant cost first time. After that the same pod hits the cache.</a:t>
            </a:r>
          </a:p>
          <a:p>
            <a:r>
              <a:t>- The last reply ('endpoints') is the entire reason CAMARA is on the slide. Hand-off complete; from here it's direct gRPC/HTTP.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Inference is a 4-actor sequence inside one pod plus a network hop.</a:t>
            </a:r>
          </a:p>
          <a:p/>
          <a:p>
            <a:r>
              <a:t>Talking points:</a:t>
            </a:r>
          </a:p>
          <a:p>
            <a:r>
              <a:t>- Sidecar ↔ Triton is in-process: shared-memory IPC, no socket.</a:t>
            </a:r>
          </a:p>
          <a:p>
            <a:r>
              <a:t>- The visible network hop is Client ↔ Sidecar only. NodePort, single TCP for gRPC.</a:t>
            </a:r>
          </a:p>
          <a:p>
            <a:r>
              <a:t>- The bottom red note is the headline — repeat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Two YOLOv8 models, same image, runtime switch.</a:t>
            </a:r>
          </a:p>
          <a:p/>
          <a:p>
            <a:r>
              <a:t>Talking points:</a:t>
            </a:r>
          </a:p>
          <a:p>
            <a:r>
              <a:t>- Detection is the cheap one — even local CPU can keep up at low frame rates.</a:t>
            </a:r>
          </a:p>
          <a:p>
            <a:r>
              <a:t>- Segmentation is the gain case — 88× speedup vs local CPU.</a:t>
            </a:r>
          </a:p>
          <a:p>
            <a:r>
              <a:t>- 'Same Triton model repo' is the practical detail — no second pod to manage.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Real measurements from the running system, not estimates.</a:t>
            </a:r>
          </a:p>
          <a:p/>
          <a:p>
            <a:r>
              <a:t>Talking points:</a:t>
            </a:r>
          </a:p>
          <a:p>
            <a:r>
              <a:t>- End-to-end ≈ 50–55 ms over 5G. Of that, the radio is ~30 ms and the pod is ~20 ms.</a:t>
            </a:r>
          </a:p>
          <a:p>
            <a:r>
              <a:t>- GPU inference proper is 4-6 ms. Everything else is movement + decode + NMS.</a:t>
            </a:r>
          </a:p>
          <a:p>
            <a:r>
              <a:t>- Segmentation is barely slower than detection on edge GPU. On CPU it's 7× slower.</a:t>
            </a:r>
          </a:p>
          <a:p>
            <a:r>
              <a:t>- The CPU baseline at the bottom is to anchor why edge matters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Two transports, same NodePort. Client picks; platform doesn't care.</a:t>
            </a:r>
          </a:p>
          <a:p/>
          <a:p>
            <a:r>
              <a:t>Talking points:</a:t>
            </a:r>
          </a:p>
          <a:p>
            <a:r>
              <a:t>- gRPC = faster + persistent. HTTP = robust through proxies.</a:t>
            </a:r>
          </a:p>
          <a:p>
            <a:r>
              <a:t>- The corporate-VPN gotcha is real — was the reason we changed the endpoint discovery to return host:port for both.</a:t>
            </a:r>
          </a:p>
          <a:p>
            <a:r>
              <a:t>- 'Same endpoint shape' is the key — there is no special path-prefix proxy any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Thanks. Questions welcome.</a:t>
            </a:r>
          </a:p>
          <a:p/>
          <a:p>
            <a:r>
              <a:t>Talking points:</a:t>
            </a:r>
          </a:p>
          <a:p>
            <a:r>
              <a:t>- Demo is live and can be shown.</a:t>
            </a:r>
          </a:p>
          <a:p>
            <a:r>
              <a:t>- Code: edgevision/ in the project repo.</a:t>
            </a:r>
          </a:p>
          <a:p>
            <a:r>
              <a:t>- Open follow-ups: PVC-backed engine cache, real auth, more zones, model hot-swap.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4F7D8E4D-D656-4514-86F6-2624B92DFAEA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4575616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2C4DCBAB-498B-44C8-A3FA-EACC7469F027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01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6C6AFF3D-038D-4E80-9B73-B0EF8DF06E34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41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446D440B-920B-4C3E-B9D0-FDD616DF37D3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74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F0A068FB-E351-4198-BE09-9FDE6648923C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545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75199194-54B2-4A6F-B502-DE8690CB422E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6204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2C518A1F-2B45-4746-839A-E31F69B6DCD8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333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58771D2F-36B2-422C-922A-9BBDEB6BEA5B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2386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22129A07-14B0-41AE-9704-A640E2FDE670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79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7C404D58-2673-452E-A602-91DEDCDCE898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2761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3CF2839A-8D5B-4F3B-868A-D29D87BBEED7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5883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47A5BEBF-1BA6-48BE-866D-2502AD122DFD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8662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AE2492E8-C2AC-4EB8-82F0-BD639CC96A66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5725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7F203423-A22C-40CF-B5F5-C024D2F0DBFB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9499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D57262B4-A2C5-40A7-A665-9340D01AA792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5899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666ED658-8E02-4A60-9D3E-9080D892018A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4934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02FB88A9-9623-487F-80D3-0414D73E4113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8612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7B1D56EB-451A-4230-88EF-34416C998027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4322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07D868D2-9F00-47BF-BAF9-E2AF120CC4A8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6988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2696251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r>
              <a:rPr lang="en-US" sz="800" b="0" i="0" u="none">
                <a:solidFill>
                  <a:schemeClr val="tx1"/>
                </a:solidFill>
                <a:latin typeface="+mn-lt"/>
              </a:rPr>
              <a:t>  |  2025-03-19  |  Quick Guide  |  Ericsson Internal  |  Page </a:t>
            </a:r>
            <a:fld id="{BF9F2793-3C63-45E7-9E1C-8ABFFD0ECB74}" type="slidenum">
              <a:rPr lang="en-US" sz="800" b="0" i="0" u="none" smtClean="0">
                <a:solidFill>
                  <a:schemeClr val="tx1"/>
                </a:solidFill>
                <a:latin typeface="+mn-lt"/>
              </a:rPr>
              <a:t>‹#›</a:t>
            </a:fld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2095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68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3027148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04705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6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0" r:id="rId2"/>
    <p:sldLayoutId id="2147483707" r:id="rId3"/>
    <p:sldLayoutId id="2147483709" r:id="rId4"/>
    <p:sldLayoutId id="2147483673" r:id="rId5"/>
    <p:sldLayoutId id="2147483712" r:id="rId6"/>
    <p:sldLayoutId id="2147483706" r:id="rId7"/>
    <p:sldLayoutId id="2147483713" r:id="rId8"/>
    <p:sldLayoutId id="2147483694" r:id="rId9"/>
    <p:sldLayoutId id="2147483714" r:id="rId10"/>
    <p:sldLayoutId id="2147483675" r:id="rId11"/>
    <p:sldLayoutId id="2147483716" r:id="rId12"/>
    <p:sldLayoutId id="2147483696" r:id="rId13"/>
    <p:sldLayoutId id="2147483715" r:id="rId14"/>
    <p:sldLayoutId id="2147483678" r:id="rId15"/>
    <p:sldLayoutId id="2147483717" r:id="rId16"/>
    <p:sldLayoutId id="2147483690" r:id="rId17"/>
    <p:sldLayoutId id="2147483718" r:id="rId18"/>
    <p:sldLayoutId id="2147483681" r:id="rId19"/>
    <p:sldLayoutId id="2147483719" r:id="rId20"/>
    <p:sldLayoutId id="2147483692" r:id="rId21"/>
    <p:sldLayoutId id="2147483720" r:id="rId22"/>
    <p:sldLayoutId id="2147483705" r:id="rId23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>
                <a:solidFill>
                  <a:srgbClr val="000000"/>
                </a:solidFill>
                <a:latin typeface="Ericsson Hilda Light"/>
              </a:rPr>
              <a:t>EdgeVision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242424"/>
                </a:solidFill>
                <a:latin typeface="Ericsson Hilda"/>
              </a:rPr>
              <a:t>A 5G edge-compute platform —</a:t>
            </a:r>
          </a:p>
          <a:p>
            <a:r>
              <a:rPr sz="2000">
                <a:solidFill>
                  <a:srgbClr val="242424"/>
                </a:solidFill>
                <a:latin typeface="Ericsson Hilda"/>
              </a:rPr>
              <a:t>and a real-world application that runs on 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7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5400" b="0" i="0">
                <a:solidFill>
                  <a:srgbClr val="FFFFFF"/>
                </a:solidFill>
                <a:latin typeface="Ericsson Hilda Light"/>
              </a:rPr>
              <a:t>Part 1 —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FFFFFF"/>
                </a:solidFill>
                <a:latin typeface="Ericsson Hilda"/>
              </a:rPr>
              <a:t>A 5G + Kubernetes edge service exposed via CAMARA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Why offload compute to the network edge?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697480" cy="64008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74E6"/>
                </a:solidFill>
                <a:latin typeface="Ericsson Hilda"/>
              </a:rPr>
              <a:t>Battery &amp; heat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Heavy compute drains UE battery and heats the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697480" cy="64008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74E6"/>
                </a:solidFill>
                <a:latin typeface="Ericsson Hilda"/>
              </a:rP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5603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Edge GPU + 5G beats hyperscaler RTT.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~10 ms RTT vs ~50–100 ms to central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97480" cy="64008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74E6"/>
                </a:solidFill>
                <a:latin typeface="Ericsson Hilda"/>
              </a:rPr>
              <a:t>Cost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5603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GPU access without buying a GPU. Pay-per-use, on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697480" cy="64008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74E6"/>
                </a:solidFill>
                <a:latin typeface="Ericsson Hilda"/>
              </a:rPr>
              <a:t>Multi-device collaboration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5603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Edge becomes a coordination point — multiple UEs share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242424"/>
                </a:solidFill>
                <a:latin typeface="Ericsson Hilda"/>
              </a:rPr>
              <a:t>The network already has compute near the user. The question is: how does an app actually find it and use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What is CAMARA?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42424"/>
                </a:solidFill>
                <a:latin typeface="Ericsson Hilda"/>
              </a:rPr>
              <a:t>An open-source project (Linux Foundation + GSMA) that defines standard HTTP APIs for what the network can 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5394960" cy="73152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74E6"/>
                </a:solidFill>
                <a:latin typeface="Ericsson Hilda"/>
              </a:rPr>
              <a:t>Communication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Quality on Demand, Edge Discovery, Slice info,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Device Location, Number Verification,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560320"/>
            <a:ext cx="5394960" cy="73152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3969A"/>
                </a:solidFill>
                <a:latin typeface="Ericsson Hilda"/>
              </a:rPr>
              <a:t>Compute &amp; AI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383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Edge App Management, Endpoint Discovery,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Application Endpoint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67676"/>
                </a:solidFill>
                <a:latin typeface="Ericsson Hilda"/>
              </a:rPr>
              <a:t>This talk focuses on the right column — the compute side.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67676"/>
                </a:solidFill>
                <a:latin typeface="Ericsson Hilda"/>
              </a:rPr>
              <a:t>Goal: a developer asks 'put my container near this UE' and the network does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CAMARA Edge Cloud — specification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743200" cy="41148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Sub-project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828800"/>
            <a:ext cx="3931920" cy="41148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Repo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1828800"/>
            <a:ext cx="1737360" cy="41148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828800"/>
            <a:ext cx="2286000" cy="41148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Maturity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Simple Edge Discovery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286000"/>
            <a:ext cx="3931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camaraproject/SimpleEdgeDiscovery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286000"/>
            <a:ext cx="173736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v2.0.1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286000"/>
            <a:ext cx="22860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3969A"/>
                </a:solidFill>
                <a:latin typeface="Ericsson Hilda"/>
              </a:rPr>
              <a:t>Stable (r2.3)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274320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Traffic Influence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743200"/>
            <a:ext cx="393192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camaraproject/TrafficInfluence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2743200"/>
            <a:ext cx="173736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v0.10.0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743200"/>
            <a:ext cx="228600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27432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Edge App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200400"/>
            <a:ext cx="3931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camaraproject/EdgeApplicationManagement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200400"/>
            <a:ext cx="173736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5D6A"/>
                </a:solidFill>
                <a:latin typeface="Ericsson Hilda"/>
              </a:rPr>
              <a:t>v0.1.0-alpha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200400"/>
            <a:ext cx="22860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5D6A"/>
                </a:solidFill>
                <a:latin typeface="Ericsson Hilda"/>
              </a:rPr>
              <a:t>Early draft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274320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Optimal Edge Discovery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657600"/>
            <a:ext cx="393192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camaraproject/OptimalEdgeDiscovery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657600"/>
            <a:ext cx="173736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v0.1.0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3657600"/>
            <a:ext cx="228600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5D6A"/>
                </a:solidFill>
                <a:latin typeface="Ericsson Hilda"/>
              </a:rPr>
              <a:t>Early draft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27432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App Endpoint Discovery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114800"/>
            <a:ext cx="39319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camaraproject/ApplicationEndpointDiscovery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114800"/>
            <a:ext cx="173736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v0.1.0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4114800"/>
            <a:ext cx="22860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5D6A"/>
                </a:solidFill>
                <a:latin typeface="Ericsson Hilda"/>
              </a:rPr>
              <a:t>Early draft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274320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App Endpoint Registration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572000"/>
            <a:ext cx="393192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camaraproject/ApplicationEndpointRegistration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572000"/>
            <a:ext cx="173736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v0.1.0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4572000"/>
            <a:ext cx="2286000" cy="41148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5D6A"/>
                </a:solidFill>
                <a:latin typeface="Ericsson Hilda"/>
              </a:rPr>
              <a:t>Early draft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767676"/>
                </a:solidFill>
                <a:latin typeface="Ericsson Hilda"/>
              </a:rPr>
              <a:t>Edge App Management is still alpha — schemas are not final.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767676"/>
                </a:solidFill>
                <a:latin typeface="Ericsson Hilda"/>
              </a:rPr>
              <a:t>We follow the lifecycle semantics; manifest details can be re-aligned when v1.0 lands.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The LTH 5G edge-compute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767676"/>
                </a:solidFill>
                <a:latin typeface="Ericsson Hilda"/>
              </a:rPr>
              <a:t>Generic. Any container can run. Application not yet introduced.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3200400" cy="4572000"/>
          </a:xfrm>
          <a:prstGeom prst="rect">
            <a:avLst/>
          </a:prstGeom>
          <a:solidFill>
            <a:srgbClr val="D6E2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767676"/>
                </a:solidFill>
                <a:latin typeface="Ericsson Hilda"/>
              </a:rPr>
              <a:t>Client / 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737360"/>
            <a:ext cx="3657600" cy="457200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810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767676"/>
                </a:solidFill>
                <a:latin typeface="Ericsson Hilda"/>
              </a:rPr>
              <a:t>5G SA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solidFill>
            <a:srgbClr val="BDE0E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810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767676"/>
                </a:solidFill>
                <a:latin typeface="Ericsson Hilda"/>
              </a:rPr>
              <a:t>Edge Cloud (Kubernetes)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74E6"/>
                </a:solidFill>
                <a:latin typeface="Ericsson Hilda"/>
              </a:rPr>
              <a:t>Your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2560320" cy="64008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74E6"/>
                </a:solidFill>
                <a:latin typeface="Ericsson Hilda"/>
              </a:rPr>
              <a:t>CAMARA client (HTTP)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74E6"/>
                </a:solidFill>
                <a:latin typeface="Ericsson Hilda"/>
              </a:rPr>
              <a:t>Data-plane client
(any TCP / gRPC / HTTP)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651760"/>
            <a:ext cx="31089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42424"/>
                </a:solidFill>
                <a:latin typeface="Ericsson Hilda"/>
              </a:rPr>
              <a:t>gNB + 5G SA Core (Open5GS)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749040"/>
            <a:ext cx="3108960" cy="82296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74E6"/>
                </a:solidFill>
                <a:latin typeface="Ericsson Hilda"/>
              </a:rPr>
              <a:t>NEF-shim
(CAMARA API → k8s, multi-cluster)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377440"/>
            <a:ext cx="3291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3969A"/>
                </a:solidFill>
                <a:latin typeface="Ericsson Hilda"/>
              </a:rPr>
              <a:t>Envoy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291840"/>
            <a:ext cx="3291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3969A"/>
                </a:solidFill>
                <a:latin typeface="Ericsson Hilda"/>
              </a:rPr>
              <a:t>NodePort Services
(one port per tenant interface)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206240"/>
            <a:ext cx="3291840" cy="91440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969A"/>
                </a:solidFill>
                <a:latin typeface="Ericsson Hilda"/>
              </a:rPr>
              <a:t>Tenant Pod
(any GPU/CPU container)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5349240"/>
            <a:ext cx="3291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3969A"/>
                </a:solidFill>
                <a:latin typeface="Ericsson Hilda"/>
              </a:rPr>
              <a:t>NVIDIA L40S / V100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3703320"/>
            <a:ext cx="914400" cy="411480"/>
          </a:xfrm>
          <a:prstGeom prst="line">
            <a:avLst/>
          </a:prstGeom>
          <a:ln w="2540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46120" y="3794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174E6"/>
                </a:solidFill>
                <a:latin typeface="Ericsson Hilda"/>
              </a:rPr>
              <a:t>CAMARA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0" y="4114800"/>
            <a:ext cx="822960" cy="548640"/>
          </a:xfrm>
          <a:prstGeom prst="line">
            <a:avLst/>
          </a:prstGeom>
          <a:ln w="19050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67676"/>
                </a:solidFill>
                <a:latin typeface="Ericsson Hilda"/>
              </a:rPr>
              <a:t>k8s API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4617720"/>
            <a:ext cx="4846320" cy="0"/>
          </a:xfrm>
          <a:prstGeom prst="line">
            <a:avLst/>
          </a:prstGeom>
          <a:ln w="2540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23969A"/>
                </a:solidFill>
                <a:latin typeface="Ericsson Hilda"/>
              </a:rPr>
              <a:t>data plane (direct to NodePort)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CAMARA lifecycle — 4 steps, any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474720" cy="82296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174E6"/>
                </a:solidFill>
                <a:latin typeface="Ericsson Hilda"/>
              </a:rPr>
              <a:t>1. Discover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GET /edge-cloud-zones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Which edge zones are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reachable from this 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06240" y="2240280"/>
            <a:ext cx="182879" cy="0"/>
          </a:xfrm>
          <a:prstGeom prst="line">
            <a:avLst/>
          </a:prstGeom>
          <a:ln w="2540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80560" y="1828800"/>
            <a:ext cx="3474720" cy="82296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174E6"/>
                </a:solidFill>
                <a:latin typeface="Ericsson Hilda"/>
              </a:rPr>
              <a:t>2. Register &amp; instantiate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POST /apps  →  POST /app-instances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154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Manifest in, k8s Deployment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+ Service out.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0" y="2240280"/>
            <a:ext cx="182879" cy="0"/>
          </a:xfrm>
          <a:prstGeom prst="line">
            <a:avLst/>
          </a:prstGeom>
          <a:ln w="2540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21040" y="1828800"/>
            <a:ext cx="3474720" cy="82296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174E6"/>
                </a:solidFill>
                <a:latin typeface="Ericsson Hilda"/>
              </a:rPr>
              <a:t>3. Endpoint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GET /endpoints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154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host:port for each port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in the manifest.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297680"/>
            <a:ext cx="3474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5D6A"/>
                </a:solidFill>
                <a:latin typeface="Ericsson Hilda"/>
              </a:rPr>
              <a:t>4. Teardown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Courier New"/>
              </a:rPr>
              <a:t>DELETE /app-instances/{id}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394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k8s Deployment + Service removed.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3840480"/>
            <a:ext cx="0" cy="457200"/>
          </a:xfrm>
          <a:prstGeom prst="line">
            <a:avLst/>
          </a:prstGeom>
          <a:ln w="19050">
            <a:solidFill>
              <a:srgbClr val="E65D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CAMARA API — request and response shapes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91640"/>
            <a:ext cx="3200400" cy="36576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Method +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39" y="1691640"/>
            <a:ext cx="4206240" cy="36576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Request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91640"/>
            <a:ext cx="3657600" cy="36576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Response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2004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8640" cy="274320"/>
          </a:xfrm>
          <a:prstGeom prst="rect">
            <a:avLst/>
          </a:prstGeom>
          <a:solidFill>
            <a:srgbClr val="23969A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Ericsson Hilda"/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/simple-edge-discovery/v0/</a:t>
            </a:r>
          </a:p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  edge-cloud-zones?device-ip=…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10312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79" y="214884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A0A0A0"/>
                </a:solidFill>
                <a:latin typeface="Courier New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103120"/>
            <a:ext cx="3657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1488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{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"edgeCloudZones": [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{"edgeCloudZoneId": …,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 "capabilities": {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   "gpuModel": "L40S",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   "gpuCount": 2, …}}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]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32004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548640" cy="27432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Ericsson Hilda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3639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/edge-app-management/v0/</a:t>
            </a:r>
          </a:p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  apps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3063240"/>
            <a:ext cx="420624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79" y="310896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{ "appName": …,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"containerSpec": {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"imageName": …,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"imageTag": …,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"readinessProbe": {…},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"livenessProbe":  {…}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},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"requiredResources":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{"cpu":2,"memory":8192,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 "gpu":1},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"componentSpec": [{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"networkInterfaces":[…]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}]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063240"/>
            <a:ext cx="36576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{ "appId":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"4c3ba6ea-…"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32004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548640" cy="27432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Ericsson Hilda"/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9651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/edge-app-management/v0/</a:t>
            </a:r>
          </a:p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  app-instances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402336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79" y="406908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{ "appId": "4c3ba6ea-…",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"edgeCloudZoneId":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"lth-5glab-gpu-zone" 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023360"/>
            <a:ext cx="3657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40690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{ "appInstanceId":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"d6feafb4-…",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"status":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"instantiating" 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32004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074920"/>
            <a:ext cx="548640" cy="274320"/>
          </a:xfrm>
          <a:prstGeom prst="rect">
            <a:avLst/>
          </a:prstGeom>
          <a:solidFill>
            <a:srgbClr val="23969A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Ericsson Hilda"/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05663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/edge-app-management/v0/</a:t>
            </a:r>
          </a:p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  app-instances/{id}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4983480"/>
            <a:ext cx="420624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79" y="502920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A0A0A0"/>
                </a:solidFill>
                <a:latin typeface="Courier New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983480"/>
            <a:ext cx="36576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50292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{ "status":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"instantiating | ready | failed",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"phase":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"scheduling | pulling |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 starting | running |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 ready | failed",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"message": "…" 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32004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6035040"/>
            <a:ext cx="548640" cy="274320"/>
          </a:xfrm>
          <a:prstGeom prst="rect">
            <a:avLst/>
          </a:prstGeom>
          <a:solidFill>
            <a:srgbClr val="23969A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Ericsson Hilda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601675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/application-endpoint-discovery/</a:t>
            </a:r>
          </a:p>
          <a:p>
            <a:pPr algn="l">
              <a:lnSpc>
                <a:spcPct val="114999"/>
              </a:lnSpc>
            </a:pPr>
            <a:r>
              <a:rPr sz="900" b="0" i="0">
                <a:solidFill>
                  <a:srgbClr val="242424"/>
                </a:solidFill>
                <a:latin typeface="Courier New"/>
              </a:rPr>
              <a:t>  v0/endpoints?appInstanceId=…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594360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79" y="598932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A0A0A0"/>
                </a:solidFill>
                <a:latin typeface="Courier New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5943600"/>
            <a:ext cx="3657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598932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{ "endpoints": [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{"name":"http",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 "url":"http://host:32756"},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{"name":"grpc",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   "url":"host:30661"}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42424"/>
                </a:solidFill>
                <a:latin typeface="Courier New"/>
              </a:rPr>
              <a:t>  ]}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995160"/>
            <a:ext cx="548640" cy="274320"/>
          </a:xfrm>
          <a:prstGeom prst="rect">
            <a:avLst/>
          </a:prstGeom>
          <a:solidFill>
            <a:srgbClr val="E65D6A"/>
          </a:solidFill>
          <a:ln w="19050">
            <a:solidFill>
              <a:srgbClr val="E6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Ericsson Hilda"/>
              </a:rPr>
              <a:t>DELETE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7013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Courier New"/>
              </a:rPr>
              <a:t>/edge-app-management/v0/app-instances/{id}   →   204 No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Using the platform — generic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767676"/>
                </a:solidFill>
                <a:latin typeface="Ericsson Hilda"/>
              </a:rPr>
              <a:t>Any client, any container. No EdgeVision specifics on this slide.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371600" cy="45720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74E6"/>
                </a:solidFill>
                <a:latin typeface="Ericsson Hilda"/>
              </a:rPr>
              <a:t>Client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4440" y="2148840"/>
            <a:ext cx="0" cy="411480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74720" y="1691640"/>
            <a:ext cx="1371600" cy="45720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74E6"/>
                </a:solidFill>
                <a:latin typeface="Ericsson Hilda"/>
              </a:rPr>
              <a:t>NEF-shim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2148840"/>
            <a:ext cx="0" cy="411480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1691640"/>
            <a:ext cx="1371600" cy="45720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969A"/>
                </a:solidFill>
                <a:latin typeface="Ericsson Hilda"/>
              </a:rPr>
              <a:t>K8s 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0" y="2148840"/>
            <a:ext cx="0" cy="411480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0" y="1691640"/>
            <a:ext cx="1371600" cy="45720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969A"/>
                </a:solidFill>
                <a:latin typeface="Ericsson Hilda"/>
              </a:rPr>
              <a:t>App Pod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29800" y="2148840"/>
            <a:ext cx="0" cy="411480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34440" y="233172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25880" y="21305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GET /edge-cloud-zones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234440" y="2560320"/>
            <a:ext cx="2926080" cy="0"/>
          </a:xfrm>
          <a:prstGeom prst="line">
            <a:avLst/>
          </a:prstGeom>
          <a:ln w="1524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25880" y="2359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200  zones[]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283464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2633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POST /apps   (manifest)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234440" y="3063240"/>
            <a:ext cx="2926080" cy="0"/>
          </a:xfrm>
          <a:prstGeom prst="line">
            <a:avLst/>
          </a:prstGeom>
          <a:ln w="1524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25880" y="2862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200  { appId }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4440" y="333756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25880" y="31363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POST /app-instances   { appId, zoneId }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60520" y="3566159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51960" y="3364991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create Deployment + NodePort Service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234440" y="3794760"/>
            <a:ext cx="2926080" cy="0"/>
          </a:xfrm>
          <a:prstGeom prst="line">
            <a:avLst/>
          </a:prstGeom>
          <a:ln w="1524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25880" y="3593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202  { appInstanceId, status=… 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86600" y="4023360"/>
            <a:ext cx="274320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78040" y="38221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schedule + image pull + start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104120" y="4297680"/>
            <a:ext cx="0" cy="228600"/>
          </a:xfrm>
          <a:prstGeom prst="line">
            <a:avLst/>
          </a:prstGeom>
          <a:ln w="15240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195560" y="4251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67676"/>
                </a:solidFill>
                <a:latin typeface="Ericsson Hilda"/>
              </a:rPr>
              <a:t>container init   (depends on app)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34440" y="461772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25880" y="44165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GET /app-instances/{id}   (poll every 2 s)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60520" y="484632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51960" y="4645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watch pod status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086600" y="5074920"/>
            <a:ext cx="274320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78040" y="48737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readinessProbe passes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234440" y="5303520"/>
            <a:ext cx="2926080" cy="0"/>
          </a:xfrm>
          <a:prstGeom prst="line">
            <a:avLst/>
          </a:prstGeom>
          <a:ln w="1524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25880" y="51023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200  { status: ready, phase: ready 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34440" y="557784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325880" y="5376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GET /endpoints?appInstanceId=…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1234440" y="5806440"/>
            <a:ext cx="2926080" cy="0"/>
          </a:xfrm>
          <a:prstGeom prst="line">
            <a:avLst/>
          </a:prstGeom>
          <a:ln w="1524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25880" y="56052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200  [{name, url=host:port}, …]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34440" y="6080760"/>
            <a:ext cx="8595360" cy="0"/>
          </a:xfrm>
          <a:prstGeom prst="line">
            <a:avLst/>
          </a:prstGeom>
          <a:ln w="31750">
            <a:solidFill>
              <a:srgbClr val="E66E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325880" y="5879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data plane — direct to NodePort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943600"/>
            <a:ext cx="274320" cy="13716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request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5943600"/>
            <a:ext cx="274320" cy="137160"/>
          </a:xfrm>
          <a:prstGeom prst="rect">
            <a:avLst/>
          </a:prstGeom>
          <a:solidFill>
            <a:srgbClr val="23969A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response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5943600"/>
            <a:ext cx="274320" cy="137160"/>
          </a:xfrm>
          <a:prstGeom prst="rect">
            <a:avLst/>
          </a:prstGeom>
          <a:solidFill>
            <a:srgbClr val="E66E19"/>
          </a:solidFill>
          <a:ln w="19050">
            <a:solidFill>
              <a:srgbClr val="E66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0" y="5897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data plane (bypasses NEF-shim — direct to NodePort)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It's just HTTP — drive it from anything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91640"/>
            <a:ext cx="786384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7589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API=http://camara.5glab.control.lth.se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/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# 1. Discover edge zones available to this UE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curl -s $API/simple-edge-discovery/v0/edge-cloud-zones \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  --get --data-urlencode device-ip=$(my_ip)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/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# 2. Register an app manifest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APP_ID=$(curl -s -X POST $API/edge-app-management/v0/apps \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  -H 'Content-Type: application/json' \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  --data @manifest.json  | jq -r .appId)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/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# 3. Instantiate it on a zone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INST=$(curl -s -X POST $API/edge-app-management/v0/app-instances \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  -H 'Content-Type: application/json' \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  -d "{\"appId\":\"$APP_ID\",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       \"edgeCloudZoneId\":\"lth-5glab-gpu-zone\"}" \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  | jq -r .appInstanceId)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/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# 4. Poll until ready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while ! curl -s $API/edge-app-management/v0/app-instances/$INST \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         | jq -e '.status == "ready"' &gt; /dev/null;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do sleep 2; done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/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# 5. Discover endpoints and start talking to the pod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curl -s "$API/application-endpoint-discovery/v0/endpoints\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?appInstanceId=$INST" | jq .endpoints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/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# (then: your app's traffic — gRPC, HTTP, raw TCP — straight to host:port)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/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# 6. Teardown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curl -s -X DELETE \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>  $API/edge-app-management/v0/app-instances/$INST</a:t>
            </a:r>
          </a:p>
          <a:p>
            <a:pPr algn="l">
              <a:lnSpc>
                <a:spcPct val="114999"/>
              </a:lnSpc>
            </a:pPr>
            <a:r>
              <a:rPr sz="950" b="0" i="0">
                <a:solidFill>
                  <a:srgbClr val="242424"/>
                </a:solidFill>
                <a:latin typeface="Courier New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174E6"/>
                </a:solidFill>
                <a:latin typeface="Ericsson Hilda"/>
              </a:rPr>
              <a:t>Any client, any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240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3969A"/>
                </a:solidFill>
                <a:latin typeface="Ericsson Hilda"/>
              </a:rPr>
              <a:t>Stock HTTP +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Ericsson Hilda"/>
              </a:rPr>
              <a:t>Plain HTTP. curl, requests, axios, anything.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246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3969A"/>
                </a:solidFill>
                <a:latin typeface="Ericsson Hilda"/>
              </a:rPr>
              <a:t>No SDK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5204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Ericsson Hilda"/>
              </a:rPr>
              <a:t>Spec is on /openapi.json — generate a client if you want.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3969A"/>
                </a:solidFill>
                <a:latin typeface="Ericsson Hilda"/>
              </a:rPr>
              <a:t>Tenancy is by source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526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Ericsson Hilda"/>
              </a:rPr>
              <a:t>Same calling IP = same tenant slug. No tokens to manage in the lab.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3969A"/>
                </a:solidFill>
                <a:latin typeface="Ericsson Hilda"/>
              </a:rPr>
              <a:t>Reference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532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Ericsson Hilda"/>
              </a:rPr>
              <a:t>edge-demo/edge_demo.py — full lifecycle in ~140 lines of Python.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What the NEF-shim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174E6"/>
                </a:solidFill>
                <a:latin typeface="Ericsson Hilda"/>
              </a:rPr>
              <a:t>Incoming CAMARA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331720"/>
            <a:ext cx="39319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42424"/>
                </a:solidFill>
                <a:latin typeface="Courier New"/>
              </a:rPr>
              <a:t>GET  /simple-edge-discovery/v0/edge-cloud-zones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88920"/>
            <a:ext cx="39319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42424"/>
                </a:solidFill>
                <a:latin typeface="Courier New"/>
              </a:rPr>
              <a:t>POST /edge-app-management/v0/apps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39319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42424"/>
                </a:solidFill>
                <a:latin typeface="Courier New"/>
              </a:rPr>
              <a:t>POST /edge-app-management/v0/app-instances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03319"/>
            <a:ext cx="39319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42424"/>
                </a:solidFill>
                <a:latin typeface="Courier New"/>
              </a:rPr>
              <a:t>GET  /edge-app-management/v0/app-instances/{id}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39319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42424"/>
                </a:solidFill>
                <a:latin typeface="Courier New"/>
              </a:rPr>
              <a:t>DELETE /edge-app-management/v0/app-instances/{id}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17720"/>
            <a:ext cx="39319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42424"/>
                </a:solidFill>
                <a:latin typeface="Courier New"/>
              </a:rPr>
              <a:t>GET  /application-endpoint-discovery/v0/endpoints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560320"/>
            <a:ext cx="2743200" cy="237744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74E6"/>
                </a:solidFill>
                <a:latin typeface="Ericsson Hilda"/>
              </a:rPr>
              <a:t>NEF-shim
(FastAPI, multi-cluster)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767676"/>
                </a:solidFill>
                <a:latin typeface="Courier New"/>
              </a:rPr>
              <a:t>Tenant slug: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767676"/>
                </a:solidFill>
                <a:latin typeface="Courier New"/>
              </a:rPr>
              <a:t>t-{md5(source_ip)[:8]}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3969A"/>
                </a:solidFill>
                <a:latin typeface="Ericsson Hilda"/>
              </a:rPr>
              <a:t>Kubernetes operations (per zone)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331720"/>
            <a:ext cx="356616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list nodes with nvidia.com/gpu.present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788920"/>
            <a:ext cx="356616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create Deployment t-{slug}-app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246120"/>
            <a:ext cx="356616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create Service t-{slug}-app (NodePort)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703319"/>
            <a:ext cx="356616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watch pod status / conditions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160520"/>
            <a:ext cx="356616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delete Deployment +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617720"/>
            <a:ext cx="356616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lookup nodePort + ext_host per zone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89120" y="2523744"/>
            <a:ext cx="548640" cy="0"/>
          </a:xfrm>
          <a:prstGeom prst="line">
            <a:avLst/>
          </a:prstGeom>
          <a:ln w="1651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60" y="2523744"/>
            <a:ext cx="457200" cy="0"/>
          </a:xfrm>
          <a:prstGeom prst="line">
            <a:avLst/>
          </a:prstGeom>
          <a:ln w="1651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89120" y="2980944"/>
            <a:ext cx="548640" cy="0"/>
          </a:xfrm>
          <a:prstGeom prst="line">
            <a:avLst/>
          </a:prstGeom>
          <a:ln w="1651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2980944"/>
            <a:ext cx="457200" cy="0"/>
          </a:xfrm>
          <a:prstGeom prst="line">
            <a:avLst/>
          </a:prstGeom>
          <a:ln w="1651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89120" y="3438144"/>
            <a:ext cx="548640" cy="0"/>
          </a:xfrm>
          <a:prstGeom prst="line">
            <a:avLst/>
          </a:prstGeom>
          <a:ln w="1651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3438144"/>
            <a:ext cx="457200" cy="0"/>
          </a:xfrm>
          <a:prstGeom prst="line">
            <a:avLst/>
          </a:prstGeom>
          <a:ln w="1651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89120" y="3895343"/>
            <a:ext cx="548640" cy="0"/>
          </a:xfrm>
          <a:prstGeom prst="line">
            <a:avLst/>
          </a:prstGeom>
          <a:ln w="1651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60" y="3895343"/>
            <a:ext cx="457200" cy="0"/>
          </a:xfrm>
          <a:prstGeom prst="line">
            <a:avLst/>
          </a:prstGeom>
          <a:ln w="1651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389120" y="4352544"/>
            <a:ext cx="548640" cy="0"/>
          </a:xfrm>
          <a:prstGeom prst="line">
            <a:avLst/>
          </a:prstGeom>
          <a:ln w="1651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80960" y="4352544"/>
            <a:ext cx="457200" cy="0"/>
          </a:xfrm>
          <a:prstGeom prst="line">
            <a:avLst/>
          </a:prstGeom>
          <a:ln w="1651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89120" y="4809744"/>
            <a:ext cx="548640" cy="0"/>
          </a:xfrm>
          <a:prstGeom prst="line">
            <a:avLst/>
          </a:prstGeom>
          <a:ln w="1651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60" y="4809744"/>
            <a:ext cx="457200" cy="0"/>
          </a:xfrm>
          <a:prstGeom prst="line">
            <a:avLst/>
          </a:prstGeom>
          <a:ln w="1651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E65D6A"/>
                </a:solidFill>
                <a:latin typeface="Ericsson Hilda"/>
              </a:rPr>
              <a:t>Important: the NEF-shim is control plane only. Application traffic does not pass through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Multi-tenancy by source 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174E6"/>
                </a:solidFill>
                <a:latin typeface="Ericsson Hilda"/>
              </a:rPr>
              <a:t>UE A   (5G IP 10.45.0.7)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2240280"/>
            <a:ext cx="1188720" cy="0"/>
          </a:xfrm>
          <a:prstGeom prst="line">
            <a:avLst/>
          </a:prstGeom>
          <a:ln w="2540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0" y="1874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767676"/>
                </a:solidFill>
                <a:latin typeface="Ericsson Hilda"/>
              </a:rPr>
              <a:t>md5(IP)[:8]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828800"/>
            <a:ext cx="2194560" cy="82296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174E6"/>
                </a:solidFill>
                <a:latin typeface="Courier New"/>
              </a:rPr>
              <a:t>t-94a3d188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589520" y="2240280"/>
            <a:ext cx="640080" cy="0"/>
          </a:xfrm>
          <a:prstGeom prst="line">
            <a:avLst/>
          </a:prstGeom>
          <a:ln w="2540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0" y="1828800"/>
            <a:ext cx="3383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42424"/>
                </a:solidFill>
                <a:latin typeface="Courier New"/>
              </a:rPr>
              <a:t>Deployment t-94a3d188-app
Service     t-94a3d188-app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36576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3969A"/>
                </a:solidFill>
                <a:latin typeface="Ericsson Hilda"/>
              </a:rPr>
              <a:t>UE B   (5G IP 10.45.0.8)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3520440"/>
            <a:ext cx="1188720" cy="0"/>
          </a:xfrm>
          <a:prstGeom prst="line">
            <a:avLst/>
          </a:prstGeom>
          <a:ln w="2540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0" y="3154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767676"/>
                </a:solidFill>
                <a:latin typeface="Ericsson Hilda"/>
              </a:rPr>
              <a:t>md5(IP)[:8]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3108960"/>
            <a:ext cx="2194560" cy="82296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3969A"/>
                </a:solidFill>
                <a:latin typeface="Courier New"/>
              </a:rPr>
              <a:t>t-13df96f6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89520" y="3520440"/>
            <a:ext cx="640080" cy="0"/>
          </a:xfrm>
          <a:prstGeom prst="line">
            <a:avLst/>
          </a:prstGeom>
          <a:ln w="2540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3108960"/>
            <a:ext cx="3383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42424"/>
                </a:solidFill>
                <a:latin typeface="Courier New"/>
              </a:rPr>
              <a:t>Deployment t-13df96f6-app
Service     t-13df96f6-app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89120"/>
            <a:ext cx="36576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7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976CF4"/>
                </a:solidFill>
                <a:latin typeface="Ericsson Hilda"/>
              </a:rPr>
              <a:t>Laptop (corporate VPN)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4800600"/>
            <a:ext cx="1188720" cy="0"/>
          </a:xfrm>
          <a:prstGeom prst="line">
            <a:avLst/>
          </a:prstGeom>
          <a:ln w="25400">
            <a:solidFill>
              <a:srgbClr val="976C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0" y="4434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767676"/>
                </a:solidFill>
                <a:latin typeface="Ericsson Hilda"/>
              </a:rPr>
              <a:t>md5(IP)[:8]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389120"/>
            <a:ext cx="2194560" cy="822960"/>
          </a:xfrm>
          <a:prstGeom prst="roundRect">
            <a:avLst/>
          </a:prstGeom>
          <a:solidFill>
            <a:srgbClr val="E0D3FC"/>
          </a:solidFill>
          <a:ln w="19050">
            <a:solidFill>
              <a:srgbClr val="97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976CF4"/>
                </a:solidFill>
                <a:latin typeface="Courier New"/>
              </a:rPr>
              <a:t>t-660b0222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0" y="4800600"/>
            <a:ext cx="640080" cy="0"/>
          </a:xfrm>
          <a:prstGeom prst="line">
            <a:avLst/>
          </a:prstGeom>
          <a:ln w="25400">
            <a:solidFill>
              <a:srgbClr val="976C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4389120"/>
            <a:ext cx="3383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7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42424"/>
                </a:solidFill>
                <a:latin typeface="Courier New"/>
              </a:rPr>
              <a:t>Deployment t-660b0222-app
Service     t-660b0222-app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242424"/>
                </a:solidFill>
                <a:latin typeface="Ericsson Hilda"/>
              </a:rPr>
              <a:t>One slug per source IP. Different IP → different slug → different pod and Service. No auth needed for the demo. VPN reconnect = new slug = orphan resources to clean.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Two zones — same API, same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94960" cy="73152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74E6"/>
                </a:solidFill>
                <a:latin typeface="Courier New"/>
              </a:rPr>
              <a:t>lth-5glab-gpu-zone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Provider: lth-kubernetes (in-house)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GPU: 2 × NVIDIA L40S  (SM 89, Ada)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CPU: 128 cores, 768 GB RAM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Ingress: Envoy Gateway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Reachable on: camara.5glab.control.lth.se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394960" cy="73152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3969A"/>
                </a:solidFill>
                <a:latin typeface="Courier New"/>
              </a:rPr>
              <a:t>xerces-cloud-zone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Provider: ericsson-openstack (xerces)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GPU: 1 × NVIDIA Tesla V100 (SM 70, Volta)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CPU: 4 cores, 28 GB RAM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Ingress: kube-proxy + OpenStack FIP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42424"/>
                </a:solidFill>
                <a:latin typeface="Ericsson Hilda"/>
              </a:rPr>
              <a:t>• Reachable on: 129.192.83.16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42424"/>
                </a:solidFill>
                <a:latin typeface="Ericsson Hilda"/>
              </a:rPr>
              <a:t>Client picks one based on capabilities. The endpoint discovery returns host:port with the right public host per zone — same shape, no proxy.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7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5400" b="0" i="0">
                <a:solidFill>
                  <a:srgbClr val="FFFFFF"/>
                </a:solidFill>
                <a:latin typeface="Ericsson Hilda Light"/>
              </a:rPr>
              <a:t>Part 2 — EdgeVision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FFFFFF"/>
                </a:solidFill>
                <a:latin typeface="Ericsson Hilda"/>
              </a:rPr>
              <a:t>An application that maps onto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EdgeVision — 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174E6"/>
                </a:solidFill>
                <a:latin typeface="Ericsson Hilda"/>
              </a:rPr>
              <a:t>Real-time YOLO object detection / segmentation, offloadable to the 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51760"/>
            <a:ext cx="5394960" cy="64008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174E6"/>
                </a:solidFill>
                <a:latin typeface="Ericsson Hilda"/>
              </a:rPr>
              <a:t>On the 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Webcam-like frame source (camera-api)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Tkinter GUI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Local CPU detector (ultralytics)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Remote detector (gRPC | HTTP)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CAMARA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651760"/>
            <a:ext cx="5394960" cy="64008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3969A"/>
                </a:solidFill>
                <a:latin typeface="Ericsson Hilda"/>
              </a:rPr>
              <a:t>On the edge (per tenant)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Triton Inference Server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Sidecar (decode → SHM → infer → NMS)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TensorRT FP16 engines (per-GPU)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Two models: YOLOv8n + YOLOv8x-seg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gRPC :50051 + HTTP :8080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67676"/>
                </a:solidFill>
                <a:latin typeface="Ericsson Hilda"/>
              </a:rPr>
              <a:t>Toggleable at runtime: E = LOCAL ↔ EDGE, T = gRPC ↔ HTTP, M = detect ↔ seg.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EdgeVision mapped onto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767676"/>
                </a:solidFill>
                <a:latin typeface="Ericsson Hilda"/>
              </a:rPr>
              <a:t>Generic boxes from Part 1, now filled in with EdgeVision components.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3200400" cy="4572000"/>
          </a:xfrm>
          <a:prstGeom prst="rect">
            <a:avLst/>
          </a:prstGeom>
          <a:solidFill>
            <a:srgbClr val="D6E2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767676"/>
                </a:solidFill>
                <a:latin typeface="Ericsson Hilda"/>
              </a:rPr>
              <a:t>Client / 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737360"/>
            <a:ext cx="3657600" cy="457200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810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767676"/>
                </a:solidFill>
                <a:latin typeface="Ericsson Hilda"/>
              </a:rPr>
              <a:t>5G SA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solidFill>
            <a:srgbClr val="BDE0E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810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767676"/>
                </a:solidFill>
                <a:latin typeface="Ericsson Hilda"/>
              </a:rPr>
              <a:t>Edge Cloud (K8s)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2560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74E6"/>
                </a:solidFill>
                <a:latin typeface="Ericsson Hilda"/>
              </a:rPr>
              <a:t>GUI (Tkinter)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2560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42424"/>
                </a:solidFill>
                <a:latin typeface="Ericsson Hilda"/>
              </a:rPr>
              <a:t>Local detector (CPU)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2560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174E6"/>
                </a:solidFill>
                <a:latin typeface="Ericsson Hilda"/>
              </a:rPr>
              <a:t>Remote detector (gRPC | HTTP)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2560320" cy="50292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74E6"/>
                </a:solidFill>
                <a:latin typeface="Ericsson Hilda"/>
              </a:rPr>
              <a:t>CAMARA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2560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42424"/>
                </a:solidFill>
                <a:latin typeface="Ericsson Hilda"/>
              </a:rPr>
              <a:t>camera-api (MJPEG-ish)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560320"/>
            <a:ext cx="31089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42424"/>
                </a:solidFill>
                <a:latin typeface="Ericsson Hilda"/>
              </a:rPr>
              <a:t>gNB BB6651 + AIR6419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154680"/>
            <a:ext cx="31089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42424"/>
                </a:solidFill>
                <a:latin typeface="Ericsson Hilda"/>
              </a:rPr>
              <a:t>Open5GS Core (AMF/SMF/UPF)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206240"/>
            <a:ext cx="3108960" cy="82296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74E6"/>
                </a:solidFill>
                <a:latin typeface="Ericsson Hilda"/>
              </a:rPr>
              <a:t>NEF-shim
(CAMARA control plane)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377440"/>
            <a:ext cx="3291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3969A"/>
                </a:solidFill>
                <a:latin typeface="Ericsson Hilda"/>
              </a:rPr>
              <a:t>Envoy Gateway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971800"/>
            <a:ext cx="3291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3969A"/>
                </a:solidFill>
                <a:latin typeface="Courier New"/>
              </a:rPr>
              <a:t>NodePort  http :8080 / grpc :50051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566160"/>
            <a:ext cx="3291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3969A"/>
                </a:solidFill>
                <a:latin typeface="Ericsson Hilda"/>
              </a:rPr>
              <a:t>Sidecar (gRPC + HTTP, Python)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297680"/>
            <a:ext cx="3291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3969A"/>
                </a:solidFill>
                <a:latin typeface="Ericsson Hilda"/>
              </a:rPr>
              <a:t>Triton  (yolov8n + yolov8x-seg)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029200"/>
            <a:ext cx="3291840" cy="54864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3969A"/>
                </a:solidFill>
                <a:latin typeface="Ericsson Hilda"/>
              </a:rPr>
              <a:t>NVIDIA L40S / V100  +  TensorRT FP16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4434840"/>
            <a:ext cx="914400" cy="45720"/>
          </a:xfrm>
          <a:prstGeom prst="line">
            <a:avLst/>
          </a:prstGeom>
          <a:ln w="2540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46120" y="4526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174E6"/>
                </a:solidFill>
                <a:latin typeface="Ericsson Hilda"/>
              </a:rPr>
              <a:t>CAMARA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315200" y="4480560"/>
            <a:ext cx="822960" cy="91440"/>
          </a:xfrm>
          <a:prstGeom prst="line">
            <a:avLst/>
          </a:prstGeom>
          <a:ln w="19050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0" y="4663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67676"/>
                </a:solidFill>
                <a:latin typeface="Ericsson Hilda"/>
              </a:rPr>
              <a:t>k8s API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91840" y="3840480"/>
            <a:ext cx="4846320" cy="0"/>
          </a:xfrm>
          <a:prstGeom prst="line">
            <a:avLst/>
          </a:prstGeom>
          <a:ln w="2540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3520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23969A"/>
                </a:solidFill>
                <a:latin typeface="Ericsson Hilda"/>
              </a:rPr>
              <a:t>inference traffic (direct to NodePort)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Application manifest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6766560" cy="45720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APP_MANIFEST = {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"appName":             "edgevision-yolov8",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"appProvider":         "lth-frtn90",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"appSoftwareVersion":  "1.0.0",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"packageType":         "CONTAINER",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"containerSpec": {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"imageRegistry": "ghcr.io/ekeroid/5glab",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"imageName":     "edgevision-infer",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"imageTag":      "latest",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"readinessProbe": {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  "http": {"path": "/health", "port": 8080},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  "initialDelaySeconds": 30, "periodSeconds": 5},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"livenessProbe": {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  "http": {"path": "/health", "port": 8080},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  "initialDelaySeconds": 1200,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  "periodSeconds": 15, "failureThreshold": 5}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},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"requiredResources": {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"cpu": 2, "memory": 8192, "gpu": 1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},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"componentSpec": [{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"componentName": "infer",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"networkInterfaces": [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  {"name": "http",  "port": 8080,  "protocol": "TCP"},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  {"name": "grpc",  "port": 50051, "protocol": "TCP"}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  ]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  }]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>}</a:t>
            </a:r>
          </a:p>
          <a:p>
            <a:pPr algn="l">
              <a:lnSpc>
                <a:spcPct val="114999"/>
              </a:lnSpc>
            </a:pPr>
            <a:r>
              <a:rPr sz="1000" b="0" i="0">
                <a:solidFill>
                  <a:srgbClr val="242424"/>
                </a:solidFill>
                <a:latin typeface="Courier New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37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174E6"/>
                </a:solidFill>
                <a:latin typeface="Courier New"/>
              </a:rPr>
              <a:t>POST /edge-app-management/v0/apps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2860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3969A"/>
                </a:solidFill>
                <a:latin typeface="Courier New"/>
              </a:rPr>
              <a:t>imageTag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5603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Ericsson Hilda"/>
              </a:rPr>
              <a:t>Same image runs on both zones.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2918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3969A"/>
                </a:solidFill>
                <a:latin typeface="Courier New"/>
              </a:rPr>
              <a:t>livenessProbe 1200s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56616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Ericsson Hilda"/>
              </a:rPr>
              <a:t>Wide grace — V100 cold builds TRT engine in ~12 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297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3969A"/>
                </a:solidFill>
                <a:latin typeface="Courier New"/>
              </a:rPr>
              <a:t>gpu: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5720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Ericsson Hilda"/>
              </a:rPr>
              <a:t>Sets runtimeClassName=nvidia, GPU resource request, GPU taint toleration.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3035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3969A"/>
                </a:solidFill>
                <a:latin typeface="Courier New"/>
              </a:rPr>
              <a:t>componentSpec 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57784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42424"/>
                </a:solidFill>
                <a:latin typeface="Ericsson Hilda"/>
              </a:rPr>
              <a:t>Both forwarded as NodePort. Name passed through to endpoint discovery.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What's inside edgevision-infer:latest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463040" cy="41148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828800"/>
            <a:ext cx="4572000" cy="41148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828800"/>
            <a:ext cx="5669280" cy="41148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4630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42424"/>
                </a:solidFill>
                <a:latin typeface="Ericsson Hilda"/>
              </a:rPr>
              <a:t>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2286000"/>
            <a:ext cx="45720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nvcr.io/nvidia/tritonserver:23.10-py3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286000"/>
            <a:ext cx="56692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TensorRT 8.6 — supports SM 70 (Volta/V100) through SM 89 (Ada/L40S).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1463040" cy="54864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42424"/>
                </a:solidFill>
                <a:latin typeface="Ericsson Hilda"/>
              </a:rPr>
              <a:t>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880360"/>
            <a:ext cx="4572000" cy="54864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fastapi · uvicorn · tritonclient[grpc] · opencv · ultralytics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880360"/>
            <a:ext cx="5669280" cy="54864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Sidecar deps + export toolchain (ONNX, onnxslim).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4630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42424"/>
                </a:solidFill>
                <a:latin typeface="Ericsson Hilda"/>
              </a:rPr>
              <a:t>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474720"/>
            <a:ext cx="45720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yolov8n.pt   yolov8x-seg.pt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474720"/>
            <a:ext cx="56692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Ultralytics weights. .plan engines are NOT baked — built at first boot per GPU.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1463040" cy="54864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42424"/>
                </a:solidFill>
                <a:latin typeface="Ericsson Hilda"/>
              </a:rPr>
              <a:t>Model repo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4069080"/>
            <a:ext cx="4572000" cy="54864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models/yolov8n_trt/config.pbtxt  yolov8xseg_trt/config.pbtxt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069080"/>
            <a:ext cx="5669280" cy="54864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Triton model repository skeleton.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4630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42424"/>
                </a:solidFill>
                <a:latin typeface="Ericsson Hilda"/>
              </a:rPr>
              <a:t>Sidecar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4663440"/>
            <a:ext cx="45720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sidecar/main.py  +  infer_pb2*.py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663440"/>
            <a:ext cx="56692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gRPC :50051 (InferenceService) + HTTP :8080 (/infer, /health).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463040" cy="54864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42424"/>
                </a:solidFill>
                <a:latin typeface="Ericsson Hilda"/>
              </a:rPr>
              <a:t>Tooling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5257800"/>
            <a:ext cx="4572000" cy="54864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export_model.py  entrypoint.sh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5257800"/>
            <a:ext cx="5669280" cy="54864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.pt → ONNX → TRT FP16 plan. Entrypoint orchestrates build + Triton + sidecar.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E65D6A"/>
                </a:solidFill>
                <a:latin typeface="Ericsson Hilda"/>
              </a:rPr>
              <a:t>Engines are GPU-arch-specific → cached in pod-scoped emptyDir → first boot rebuilds on every fresh pod.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First boot — what the entrypoint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57200" cy="411480"/>
          </a:xfrm>
          <a:prstGeom prst="round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Courier New"/>
              </a:rPr>
              <a:t>Export .pt → ONNX  (yolov8n)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67676"/>
                </a:solidFill>
                <a:latin typeface="Ericsson Hilda"/>
              </a:rPr>
              <a:t>~10–30 s on L40S, ~5 min on V100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457200" cy="411480"/>
          </a:xfrm>
          <a:prstGeom prst="round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Courier New"/>
              </a:rPr>
              <a:t>trtexec → TensorRT FP16 plan (yolov8n)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331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67676"/>
                </a:solidFill>
                <a:latin typeface="Ericsson Hilda"/>
              </a:rPr>
              <a:t>Same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457200" cy="411480"/>
          </a:xfrm>
          <a:prstGeom prst="round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Courier New"/>
              </a:rPr>
              <a:t>Export .pt → ONNX  (yolov8x-seg)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67676"/>
                </a:solidFill>
                <a:latin typeface="Ericsson Hilda"/>
              </a:rPr>
              <a:t>Bigger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37560"/>
            <a:ext cx="457200" cy="411480"/>
          </a:xfrm>
          <a:prstGeom prst="round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Courier New"/>
              </a:rPr>
              <a:t>trtexec → TensorRT FP16 plan (yolov8x-seg)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3375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67676"/>
                </a:solidFill>
                <a:latin typeface="Ericsson Hilda"/>
              </a:rPr>
              <a:t>~3-5 min L40S, ~6-8 min V100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457200" cy="411480"/>
          </a:xfrm>
          <a:prstGeom prst="round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Courier New"/>
              </a:rPr>
              <a:t>Start Triton  (load both models)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840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67676"/>
                </a:solidFill>
                <a:latin typeface="Ericsson Hilda"/>
              </a:rPr>
              <a:t>~10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457200" cy="411480"/>
          </a:xfrm>
          <a:prstGeom prst="round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43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Courier New"/>
              </a:rPr>
              <a:t>Start sidecar (gRPC :50051 + HTTP :8080)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343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67676"/>
                </a:solidFill>
                <a:latin typeface="Ericsson Hilda"/>
              </a:rPr>
              <a:t>Instant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457200" cy="411480"/>
          </a:xfrm>
          <a:prstGeom prst="round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Ericsson Hilda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Courier New"/>
              </a:rPr>
              <a:t>Readiness probe passes → NodePort accepts traffic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846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67676"/>
                </a:solidFill>
                <a:latin typeface="Ericsson Hilda"/>
              </a:rPr>
              <a:t>Endpoint discovery now valid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00000"/>
                </a:solidFill>
                <a:latin typeface="Ericsson Hilda"/>
              </a:rPr>
              <a:t>Total cold start: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26480"/>
            <a:ext cx="5394960" cy="64008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3969A"/>
                </a:solidFill>
                <a:latin typeface="Ericsson Hilda"/>
              </a:rPr>
              <a:t>L40S:  3 – 5 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6126480"/>
            <a:ext cx="5394960" cy="640080"/>
          </a:xfrm>
          <a:prstGeom prst="roundRect">
            <a:avLst/>
          </a:prstGeom>
          <a:solidFill>
            <a:srgbClr val="EFD4D3"/>
          </a:solidFill>
          <a:ln w="19050">
            <a:solidFill>
              <a:srgbClr val="E6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65D6A"/>
                </a:solidFill>
                <a:latin typeface="Ericsson Hilda"/>
              </a:rPr>
              <a:t>V100:  12 – 14 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Deployment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1280160" cy="45720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74E6"/>
                </a:solidFill>
                <a:latin typeface="Ericsson Hilda"/>
              </a:rPr>
              <a:t>Client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80160" y="2194560"/>
            <a:ext cx="0" cy="384048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566160" y="1737360"/>
            <a:ext cx="1280160" cy="45720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74E6"/>
                </a:solidFill>
                <a:latin typeface="Ericsson Hilda"/>
              </a:rPr>
              <a:t>NEF-shim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06240" y="2194560"/>
            <a:ext cx="0" cy="384048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92240" y="1737360"/>
            <a:ext cx="1280160" cy="45720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969A"/>
                </a:solidFill>
                <a:latin typeface="Ericsson Hilda"/>
              </a:rPr>
              <a:t>K8s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2194560"/>
            <a:ext cx="0" cy="384048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235440" y="1737360"/>
            <a:ext cx="1280160" cy="45720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969A"/>
                </a:solidFill>
                <a:latin typeface="Ericsson Hilda"/>
              </a:rPr>
              <a:t>Pod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875520" y="2194560"/>
            <a:ext cx="0" cy="384048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237744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71600" y="2148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GET /edge-cloud-zones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280160" y="260604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2377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zones[]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80160" y="283464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71600" y="2606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POST /apps  (manifest)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280160" y="306324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160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appId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329184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71600" y="3063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POST /app-instances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06240" y="352044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768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create Deployment + Service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0" y="3749040"/>
            <a:ext cx="274320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23760" y="3520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schedule + image pull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49840" y="4023360"/>
            <a:ext cx="0" cy="274320"/>
          </a:xfrm>
          <a:prstGeom prst="line">
            <a:avLst/>
          </a:prstGeom>
          <a:ln w="1905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241280" y="3977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3969A"/>
                </a:solidFill>
                <a:latin typeface="Ericsson Hilda"/>
              </a:rPr>
              <a:t>build TRT engines  (3–14 min)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80160" y="434340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71600" y="4114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GET /app-instances/{id}  (poll)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06240" y="457200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97680" y="4343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watch pod status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132320" y="4800600"/>
            <a:ext cx="274320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22376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readinessProbe passes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280160" y="502920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4800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status: ready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80160" y="525780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7160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GET /endpoints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280160" y="5486399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71600" y="525779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{http: host:port, grpc: host:port}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Inference sequence (steady state)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37360"/>
            <a:ext cx="1188720" cy="45720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174E6"/>
                </a:solidFill>
                <a:latin typeface="Ericsson Hilda"/>
              </a:rPr>
              <a:t>Client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88720" y="2194560"/>
            <a:ext cx="0" cy="384048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11880" y="1737360"/>
            <a:ext cx="1188720" cy="45720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969A"/>
                </a:solidFill>
                <a:latin typeface="Ericsson Hilda"/>
              </a:rPr>
              <a:t>Sidecar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06240" y="2194560"/>
            <a:ext cx="0" cy="384048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37960" y="1737360"/>
            <a:ext cx="1188720" cy="45720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969A"/>
                </a:solidFill>
                <a:latin typeface="Ericsson Hilda"/>
              </a:rPr>
              <a:t>Triton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2194560"/>
            <a:ext cx="0" cy="384048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281160" y="1737360"/>
            <a:ext cx="1188720" cy="45720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969A"/>
                </a:solidFill>
                <a:latin typeface="Ericsson Hilda"/>
              </a:rPr>
              <a:t>GPU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875520" y="2194560"/>
            <a:ext cx="0" cy="3840480"/>
          </a:xfrm>
          <a:prstGeom prst="line">
            <a:avLst/>
          </a:prstGeom>
          <a:ln w="12700">
            <a:solidFill>
              <a:srgbClr val="A0A0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2377440"/>
            <a:ext cx="301752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8016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gRPC: InferRequest{jpeg, model}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2743200"/>
            <a:ext cx="0" cy="228600"/>
          </a:xfrm>
          <a:prstGeom prst="line">
            <a:avLst/>
          </a:prstGeom>
          <a:ln w="1905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60" y="2697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3969A"/>
                </a:solidFill>
                <a:latin typeface="Ericsson Hilda"/>
              </a:rPr>
              <a:t>decode + resize 640×640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310896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0" y="28803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SHM write + infer()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0" y="3474720"/>
            <a:ext cx="274320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23760" y="3246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TensorRT FP16 forward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132320" y="3840480"/>
            <a:ext cx="274320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23760" y="3611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output tensors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206240" y="4206240"/>
            <a:ext cx="292608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7680" y="3977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SHM read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89120" y="4572000"/>
            <a:ext cx="0" cy="228600"/>
          </a:xfrm>
          <a:prstGeom prst="line">
            <a:avLst/>
          </a:prstGeom>
          <a:ln w="19050">
            <a:solidFill>
              <a:srgbClr val="2396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80560" y="45262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3969A"/>
                </a:solidFill>
                <a:latin typeface="Ericsson Hilda"/>
              </a:rPr>
              <a:t>NMS / mask decode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188720" y="4937760"/>
            <a:ext cx="3017520" cy="0"/>
          </a:xfrm>
          <a:prstGeom prst="line">
            <a:avLst/>
          </a:prstGeom>
          <a:ln w="19050">
            <a:solidFill>
              <a:srgbClr val="1174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80160" y="4709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42424"/>
                </a:solidFill>
                <a:latin typeface="Ericsson Hilda"/>
              </a:rPr>
              <a:t>InferResponse{detections[]}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E65D6A"/>
                </a:solidFill>
                <a:latin typeface="Ericsson Hilda"/>
              </a:rPr>
              <a:t>Client ↔ Pod direct. NEF-shim is not in this picture.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Two models — switchable at runtime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94960" cy="64008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74E6"/>
                </a:solidFill>
                <a:latin typeface="Ericsson Hilda"/>
              </a:rPr>
              <a:t>YOLOv8n — Object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6.3 M parameters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Input: 640×640×3 (FP16)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Output: [1, 84, 8400] (boxes + 80 classes)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Edge L40S: ~4 ms per frame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Local CPU (M1 Pro): ~120 ms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Use: counting, tracking, presence.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394960" cy="64008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74E6"/>
                </a:solidFill>
                <a:latin typeface="Ericsson Hilda"/>
              </a:rPr>
              <a:t>YOLOv8x-seg — Instance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606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71.8 M parameters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Input: 640×640×3 (FP16)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Output 0: [1, 116, 8400] (boxes + mask coeffs)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Output 1: [1, 32, 160, 160] (prototypes)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Edge L40S: ~6 ms per frame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Local CPU (M1 Pro): ~530 ms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Use: pixel-level boundaries, AR overlays.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67676"/>
                </a:solidFill>
                <a:latin typeface="Ericsson Hilda"/>
              </a:rPr>
              <a:t>Both models live in the same Triton model repo. Switch by changing one header.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Measured latency — gRPC over 5G SA, LTH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174E6"/>
                </a:solidFill>
                <a:latin typeface="Ericsson Hilda"/>
              </a:rPr>
              <a:t>Detection — YOLOv8n (195 samples)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40280"/>
            <a:ext cx="2011680" cy="36576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Segment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2240280"/>
            <a:ext cx="1188720" cy="36576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Avg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240280"/>
            <a:ext cx="1097280" cy="365760"/>
          </a:xfrm>
          <a:prstGeom prst="rect">
            <a:avLst/>
          </a:prstGeom>
          <a:solidFill>
            <a:srgbClr val="1174E6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P95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20116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60604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55.0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606040"/>
            <a:ext cx="10972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73.1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90088"/>
            <a:ext cx="20116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5G UL + DL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990088"/>
            <a:ext cx="118872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31.5 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990088"/>
            <a:ext cx="10972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45.9 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74136"/>
            <a:ext cx="20116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Server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374136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23.5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374136"/>
            <a:ext cx="10972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26.7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58184"/>
            <a:ext cx="20116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  Preprocess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758184"/>
            <a:ext cx="118872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16.9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758184"/>
            <a:ext cx="10972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19.6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20116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  GPU 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4142232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 3.9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142232"/>
            <a:ext cx="10972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 4.2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26280"/>
            <a:ext cx="20116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  Postprocess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4526280"/>
            <a:ext cx="118872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 2.7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526280"/>
            <a:ext cx="10972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 3.3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783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3969A"/>
                </a:solidFill>
                <a:latin typeface="Ericsson Hilda"/>
              </a:rPr>
              <a:t>Segmentation — YOLOv8x-seg (200 samples)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240280"/>
            <a:ext cx="2011680" cy="365760"/>
          </a:xfrm>
          <a:prstGeom prst="rect">
            <a:avLst/>
          </a:prstGeom>
          <a:solidFill>
            <a:srgbClr val="23969A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Segment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240280"/>
            <a:ext cx="1188720" cy="365760"/>
          </a:xfrm>
          <a:prstGeom prst="rect">
            <a:avLst/>
          </a:prstGeom>
          <a:solidFill>
            <a:srgbClr val="23969A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Avg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2240280"/>
            <a:ext cx="1097280" cy="365760"/>
          </a:xfrm>
          <a:prstGeom prst="rect">
            <a:avLst/>
          </a:prstGeom>
          <a:solidFill>
            <a:srgbClr val="23969A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Ericsson Hilda"/>
              </a:rPr>
              <a:t>P95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606040"/>
            <a:ext cx="20116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End-to-end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260604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50.7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2606040"/>
            <a:ext cx="10972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66.6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990088"/>
            <a:ext cx="20116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5G UL + DL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990088"/>
            <a:ext cx="118872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31.3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64040" y="2990088"/>
            <a:ext cx="10972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42.6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374136"/>
            <a:ext cx="20116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Server total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374136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19.3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3374136"/>
            <a:ext cx="10972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30.1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758184"/>
            <a:ext cx="20116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  Preprocess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3758184"/>
            <a:ext cx="118872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 8.9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64040" y="3758184"/>
            <a:ext cx="10972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16.7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142232"/>
            <a:ext cx="20116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  GPU inference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4142232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 5.6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64040" y="4142232"/>
            <a:ext cx="10972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 6.0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526280"/>
            <a:ext cx="20116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Ericsson Hilda"/>
              </a:rPr>
              <a:t>  Postprocess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4526280"/>
            <a:ext cx="118872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 4.7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64040" y="4526280"/>
            <a:ext cx="1097280" cy="365760"/>
          </a:xfrm>
          <a:prstGeom prst="rect">
            <a:avLst/>
          </a:prstGeom>
          <a:solidFill>
            <a:srgbClr val="F2F2F2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42424"/>
                </a:solidFill>
                <a:latin typeface="Courier New"/>
              </a:rPr>
              <a:t> 7.6 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42424"/>
                </a:solidFill>
                <a:latin typeface="Ericsson Hilda"/>
              </a:rPr>
              <a:t>Local CPU baseline (M1 Pro, same client):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2424"/>
                </a:solidFill>
                <a:latin typeface="Courier New"/>
              </a:rPr>
              <a:t>  YOLOv8n      48.9 ms avg  /  54.1 ms P95            YOLOv8x-seg   344.9 ms avg  /  423.8 ms P95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0">
                <a:solidFill>
                  <a:srgbClr val="000000"/>
                </a:solidFill>
                <a:latin typeface="Ericsson Hilda Light"/>
              </a:rPr>
              <a:t>Transport choice — gRPC vs HTTP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94960" cy="640080"/>
          </a:xfrm>
          <a:prstGeom prst="roundRect">
            <a:avLst/>
          </a:prstGeom>
          <a:solidFill>
            <a:srgbClr val="D6E2F5"/>
          </a:solidFill>
          <a:ln w="19050">
            <a:solidFill>
              <a:srgbClr val="117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174E6"/>
                </a:solidFill>
                <a:latin typeface="Ericsson Hilda"/>
              </a:rPr>
              <a:t>gRPC  (primary)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Direct to NodePort, host:port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HTTP/2 binary framing, persistent connection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InferenceService/Infer (proto: jpeg + model)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~50 ms end-to-end over 5G (LTH zone)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Reliable on 5G; blocked through corporate VPN proxies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394960" cy="640080"/>
          </a:xfrm>
          <a:prstGeom prst="roundRect">
            <a:avLst/>
          </a:prstGeom>
          <a:solidFill>
            <a:srgbClr val="BDE0E1"/>
          </a:solidFill>
          <a:ln w="19050">
            <a:solidFill>
              <a:srgbClr val="239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3969A"/>
                </a:solidFill>
                <a:latin typeface="Ericsson Hilda"/>
              </a:rPr>
              <a:t>HTTP  (fallback)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6060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Direct to NodePort, http://host:port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JPEG POST  /infer  →  JSON response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New TCP connection per request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~5–7 ms slower (encode + parse overhead)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42424"/>
                </a:solidFill>
                <a:latin typeface="Ericsson Hilda"/>
              </a:rPr>
              <a:t>• Works wherever TCP works. Survives proxies.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42424"/>
                </a:solidFill>
                <a:latin typeface="Ericsson Hilda"/>
              </a:rPr>
              <a:t>Same endpoint shape (host:port). Same NodePort. Choice is in the client.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7676"/>
                </a:solidFill>
                <a:latin typeface="Ericsson Hild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FFFFFF"/>
                </a:solidFill>
                <a:latin typeface="Ericsson Hilda"/>
              </a:rPr>
              <a:t>EdgeVision — LTH 5G SA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<a:prstTxWarp prst="textNoShape">
          <a:avLst/>
        </a:prstTxWarp>
        <a:noAutofit/>
      </a:bodyPr>
      <a:lstStyle>
        <a:defPPr marL="180000" indent="-180000" algn="l">
          <a:spcBef>
            <a:spcPts val="800"/>
          </a:spcBef>
          <a:buFont typeface="Ericsson Hilda" panose="00000500000000000000" pitchFamily="2" charset="0"/>
          <a:buChar char="●"/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L="180000" marR="0" indent="-18000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buFont typeface="Ericsson Hilda" panose="00000500000000000000" pitchFamily="2" charset="0"/>
          <a:buChar char="●"/>
          <a:tabLst/>
          <a:defRPr kumimoji="0" sz="2000" b="0" i="0" u="none" strike="noStrike" kern="1000" cap="none" spc="-3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Ericsson Hilda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ricsson Hild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Ericsson Hilda"/>
        <a:font script="Hebr" typeface="Ericsson Hild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ricsson Hild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Ericsson Hilda Light"/>
        <a:font script="Hebr" typeface="Ericsson Hilda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 Light"/>
        <a:font script="Uigh" typeface="Microsoft Uighur"/>
        <a:font script="Geor" typeface="Sylfaen"/>
        <a:font script="Armn" typeface="Ericsson Hilda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ricsson Hild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Ericsson Hilda"/>
        <a:font script="Hebr" typeface="Ericsson Hild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ricsson Hild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Ericsson Hilda"/>
        <a:font script="Hebr" typeface="Ericsson Hild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55D1AB-6DE4-F449-AC31-2A943147D913}">
  <we:reference id="8c079bc0-695b-4e36-9ef8-6ac1bd7eea20" version="1.0.0.6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documentContentValidatorConfiguration":{"enableDocumentContentValidator":false,"documentContentValidatorVersion":0},"elementsMetadata":[],"slideId":"638778217151466948","enableDocumentContentUpdater":true,"version":"1.9"}]]></TemplafySlideTemplateConfiguration>
</file>

<file path=customXml/item3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documentContentValidatorConfiguration":{"enableDocumentContentValidator":false,"documentContentValidatorVersion":0},"elementsMetadata":[],"slideId":"637686792099685410","enableDocumentContentUpdater":true,"version":"1.9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TemplateConfiguration><![CDATA[{"elementsMetadata":[],"transformationConfigurations":[{"language":"{{DocumentLanguage}}","disableUpdates":false,"type":"proofingLanguage"},{"propertyName":"FooterText","propertyValue":"true","disableUpdates":false,"type":"customDocumentProperty"},{"propertyName":"SecurityClass","propertyValue":"{{Form.ConfidentialityClass.Confidentiality}}","disableUpdates":false,"type":"customDocumentProperty"},{"propertyName":"ExtConf","propertyValue":"{{Form.ExternalConfidentialityLabel.ExternalConfidentiality}}","disableUpdates":false,"type":"customDocumentProperty"},{"propertyName":"Prepared","propertyValue":"{{Form.Prepared}}","disableUpdates":false,"type":"customDocumentProperty"},{"propertyName":"ApprovedBy","propertyValue":"{{Form.ApprovedBy}}","disableUpdates":false,"type":"customDocumentProperty"},{"propertyName":"DocNo","propertyValue":"{{Form.DocumentNumber}} {{Form.LanguageCode.LanguageCode}}","disableUpdates":false,"type":"customDocumentProperty"},{"propertyName":"Checked","propertyValue":"{{Form.Checked}}","disableUpdates":false,"type":"customDocumentProperty"},{"propertyName":"Date","propertyValue":"{{Form.Date}}","disableUpdates":false,"type":"customDocumentProperty"},{"propertyName":"Reference","propertyValue":"{{Form.Reference}}","disableUpdates":false,"type":"customDocumentProperty"},{"propertyName":"Title","propertyValue":"{{Form.DocumentTitle}}","disableUpdates":false,"type":"customDocumentProperty"},{"propertyName":"Keyword","propertyValue":"{{Form.Keywords}}","disableUpdates":false,"type":"customDocumentProperty"},{"propertyName":"DocumentType","propertyValue":"Presentation2011","disableUpdates":false,"type":"customDocumentProperty"},{"propertyName":"Language","propertyValue":"EnglishUS","disableUpdates":false,"type":"customDocumentProperty"},{"propertyName":"TemplateID","propertyValue":"FALSE","disableUpdates":false,"type":"customDocumentProperty"},{"propertyName":"ConfCtrl","propertyValue":"FALSE","disableUpdates":false,"type":"customDocumentProperty"},{"propertyName":"title","propertyValue":"{{Form.DocumentTitle}}","disableUpdates":false,"type":"documentProperty"},{"propertyName":"keywords","propertyValue":"{{Form.Keywords}}","disableUpdates":false,"type":"documentProperty"},{"propertyName":"creator","propertyValue":"{{Form.Prepared}}","disableUpdates":false,"type":"documentProperty"},{"propertyName":"DocTitle","propertyValue":"{{Form.DocTitle.DocTitle}}","disableUpdates":false,"type":"customDocumentProperty"},{"propertyName":"IsDocument","propertyValue":"{{Form.TemplateType.IsDocument}}","disableUpdates":false,"type":"customDocumentProperty"},{"propertyName":"IsPresentation","propertyValue":"{{Form.TemplateType.IsPresentation}}","disableUpdates":false,"type":"customDocumentProperty"},{"propertyName":"company","propertyValue":"Ericsson","disableUpdates":false,"type":"documentProperty"},{"propertyName":"PageNumberVisible","propertyValue":"{{Form.TotalPageNo.TotalPageNo_value}}","disableUpdates":false,"type":"customDocumentProperty"},{"propertyName":"Revision","propertyValue":"{{Form.Revision}}","disableUpdates":false,"type":"customDocumentProperty"},{"propertyName":"DocType","propertyValue":"{{Form.DocTypePresentation}}","disableUpdates":false,"type":"customDocumentProperty"},{"propertyName":"TemplateVersion","propertyValue":"R2A","disableUpdates":false,"type":"customDocumentProperty"},{"propertyName":"PackageNo","propertyValue":"LXA 119 603","disableUpdates":false,"type":"customDocumentProperty"},{"propertyName":"PackageVersion","propertyValue":"R6B","disableUpdates":false,"type":"customDocumentProperty"},{"propertyName":"TemplateName","propertyValue":"CXC 173 2731/1","disableUpdates":false,"type":"customDocumentProperty"},{"propertyName":"DocName","propertyValue":" ","disableUpdates":false,"type":"customDocumentProperty"},{"propertyName":"description","propertyValue":"{{Form.DocumentNumber}} {{Form.LanguageCode.LanguageCode}}\nRev {{Form.Revision}}","disableUpdates":false,"type":"documentProperty"},{"propertyName":"DocNoVisible","propertyValue":"{{Form.DocNo.ShowDocNo}}","disableUpdates":false,"type":"customDocumentProperty"}],"templateName":"","templateDescription":"","enableDocumentContentUpdater":true,"version":"1.9"}]]></Templafy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8778217151623120","enableDocumentContentUpdater":true,"version":"1.9"}]]></TemplafySlideTemplateConfiguration>
</file>

<file path=customXml/item1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8661F604A9A64C9627B875CBEE0D49" ma:contentTypeVersion="15" ma:contentTypeDescription="Create a new document." ma:contentTypeScope="" ma:versionID="a479c757ef17ea2b01d6697cee2b70c6">
  <xsd:schema xmlns:xsd="http://www.w3.org/2001/XMLSchema" xmlns:xs="http://www.w3.org/2001/XMLSchema" xmlns:p="http://schemas.microsoft.com/office/2006/metadata/properties" xmlns:ns3="92e1255f-bb7b-4dc9-b051-584cc104eb44" xmlns:ns4="a6550eff-0fc9-443f-8e77-72cbcf778382" targetNamespace="http://schemas.microsoft.com/office/2006/metadata/properties" ma:root="true" ma:fieldsID="08df2d0f55032e4052d032aa8ec7ed1f" ns3:_="" ns4:_="">
    <xsd:import namespace="92e1255f-bb7b-4dc9-b051-584cc104eb44"/>
    <xsd:import namespace="a6550eff-0fc9-443f-8e77-72cbcf77838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1255f-bb7b-4dc9-b051-584cc104eb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50eff-0fc9-443f-8e77-72cbcf778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6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661701760905467","enableDocumentContentUpdater":true,"version":"1.9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18.xml><?xml version="1.0" encoding="utf-8"?>
<TemplafySlideTemplateConfiguration><![CDATA[{"documentContentValidatorConfiguration":{"enableDocumentContentValidator":false,"documentContentValidatorVersion":0},"elementsMetadata":[],"slideId":"637680893028734567","enableDocumentContentUpdater":true,"version":"1.9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documentContentValidatorConfiguration":{"enableDocumentContentValidator":false,"documentContentValidatorVersion":0},"elementsMetadata":[],"slideId":"637686792099841621","enableDocumentContentUpdater":true,"version":"1.9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documentContentValidatorConfiguration":{"enableDocumentContentValidator":false,"documentContentValidatorVersion":0},"elementsMetadata":[],"slideId":"637680893028734566","enableDocumentContentUpdater":true,"version":"1.9"}]]></TemplafySlideTemplateConfiguration>
</file>

<file path=customXml/item25.xml><?xml version="1.0" encoding="utf-8"?>
<TemplafySlideTemplateConfiguration><![CDATA[{"documentContentValidatorConfiguration":{"enableDocumentContentValidator":false,"documentContentValidatorVersion":0},"elementsMetadata":[],"slideId":"637661701761374253","enableDocumentContentUpdater":true,"version":"1.9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TemplateConfiguration><![CDATA[{"documentContentValidatorConfiguration":{"enableDocumentContentValidator":false,"documentContentValidatorVersion":0},"elementsMetadata":[],"slideId":"637686792097497818","enableDocumentContentUpdater":true,"version":"1.9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TemplateConfiguration><![CDATA[{"documentContentValidatorConfiguration":{"enableDocumentContentValidator":false,"documentContentValidatorVersion":0},"elementsMetadata":[],"slideId":"638778217151623122","enableDocumentContentUpdater":true,"version":"1.9"}]]></TemplafySlideTemplate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TemplateConfiguration><![CDATA[{"documentContentValidatorConfiguration":{"enableDocumentContentValidator":false,"documentContentValidatorVersion":0},"elementsMetadata":[],"slideId":"638778217151623121","enableDocumentContentUpdater":true,"version":"1.9"}]]></TemplafySlideTemplateConfiguration>
</file>

<file path=customXml/item33.xml><?xml version="1.0" encoding="utf-8"?>
<TemplafySlideTemplateConfiguration><![CDATA[{"elementsMetadata":[],"documentContentValidatorConfiguration":{"enableDocumentContentValidator":false,"documentContentValidatorVersion":0},"slideId":"637027476704980324","enableDocumentContentUpdater":true,"version":"1.9"}]]></TemplafySlideTemplateConfiguration>
</file>

<file path=customXml/item34.xml><?xml version="1.0" encoding="utf-8"?>
<TemplafySlideTemplateConfiguration><![CDATA[{"documentContentValidatorConfiguration":{"enableDocumentContentValidator":false,"documentContentValidatorVersion":0},"elementsMetadata":[],"slideId":"637661701761374254","enableDocumentContentUpdater":true,"version":"1.9"}]]></TemplafySlideTemplateConfiguration>
</file>

<file path=customXml/item35.xml><?xml version="1.0" encoding="utf-8"?>
<TemplafySlideTemplateConfiguration><![CDATA[{"documentContentValidatorConfiguration":{"enableDocumentContentValidator":false,"documentContentValidatorVersion":0},"elementsMetadata":[],"slideId":"637680893028734567","enableDocumentContentUpdater":true,"version":"1.9"}]]></TemplafySlideTemplateConfiguration>
</file>

<file path=customXml/item36.xml><?xml version="1.0" encoding="utf-8"?>
<TemplafyFormConfiguration><![CDATA[{"formFields":[{"required":true,"placeholder":"","lines":0,"helpTexts":{"prefix":"","postfix":""},"spacing":{},"type":"textBox","name":"DocumentTitle","label":"Document Title","fullyQualifiedName":"DocumentTitle"},{"dataSource":"Confidentiality","displayColumn":"confidentiality","hideIfNoUserInteractionRequired":false,"distinct":true,"required":true,"autoSelectFirstOption":false,"helpTexts":{"prefix":"","postfix":""},"spacing":{},"type":"dropDown","name":"ConfidentialityClass","label":"Confidentiality Class","fullyQualifiedName":"ConfidentialityClass"},{"dataSource":"External Confidentiality label","displayColumn":"externalConfidentiality","hideIfNoUserInteractionRequired":false,"distinct":true,"required":false,"autoSelectFirstOption":false,"helpTexts":{"prefix":"","postfix":"(If no external confidentiality class then please choose the blank value)"},"spacing":{},"type":"dropDown","name":"ExternalConfidentialityLabel","label":"External Confidentiality label","fullyQualifiedName":"ExternalConfidentialityLabel"},{"column":"documentType","required":false,"placeholder":"","autoSelectFirstOption":false,"helpTexts":{"prefix":"","postfix":""},"spacing":{},"dataSource":"PowerPoint Document Type","type":"comboBox","name":"DocTypePresentation","label":"Document Type","fullyQualifiedName":"DocTypePresentation"},{"required":false,"placeholder":"","lines":0,"helpTexts":{"prefix":"","postfix":"(Commonly assigned by EriDoc)"},"spacing":{},"type":"textBox","name":"DocumentNumber","label":"Document Number","fullyQualifiedName":"DocumentNumber"},{"dataSource":"Language code","displayColumn":"showName","defaultValue":"1","hideIfNoUserInteractionRequired":false,"distinct":true,"required":false,"autoSelectFirstOption":false,"helpTexts":{"prefix":"","postfix":"(The language code will be appended to the Document No.)"},"spacing":{},"type":"dropDown","name":"LanguageCode","label":"Language Code","fullyQualifiedName":"LanguageCode"},{"column":"revision","required":false,"placeholder":"","autoSelectFirstOption":false,"helpTexts":{"prefix":"","postfix":""},"spacing":{},"dataSource":"Revision","type":"comboBox","name":"Revision","label":"Revision","fullyQualifiedName":"Revision"},{"required":false,"helpTexts":{"prefix":"","postfix":""},"spacing":{},"type":"datePicker","name":"Date","label":"Date","fullyQualifiedName":"Date"},{"helpTexts":{"prefix":"","postfix":""},"spacing":{},"type":"heading","name":"FooterVisibilityOptions","label":"Footer Visibility Options","fullyQualifiedName":"FooterVisibilityOptions"},{"dataSource":"PPT FooterVisibility","displayColumn":"templateType","defaultValue":"1","hideIfNoUserInteractionRequired":false,"distinct":true,"required":true,"autoSelectFirstOption":false,"helpTexts":{"prefix":"","postfix":""},"spacing":{},"type":"dropDown","name":"TemplateType","label":"Is this a document or presentation?","fullyQualifiedName":"TemplateType"},{"dataSource":"PPT FooterVisibility","displayColumn":"docTitle_label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DocTitle","label":"Show document title in footer?","fullyQualifiedName":"DocTitle"},{"dataSource":"PPT FooterVisibility","displayColumn":"totalPageNo_text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TotalPageNo","label":"Page numbering","fullyQualifiedName":"TotalPageNo"},{"dataSource":"PPT FooterVisibility","displayColumn":"showDocNo_label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DocNo","label":"Show document number in footer?","fullyQualifiedName":"DocNo"},{"required":false,"placeholder":"","lines":0,"defaultValue":"{{UserProfile.Prepared}}","helpTexts":{"prefix":"","postfix":""},"spacing":{},"type":"textBox","name":"Prepared","label":"Prepared By (Subject Responsible)","fullyQualifiedName":"Prepared"},{"required":false,"placeholder":"","lines":0,"helpTexts":{"prefix":"","postfix":""},"spacing":{},"type":"textBox","name":"ApprovedBy","label":"Approved By (Document Responsible)","fullyQualifiedName":"ApprovedBy"},{"required":false,"placeholder":"","lines":0,"helpTexts":{"prefix":"","postfix":""},"spacing":{},"type":"textBox","name":"Checked","label":"Checked","fullyQualifiedName":"Checked"},{"required":false,"placeholder":"","lines":0,"helpTexts":{"prefix":"","postfix":"(Overwritten with EriDoc values at check-in)"},"spacing":{},"type":"textBox","name":"Reference","label":"Reference","fullyQualifiedName":"Reference"},{"required":false,"placeholder":"","lines":0,"helpTexts":{"prefix":"","postfix":""},"spacing":{},"type":"textBox","name":"Keywords","label":"Keywords","fullyQualifiedName":"Keywords"}],"formDataEntries":[{"name":"DocumentTitle","value":"m11f/TW7rHRWIfsX69V1pA=="},{"name":"ConfidentialityClass","value":"5wlu7ZdPxHQj1W0w+yTNSg=="},{"name":"LanguageCode","value":"5wlu7ZdPxHQj1W0w+yTNSg=="},{"name":"Date","value":"0+D8dfMiWepkjqfbIBM0Tg=="},{"name":"TemplateType","value":"5wlu7ZdPxHQj1W0w+yTNSg=="},{"name":"DocTitle","value":"cT/FOwTWaPknrhRlNMh4SQ=="},{"name":"TotalPageNo","value":"cT/FOwTWaPknrhRlNMh4SQ=="},{"name":"DocNo","value":"5wlu7ZdPxHQj1W0w+yTNSg=="}]}]]></TemplafyFormConfiguration>
</file>

<file path=customXml/item37.xml><?xml version="1.0" encoding="utf-8"?>
<TemplafySlideTemplateConfiguration><![CDATA[{"documentContentValidatorConfiguration":{"enableDocumentContentValidator":false,"documentContentValidatorVersion":0},"elementsMetadata":[],"slideId":"637686792099529121","enableDocumentContentUpdater":true,"version":"1.9"}]]></TemplafySlideTemplateConfiguration>
</file>

<file path=customXml/itemProps1.xml><?xml version="1.0" encoding="utf-8"?>
<ds:datastoreItem xmlns:ds="http://schemas.openxmlformats.org/officeDocument/2006/customXml" ds:itemID="{18E8783B-951B-4A1B-B40D-E9FF035C6EC3}">
  <ds:schemaRefs/>
</ds:datastoreItem>
</file>

<file path=customXml/itemProps2.xml><?xml version="1.0" encoding="utf-8"?>
<ds:datastoreItem xmlns:ds="http://schemas.openxmlformats.org/officeDocument/2006/customXml" ds:itemID="{72516535-7702-46AF-9B1F-8623A67A824E}">
  <ds:schemaRefs/>
</ds:datastoreItem>
</file>

<file path=customXml/itemProps3.xml><?xml version="1.0" encoding="utf-8"?>
<ds:datastoreItem xmlns:ds="http://schemas.openxmlformats.org/officeDocument/2006/customXml" ds:itemID="{52A05B13-3DE5-497C-8D25-AF379C763FD7}">
  <ds:schemaRefs/>
</ds:datastoreItem>
</file>

<file path=customXml/itemProps4.xml><?xml version="1.0" encoding="utf-8"?>
<ds:datastoreItem xmlns:ds="http://schemas.openxmlformats.org/officeDocument/2006/customXml" ds:itemID="{847502A6-7CBE-43AF-BDF6-4D4423521D8C}">
  <ds:schemaRefs/>
</ds:datastoreItem>
</file>

<file path=customXml/itemProps5.xml><?xml version="1.0" encoding="utf-8"?>
<ds:datastoreItem xmlns:ds="http://schemas.openxmlformats.org/officeDocument/2006/customXml" ds:itemID="{B433ACB5-0F66-4510-BD8D-5C89E77F792A}">
  <ds:schemaRefs/>
</ds:datastoreItem>
</file>

<file path=customXml/itemProps6.xml><?xml version="1.0" encoding="utf-8"?>
<ds:datastoreItem xmlns:ds="http://schemas.openxmlformats.org/officeDocument/2006/customXml" ds:itemID="{C743F39B-34B7-489D-AD41-975446F383F2}">
  <ds:schemaRefs/>
</ds:datastoreItem>
</file>

<file path=customXml/itemProps7.xml><?xml version="1.0" encoding="utf-8"?>
<ds:datastoreItem xmlns:ds="http://schemas.openxmlformats.org/officeDocument/2006/customXml" ds:itemID="{EC692003-401D-45F6-9A4A-D1E312A4B860}">
  <ds:schemaRefs/>
</ds:datastoreItem>
</file>

<file path=customXml/itemProps8.xml><?xml version="1.0" encoding="utf-8"?>
<ds:datastoreItem xmlns:ds="http://schemas.openxmlformats.org/officeDocument/2006/customXml" ds:itemID="{26CC17F8-1955-436D-9793-F213427699CB}">
  <ds:schemaRefs/>
</ds:datastoreItem>
</file>

<file path=customXml/itemProps9.xml><?xml version="1.0" encoding="utf-8"?>
<ds:datastoreItem xmlns:ds="http://schemas.openxmlformats.org/officeDocument/2006/customXml" ds:itemID="{07958A4E-FAB1-42E4-B6B5-29B01F63F87B}">
  <ds:schemaRefs/>
</ds:datastoreItem>
</file>

<file path=customXml/itemProps10.xml><?xml version="1.0" encoding="utf-8"?>
<ds:datastoreItem xmlns:ds="http://schemas.openxmlformats.org/officeDocument/2006/customXml" ds:itemID="{404B5E37-CC97-42F4-B35A-447298D4D76C}">
  <ds:schemaRefs/>
</ds:datastoreItem>
</file>

<file path=customXml/itemProps11.xml><?xml version="1.0" encoding="utf-8"?>
<ds:datastoreItem xmlns:ds="http://schemas.openxmlformats.org/officeDocument/2006/customXml" ds:itemID="{683FEB75-8CFA-449C-A6B1-B1E4A86A58A1}">
  <ds:schemaRefs/>
</ds:datastoreItem>
</file>

<file path=customXml/itemProps12.xml><?xml version="1.0" encoding="utf-8"?>
<ds:datastoreItem xmlns:ds="http://schemas.openxmlformats.org/officeDocument/2006/customXml" ds:itemID="{A2258578-4028-422E-A2BB-56A6BD2305EC}">
  <ds:schemaRefs>
    <ds:schemaRef ds:uri="92e1255f-bb7b-4dc9-b051-584cc104eb44"/>
    <ds:schemaRef ds:uri="a6550eff-0fc9-443f-8e77-72cbcf77838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13.xml><?xml version="1.0" encoding="utf-8"?>
<ds:datastoreItem xmlns:ds="http://schemas.openxmlformats.org/officeDocument/2006/customXml" ds:itemID="{E248135D-A469-423D-BC36-57BD0571206B}">
  <ds:schemaRefs/>
</ds:datastoreItem>
</file>

<file path=customXml/itemProps14.xml><?xml version="1.0" encoding="utf-8"?>
<ds:datastoreItem xmlns:ds="http://schemas.openxmlformats.org/officeDocument/2006/customXml" ds:itemID="{764B6BD3-CCDA-4733-B982-886961AF5D39}">
  <ds:schemaRefs/>
</ds:datastoreItem>
</file>

<file path=customXml/itemProps15.xml><?xml version="1.0" encoding="utf-8"?>
<ds:datastoreItem xmlns:ds="http://schemas.openxmlformats.org/officeDocument/2006/customXml" ds:itemID="{02C6324B-8128-42D5-8BDF-9C29DE0C7F83}">
  <ds:schemaRefs/>
</ds:datastoreItem>
</file>

<file path=customXml/itemProps16.xml><?xml version="1.0" encoding="utf-8"?>
<ds:datastoreItem xmlns:ds="http://schemas.openxmlformats.org/officeDocument/2006/customXml" ds:itemID="{1A28A30E-EBE8-4501-A38C-13D309E79833}">
  <ds:schemaRefs/>
</ds:datastoreItem>
</file>

<file path=customXml/itemProps17.xml><?xml version="1.0" encoding="utf-8"?>
<ds:datastoreItem xmlns:ds="http://schemas.openxmlformats.org/officeDocument/2006/customXml" ds:itemID="{56F2EE69-0CCA-4F48-BE22-EC4A886C57A7}">
  <ds:schemaRefs>
    <ds:schemaRef ds:uri="92e1255f-bb7b-4dc9-b051-584cc104eb44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a6550eff-0fc9-443f-8e77-72cbcf778382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customXml/itemProps18.xml><?xml version="1.0" encoding="utf-8"?>
<ds:datastoreItem xmlns:ds="http://schemas.openxmlformats.org/officeDocument/2006/customXml" ds:itemID="{8EAC0CCF-4039-4854-BE3E-001139627600}">
  <ds:schemaRefs/>
</ds:datastoreItem>
</file>

<file path=customXml/itemProps19.xml><?xml version="1.0" encoding="utf-8"?>
<ds:datastoreItem xmlns:ds="http://schemas.openxmlformats.org/officeDocument/2006/customXml" ds:itemID="{B9AEDDE3-EA02-4A8F-B8F8-0606A0AA45FC}">
  <ds:schemaRefs/>
</ds:datastoreItem>
</file>

<file path=customXml/itemProps20.xml><?xml version="1.0" encoding="utf-8"?>
<ds:datastoreItem xmlns:ds="http://schemas.openxmlformats.org/officeDocument/2006/customXml" ds:itemID="{F5A7E41D-6E7F-4B05-AFAB-F540BD4C068B}">
  <ds:schemaRefs>
    <ds:schemaRef ds:uri="http://schemas.microsoft.com/sharepoint/v3/contenttype/forms"/>
  </ds:schemaRefs>
</ds:datastoreItem>
</file>

<file path=customXml/itemProps21.xml><?xml version="1.0" encoding="utf-8"?>
<ds:datastoreItem xmlns:ds="http://schemas.openxmlformats.org/officeDocument/2006/customXml" ds:itemID="{32BA7684-6BE4-4F73-B22E-30934AB379B8}">
  <ds:schemaRefs/>
</ds:datastoreItem>
</file>

<file path=customXml/itemProps22.xml><?xml version="1.0" encoding="utf-8"?>
<ds:datastoreItem xmlns:ds="http://schemas.openxmlformats.org/officeDocument/2006/customXml" ds:itemID="{CF75376B-8E1F-4AEB-819C-9358049D1BA5}">
  <ds:schemaRefs/>
</ds:datastoreItem>
</file>

<file path=customXml/itemProps23.xml><?xml version="1.0" encoding="utf-8"?>
<ds:datastoreItem xmlns:ds="http://schemas.openxmlformats.org/officeDocument/2006/customXml" ds:itemID="{15E9142C-9F7F-4153-9023-3D16FF04F058}">
  <ds:schemaRefs/>
</ds:datastoreItem>
</file>

<file path=customXml/itemProps24.xml><?xml version="1.0" encoding="utf-8"?>
<ds:datastoreItem xmlns:ds="http://schemas.openxmlformats.org/officeDocument/2006/customXml" ds:itemID="{2F658D21-F2D6-4779-88A5-CB95F39C642F}">
  <ds:schemaRefs/>
</ds:datastoreItem>
</file>

<file path=customXml/itemProps25.xml><?xml version="1.0" encoding="utf-8"?>
<ds:datastoreItem xmlns:ds="http://schemas.openxmlformats.org/officeDocument/2006/customXml" ds:itemID="{4757904F-D993-4C3E-9CE4-78718A2F4F19}">
  <ds:schemaRefs/>
</ds:datastoreItem>
</file>

<file path=customXml/itemProps26.xml><?xml version="1.0" encoding="utf-8"?>
<ds:datastoreItem xmlns:ds="http://schemas.openxmlformats.org/officeDocument/2006/customXml" ds:itemID="{6C69DA4C-C88C-4755-98CE-796AEC86ADCC}">
  <ds:schemaRefs/>
</ds:datastoreItem>
</file>

<file path=customXml/itemProps27.xml><?xml version="1.0" encoding="utf-8"?>
<ds:datastoreItem xmlns:ds="http://schemas.openxmlformats.org/officeDocument/2006/customXml" ds:itemID="{E4E2800D-76D1-4DF9-9ECE-A15CDD011791}">
  <ds:schemaRefs/>
</ds:datastoreItem>
</file>

<file path=customXml/itemProps28.xml><?xml version="1.0" encoding="utf-8"?>
<ds:datastoreItem xmlns:ds="http://schemas.openxmlformats.org/officeDocument/2006/customXml" ds:itemID="{A6A6D546-360A-4EDC-9287-5F977EA836B5}">
  <ds:schemaRefs/>
</ds:datastoreItem>
</file>

<file path=customXml/itemProps29.xml><?xml version="1.0" encoding="utf-8"?>
<ds:datastoreItem xmlns:ds="http://schemas.openxmlformats.org/officeDocument/2006/customXml" ds:itemID="{822D38AD-8010-4CD3-BD6B-117CB8DF70A4}">
  <ds:schemaRefs/>
</ds:datastoreItem>
</file>

<file path=customXml/itemProps30.xml><?xml version="1.0" encoding="utf-8"?>
<ds:datastoreItem xmlns:ds="http://schemas.openxmlformats.org/officeDocument/2006/customXml" ds:itemID="{1CE36EA9-2186-4EB1-871A-8AE59C2A13BB}">
  <ds:schemaRefs/>
</ds:datastoreItem>
</file>

<file path=customXml/itemProps31.xml><?xml version="1.0" encoding="utf-8"?>
<ds:datastoreItem xmlns:ds="http://schemas.openxmlformats.org/officeDocument/2006/customXml" ds:itemID="{58CC0B31-82B9-497A-9A2E-F3F72D0BBDAD}">
  <ds:schemaRefs/>
</ds:datastoreItem>
</file>

<file path=customXml/itemProps32.xml><?xml version="1.0" encoding="utf-8"?>
<ds:datastoreItem xmlns:ds="http://schemas.openxmlformats.org/officeDocument/2006/customXml" ds:itemID="{03AF3FDC-ACD1-46F3-A43E-782322DF9816}">
  <ds:schemaRefs/>
</ds:datastoreItem>
</file>

<file path=customXml/itemProps33.xml><?xml version="1.0" encoding="utf-8"?>
<ds:datastoreItem xmlns:ds="http://schemas.openxmlformats.org/officeDocument/2006/customXml" ds:itemID="{C09F197C-6A49-47D0-B877-F88807989676}">
  <ds:schemaRefs/>
</ds:datastoreItem>
</file>

<file path=customXml/itemProps34.xml><?xml version="1.0" encoding="utf-8"?>
<ds:datastoreItem xmlns:ds="http://schemas.openxmlformats.org/officeDocument/2006/customXml" ds:itemID="{3ABC8E70-0FB0-4A41-B5B3-4E9A7F7F72F2}">
  <ds:schemaRefs/>
</ds:datastoreItem>
</file>

<file path=customXml/itemProps35.xml><?xml version="1.0" encoding="utf-8"?>
<ds:datastoreItem xmlns:ds="http://schemas.openxmlformats.org/officeDocument/2006/customXml" ds:itemID="{95F91D34-C43D-40D9-BC24-031F2BE6DEA3}">
  <ds:schemaRefs/>
</ds:datastoreItem>
</file>

<file path=customXml/itemProps36.xml><?xml version="1.0" encoding="utf-8"?>
<ds:datastoreItem xmlns:ds="http://schemas.openxmlformats.org/officeDocument/2006/customXml" ds:itemID="{D92C3DF5-A179-4E2D-BD20-07044B39171F}">
  <ds:schemaRefs/>
</ds:datastoreItem>
</file>

<file path=customXml/itemProps37.xml><?xml version="1.0" encoding="utf-8"?>
<ds:datastoreItem xmlns:ds="http://schemas.openxmlformats.org/officeDocument/2006/customXml" ds:itemID="{FFF46036-933A-4C11-8695-6D42C4F9FA42}">
  <ds:schemaRefs/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0</TotalTime>
  <Words>1092</Words>
  <Application>Microsoft Macintosh PowerPoint</Application>
  <PresentationFormat>Widescreen</PresentationFormat>
  <Paragraphs>129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Wingdings</vt:lpstr>
      <vt:lpstr>Arial</vt:lpstr>
      <vt:lpstr>Ericsson Hilda</vt:lpstr>
      <vt:lpstr>Ericsson Technical Icons</vt:lpstr>
      <vt:lpstr>Ericsson Hilda Light</vt:lpstr>
      <vt:lpstr>Ericsson Hilda ExtraLight</vt:lpstr>
      <vt:lpstr>Ericsson Hilda ExtraBold</vt:lpstr>
      <vt:lpstr>PresentationTemplate2025</vt:lpstr>
      <vt:lpstr>PowerPoint Presentation</vt:lpstr>
      <vt:lpstr>PowerPoint Presentation</vt:lpstr>
      <vt:lpstr>Limited Layouts gives us an unlimited number of creative slides</vt:lpstr>
      <vt:lpstr>Be a role model and show the way we communicate as one company</vt:lpstr>
      <vt:lpstr>Colors — Do’s and Don'ts </vt:lpstr>
      <vt:lpstr>Key visuals — Do’s and Don'ts  </vt:lpstr>
      <vt:lpstr>Headline in Ericsson Hilda Light 40pt</vt:lpstr>
      <vt:lpstr>Title/headline,   Ericsson Hilda Light 80pt, max 3-lines</vt:lpstr>
      <vt:lpstr>Ericsson Hilda in PowerPoint</vt:lpstr>
      <vt:lpstr>Free-form slide. Move, remove, resize or replace within the below 8 box grid</vt:lpstr>
      <vt:lpstr>PowerPoint Presentation</vt:lpstr>
      <vt:lpstr>PowerPoint Presentation</vt:lpstr>
      <vt:lpstr>PowerPoint Presentation</vt:lpstr>
      <vt:lpstr>PowerPoint Presentation</vt:lpstr>
    </vt:vector>
  </TitlesOfParts>
  <Company>Ericsson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Guide</dc:title>
  <dc:creator/>
  <cp:keywords/>
  <dc:description>
Rev </dc:description>
  <cp:lastModifiedBy>Sofia Leonsson</cp:lastModifiedBy>
  <cp:revision>1</cp:revision>
  <dcterms:created xsi:type="dcterms:W3CDTF">2019-04-23T15:12:54Z</dcterms:created>
  <dcterms:modified xsi:type="dcterms:W3CDTF">2025-03-25T14:09:28Z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Category">
    <vt:lpwstr> </vt:lpwstr>
  </property>
  <property fmtid="{D5CDD505-2E9C-101B-9397-08002B2CF9AE}" pid="3" name="TemplateIdentity">
    <vt:lpwstr> </vt:lpwstr>
  </property>
  <property fmtid="{D5CDD505-2E9C-101B-9397-08002B2CF9AE}" pid="4" name="DocName">
    <vt:lpwstr> </vt:lpwstr>
  </property>
  <property fmtid="{D5CDD505-2E9C-101B-9397-08002B2CF9AE}" pid="5" name="ContentTypeId">
    <vt:lpwstr>0x0101002C8661F604A9A64C9627B875CBEE0D49</vt:lpwstr>
  </property>
  <property fmtid="{D5CDD505-2E9C-101B-9397-08002B2CF9AE}" pid="6" name="DocumentDataTemplate">
    <vt:lpwstr>true</vt:lpwstr>
  </property>
  <property fmtid="{D5CDD505-2E9C-101B-9397-08002B2CF9AE}" pid="7" name="BSubject">
    <vt:lpwstr> </vt:lpwstr>
  </property>
  <property fmtid="{D5CDD505-2E9C-101B-9397-08002B2CF9AE}" pid="8" name="TemplafyTimeStamp">
    <vt:lpwstr>2025-03-13T07:32:23.1811663Z</vt:lpwstr>
  </property>
  <property fmtid="{D5CDD505-2E9C-101B-9397-08002B2CF9AE}" pid="9" name="TemplafyTenantId">
    <vt:lpwstr>ericsson</vt:lpwstr>
  </property>
  <property fmtid="{D5CDD505-2E9C-101B-9397-08002B2CF9AE}" pid="10" name="TemplafyTemplateId">
    <vt:lpwstr>637661677935531027</vt:lpwstr>
  </property>
  <property fmtid="{D5CDD505-2E9C-101B-9397-08002B2CF9AE}" pid="11" name="TemplafyUserProfileId">
    <vt:lpwstr>636960983604027746</vt:lpwstr>
  </property>
  <property fmtid="{D5CDD505-2E9C-101B-9397-08002B2CF9AE}" pid="12" name="TemplafyLanguageCode">
    <vt:lpwstr>en-US</vt:lpwstr>
  </property>
  <property fmtid="{D5CDD505-2E9C-101B-9397-08002B2CF9AE}" pid="13" name="FooterText">
    <vt:lpwstr>true</vt:lpwstr>
  </property>
  <property fmtid="{D5CDD505-2E9C-101B-9397-08002B2CF9AE}" pid="14" name="SecurityClass">
    <vt:lpwstr>Ericsson Internal</vt:lpwstr>
  </property>
  <property fmtid="{D5CDD505-2E9C-101B-9397-08002B2CF9AE}" pid="15" name="ExtConf">
    <vt:lpwstr/>
  </property>
  <property fmtid="{D5CDD505-2E9C-101B-9397-08002B2CF9AE}" pid="16" name="Prepared">
    <vt:lpwstr/>
  </property>
  <property fmtid="{D5CDD505-2E9C-101B-9397-08002B2CF9AE}" pid="17" name="ApprovedBy">
    <vt:lpwstr/>
  </property>
  <property fmtid="{D5CDD505-2E9C-101B-9397-08002B2CF9AE}" pid="18" name="DocNo">
    <vt:lpwstr> </vt:lpwstr>
  </property>
  <property fmtid="{D5CDD505-2E9C-101B-9397-08002B2CF9AE}" pid="19" name="Checked">
    <vt:lpwstr/>
  </property>
  <property fmtid="{D5CDD505-2E9C-101B-9397-08002B2CF9AE}" pid="20" name="Date">
    <vt:lpwstr>2025-03-19</vt:lpwstr>
  </property>
  <property fmtid="{D5CDD505-2E9C-101B-9397-08002B2CF9AE}" pid="21" name="Reference">
    <vt:lpwstr/>
  </property>
  <property fmtid="{D5CDD505-2E9C-101B-9397-08002B2CF9AE}" pid="22" name="Title">
    <vt:lpwstr>Quick Guide</vt:lpwstr>
  </property>
  <property fmtid="{D5CDD505-2E9C-101B-9397-08002B2CF9AE}" pid="23" name="Keyword">
    <vt:lpwstr/>
  </property>
  <property fmtid="{D5CDD505-2E9C-101B-9397-08002B2CF9AE}" pid="24" name="DocumentType">
    <vt:lpwstr>Presentation2011</vt:lpwstr>
  </property>
  <property fmtid="{D5CDD505-2E9C-101B-9397-08002B2CF9AE}" pid="25" name="Language">
    <vt:lpwstr>EnglishUS</vt:lpwstr>
  </property>
  <property fmtid="{D5CDD505-2E9C-101B-9397-08002B2CF9AE}" pid="26" name="TemplateID">
    <vt:lpwstr>FALSE</vt:lpwstr>
  </property>
  <property fmtid="{D5CDD505-2E9C-101B-9397-08002B2CF9AE}" pid="27" name="ConfCtrl">
    <vt:lpwstr>FALSE</vt:lpwstr>
  </property>
  <property fmtid="{D5CDD505-2E9C-101B-9397-08002B2CF9AE}" pid="28" name="DocTitle">
    <vt:lpwstr>true</vt:lpwstr>
  </property>
  <property fmtid="{D5CDD505-2E9C-101B-9397-08002B2CF9AE}" pid="29" name="IsDocument">
    <vt:lpwstr>true</vt:lpwstr>
  </property>
  <property fmtid="{D5CDD505-2E9C-101B-9397-08002B2CF9AE}" pid="30" name="IsPresentation">
    <vt:lpwstr>false</vt:lpwstr>
  </property>
  <property fmtid="{D5CDD505-2E9C-101B-9397-08002B2CF9AE}" pid="31" name="PageNumberVisible">
    <vt:lpwstr>PageX</vt:lpwstr>
  </property>
  <property fmtid="{D5CDD505-2E9C-101B-9397-08002B2CF9AE}" pid="32" name="Revision">
    <vt:lpwstr/>
  </property>
  <property fmtid="{D5CDD505-2E9C-101B-9397-08002B2CF9AE}" pid="33" name="DocType">
    <vt:lpwstr/>
  </property>
  <property fmtid="{D5CDD505-2E9C-101B-9397-08002B2CF9AE}" pid="34" name="TemplateVersion">
    <vt:lpwstr>R2A</vt:lpwstr>
  </property>
  <property fmtid="{D5CDD505-2E9C-101B-9397-08002B2CF9AE}" pid="35" name="PackageNo">
    <vt:lpwstr>LXA 119 603</vt:lpwstr>
  </property>
  <property fmtid="{D5CDD505-2E9C-101B-9397-08002B2CF9AE}" pid="36" name="PackageVersion">
    <vt:lpwstr>R6B</vt:lpwstr>
  </property>
  <property fmtid="{D5CDD505-2E9C-101B-9397-08002B2CF9AE}" pid="37" name="TemplateName">
    <vt:lpwstr>CXC 173 2731/1</vt:lpwstr>
  </property>
  <property fmtid="{D5CDD505-2E9C-101B-9397-08002B2CF9AE}" pid="38" name="DocNoVisible">
    <vt:lpwstr>true</vt:lpwstr>
  </property>
</Properties>
</file>