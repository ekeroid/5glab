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81818"/>
        </a:solidFill>
        <a:effectLst/>
        <a:uFillTx/>
        <a:latin typeface="Ericsson Hilda Regular"/>
        <a:ea typeface="Ericsson Hilda Regular"/>
        <a:cs typeface="Ericsson Hilda Regular"/>
        <a:sym typeface="Ericsson Hilda Regular"/>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81818"/>
        </a:solidFill>
        <a:effectLst/>
        <a:uFillTx/>
        <a:latin typeface="Ericsson Hilda Regular"/>
        <a:ea typeface="Ericsson Hilda Regular"/>
        <a:cs typeface="Ericsson Hilda Regular"/>
        <a:sym typeface="Ericsson Hilda Regular"/>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81818"/>
        </a:solidFill>
        <a:effectLst/>
        <a:uFillTx/>
        <a:latin typeface="Ericsson Hilda Regular"/>
        <a:ea typeface="Ericsson Hilda Regular"/>
        <a:cs typeface="Ericsson Hilda Regular"/>
        <a:sym typeface="Ericsson Hilda Regular"/>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81818"/>
        </a:solidFill>
        <a:effectLst/>
        <a:uFillTx/>
        <a:latin typeface="Ericsson Hilda Regular"/>
        <a:ea typeface="Ericsson Hilda Regular"/>
        <a:cs typeface="Ericsson Hilda Regular"/>
        <a:sym typeface="Ericsson Hilda Regular"/>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81818"/>
        </a:solidFill>
        <a:effectLst/>
        <a:uFillTx/>
        <a:latin typeface="Ericsson Hilda Regular"/>
        <a:ea typeface="Ericsson Hilda Regular"/>
        <a:cs typeface="Ericsson Hilda Regular"/>
        <a:sym typeface="Ericsson Hilda Regular"/>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81818"/>
        </a:solidFill>
        <a:effectLst/>
        <a:uFillTx/>
        <a:latin typeface="Ericsson Hilda Regular"/>
        <a:ea typeface="Ericsson Hilda Regular"/>
        <a:cs typeface="Ericsson Hilda Regular"/>
        <a:sym typeface="Ericsson Hilda Regular"/>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81818"/>
        </a:solidFill>
        <a:effectLst/>
        <a:uFillTx/>
        <a:latin typeface="Ericsson Hilda Regular"/>
        <a:ea typeface="Ericsson Hilda Regular"/>
        <a:cs typeface="Ericsson Hilda Regular"/>
        <a:sym typeface="Ericsson Hilda Regular"/>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81818"/>
        </a:solidFill>
        <a:effectLst/>
        <a:uFillTx/>
        <a:latin typeface="Ericsson Hilda Regular"/>
        <a:ea typeface="Ericsson Hilda Regular"/>
        <a:cs typeface="Ericsson Hilda Regular"/>
        <a:sym typeface="Ericsson Hilda Regular"/>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81818"/>
        </a:solidFill>
        <a:effectLst/>
        <a:uFillTx/>
        <a:latin typeface="Ericsson Hilda Regular"/>
        <a:ea typeface="Ericsson Hilda Regular"/>
        <a:cs typeface="Ericsson Hilda Regular"/>
        <a:sym typeface="Ericsson Hilda Regular"/>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Ericsson Hilda Regular"/>
          <a:ea typeface="Ericsson Hilda Regular"/>
          <a:cs typeface="Ericsson Hilda Regular"/>
        </a:font>
        <a:srgbClr val="181818"/>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5F5"/>
          </a:solidFill>
        </a:fill>
      </a:tcStyle>
    </a:wholeTbl>
    <a:band2H>
      <a:tcTxStyle b="def" i="def"/>
      <a:tcStyle>
        <a:tcBdr/>
        <a:fill>
          <a:solidFill>
            <a:srgbClr val="E6EBFA"/>
          </a:solidFill>
        </a:fill>
      </a:tcStyle>
    </a:band2H>
    <a:firstCol>
      <a:tcTxStyle b="on" i="off">
        <a:font>
          <a:latin typeface="Ericsson Hilda Bold"/>
          <a:ea typeface="Ericsson Hilda Bold"/>
          <a:cs typeface="Ericsson Hild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Ericsson Hilda Bold"/>
          <a:ea typeface="Ericsson Hilda Bold"/>
          <a:cs typeface="Ericsson Hilda Bol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Ericsson Hilda Bold"/>
          <a:ea typeface="Ericsson Hilda Bold"/>
          <a:cs typeface="Ericsson Hild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Ericsson Hilda Regular"/>
          <a:ea typeface="Ericsson Hilda Regular"/>
          <a:cs typeface="Ericsson Hilda Regular"/>
        </a:font>
        <a:srgbClr val="181818"/>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DD3FB"/>
          </a:solidFill>
        </a:fill>
      </a:tcStyle>
    </a:wholeTbl>
    <a:band2H>
      <a:tcTxStyle b="def" i="def"/>
      <a:tcStyle>
        <a:tcBdr/>
        <a:fill>
          <a:solidFill>
            <a:srgbClr val="EFEAFD"/>
          </a:solidFill>
        </a:fill>
      </a:tcStyle>
    </a:band2H>
    <a:firstCol>
      <a:tcTxStyle b="on" i="off">
        <a:font>
          <a:latin typeface="Ericsson Hilda Bold"/>
          <a:ea typeface="Ericsson Hilda Bold"/>
          <a:cs typeface="Ericsson Hild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Ericsson Hilda Bold"/>
          <a:ea typeface="Ericsson Hilda Bold"/>
          <a:cs typeface="Ericsson Hilda Bol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Ericsson Hilda Bold"/>
          <a:ea typeface="Ericsson Hilda Bold"/>
          <a:cs typeface="Ericsson Hild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Ericsson Hilda Regular"/>
          <a:ea typeface="Ericsson Hilda Regular"/>
          <a:cs typeface="Ericsson Hilda Regular"/>
        </a:font>
        <a:srgbClr val="181818"/>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5D1D3"/>
          </a:solidFill>
        </a:fill>
      </a:tcStyle>
    </a:wholeTbl>
    <a:band2H>
      <a:tcTxStyle b="def" i="def"/>
      <a:tcStyle>
        <a:tcBdr/>
        <a:fill>
          <a:solidFill>
            <a:srgbClr val="FAE9EA"/>
          </a:solidFill>
        </a:fill>
      </a:tcStyle>
    </a:band2H>
    <a:firstCol>
      <a:tcTxStyle b="on" i="off">
        <a:font>
          <a:latin typeface="Ericsson Hilda Bold"/>
          <a:ea typeface="Ericsson Hilda Bold"/>
          <a:cs typeface="Ericsson Hild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Ericsson Hilda Bold"/>
          <a:ea typeface="Ericsson Hilda Bold"/>
          <a:cs typeface="Ericsson Hilda Bol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Ericsson Hilda Bold"/>
          <a:ea typeface="Ericsson Hilda Bold"/>
          <a:cs typeface="Ericsson Hild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Ericsson Hilda Regular"/>
          <a:ea typeface="Ericsson Hilda Regular"/>
          <a:cs typeface="Ericsson Hilda Regular"/>
        </a:font>
        <a:srgbClr val="181818"/>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7E7E7"/>
          </a:solidFill>
        </a:fill>
      </a:tcStyle>
    </a:wholeTbl>
    <a:band2H>
      <a:tcTxStyle b="def" i="def"/>
      <a:tcStyle>
        <a:tcBdr/>
        <a:fill>
          <a:solidFill>
            <a:srgbClr val="FFFFFF"/>
          </a:solidFill>
        </a:fill>
      </a:tcStyle>
    </a:band2H>
    <a:firstCol>
      <a:tcTxStyle b="on" i="off">
        <a:font>
          <a:latin typeface="Ericsson Hilda Bold"/>
          <a:ea typeface="Ericsson Hilda Bold"/>
          <a:cs typeface="Ericsson Hilda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Ericsson Hilda Bold"/>
          <a:ea typeface="Ericsson Hilda Bold"/>
          <a:cs typeface="Ericsson Hilda Bold"/>
        </a:font>
        <a:srgbClr val="181818"/>
      </a:tcTxStyle>
      <a:tcStyle>
        <a:tcBdr>
          <a:left>
            <a:ln w="12700" cap="flat">
              <a:noFill/>
              <a:miter lim="400000"/>
            </a:ln>
          </a:left>
          <a:right>
            <a:ln w="12700" cap="flat">
              <a:noFill/>
              <a:miter lim="400000"/>
            </a:ln>
          </a:right>
          <a:top>
            <a:ln w="50800" cap="flat">
              <a:solidFill>
                <a:srgbClr val="181818"/>
              </a:solidFill>
              <a:prstDash val="solid"/>
              <a:round/>
            </a:ln>
          </a:top>
          <a:bottom>
            <a:ln w="25400" cap="flat">
              <a:solidFill>
                <a:srgbClr val="181818"/>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Ericsson Hilda Bold"/>
          <a:ea typeface="Ericsson Hilda Bold"/>
          <a:cs typeface="Ericsson Hilda Bold"/>
        </a:font>
        <a:srgbClr val="FFFFFF"/>
      </a:tcTxStyle>
      <a:tcStyle>
        <a:tcBdr>
          <a:left>
            <a:ln w="12700" cap="flat">
              <a:noFill/>
              <a:miter lim="400000"/>
            </a:ln>
          </a:left>
          <a:right>
            <a:ln w="12700" cap="flat">
              <a:noFill/>
              <a:miter lim="400000"/>
            </a:ln>
          </a:right>
          <a:top>
            <a:ln w="25400" cap="flat">
              <a:solidFill>
                <a:srgbClr val="181818"/>
              </a:solidFill>
              <a:prstDash val="solid"/>
              <a:round/>
            </a:ln>
          </a:top>
          <a:bottom>
            <a:ln w="25400" cap="flat">
              <a:solidFill>
                <a:srgbClr val="181818"/>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Ericsson Hilda Regular"/>
          <a:ea typeface="Ericsson Hilda Regular"/>
          <a:cs typeface="Ericsson Hilda Regular"/>
        </a:font>
        <a:srgbClr val="181818"/>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CBCB"/>
          </a:solidFill>
        </a:fill>
      </a:tcStyle>
    </a:wholeTbl>
    <a:band2H>
      <a:tcTxStyle b="def" i="def"/>
      <a:tcStyle>
        <a:tcBdr/>
        <a:fill>
          <a:solidFill>
            <a:srgbClr val="E7E7E7"/>
          </a:solidFill>
        </a:fill>
      </a:tcStyle>
    </a:band2H>
    <a:firstCol>
      <a:tcTxStyle b="on" i="off">
        <a:font>
          <a:latin typeface="Ericsson Hilda Bold"/>
          <a:ea typeface="Ericsson Hilda Bold"/>
          <a:cs typeface="Ericsson Hild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181818"/>
          </a:solidFill>
        </a:fill>
      </a:tcStyle>
    </a:firstCol>
    <a:lastRow>
      <a:tcTxStyle b="on" i="off">
        <a:font>
          <a:latin typeface="Ericsson Hilda Bold"/>
          <a:ea typeface="Ericsson Hilda Bold"/>
          <a:cs typeface="Ericsson Hilda Bol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181818"/>
          </a:solidFill>
        </a:fill>
      </a:tcStyle>
    </a:lastRow>
    <a:firstRow>
      <a:tcTxStyle b="on" i="off">
        <a:font>
          <a:latin typeface="Ericsson Hilda Bold"/>
          <a:ea typeface="Ericsson Hilda Bold"/>
          <a:cs typeface="Ericsson Hild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181818"/>
          </a:solidFill>
        </a:fill>
      </a:tcStyle>
    </a:firstRow>
  </a:tblStyle>
  <a:tblStyle styleId="{2708684C-4D16-4618-839F-0558EEFCDFE6}" styleName="">
    <a:tblBg/>
    <a:wholeTbl>
      <a:tcTxStyle b="off" i="off">
        <a:font>
          <a:latin typeface="Ericsson Hilda Regular"/>
          <a:ea typeface="Ericsson Hilda Regular"/>
          <a:cs typeface="Ericsson Hilda Regular"/>
        </a:font>
        <a:srgbClr val="181818"/>
      </a:tcTxStyle>
      <a:tcStyle>
        <a:tcBdr>
          <a:left>
            <a:ln w="12700" cap="flat">
              <a:solidFill>
                <a:srgbClr val="181818"/>
              </a:solidFill>
              <a:prstDash val="solid"/>
              <a:round/>
            </a:ln>
          </a:left>
          <a:right>
            <a:ln w="12700" cap="flat">
              <a:solidFill>
                <a:srgbClr val="181818"/>
              </a:solidFill>
              <a:prstDash val="solid"/>
              <a:round/>
            </a:ln>
          </a:right>
          <a:top>
            <a:ln w="12700" cap="flat">
              <a:solidFill>
                <a:srgbClr val="181818"/>
              </a:solidFill>
              <a:prstDash val="solid"/>
              <a:round/>
            </a:ln>
          </a:top>
          <a:bottom>
            <a:ln w="12700" cap="flat">
              <a:solidFill>
                <a:srgbClr val="181818"/>
              </a:solidFill>
              <a:prstDash val="solid"/>
              <a:round/>
            </a:ln>
          </a:bottom>
          <a:insideH>
            <a:ln w="12700" cap="flat">
              <a:solidFill>
                <a:srgbClr val="181818"/>
              </a:solidFill>
              <a:prstDash val="solid"/>
              <a:round/>
            </a:ln>
          </a:insideH>
          <a:insideV>
            <a:ln w="12700" cap="flat">
              <a:solidFill>
                <a:srgbClr val="181818"/>
              </a:solidFill>
              <a:prstDash val="solid"/>
              <a:round/>
            </a:ln>
          </a:insideV>
        </a:tcBdr>
        <a:fill>
          <a:solidFill>
            <a:srgbClr val="181818">
              <a:alpha val="20000"/>
            </a:srgbClr>
          </a:solidFill>
        </a:fill>
      </a:tcStyle>
    </a:wholeTbl>
    <a:band2H>
      <a:tcTxStyle b="def" i="def"/>
      <a:tcStyle>
        <a:tcBdr/>
        <a:fill>
          <a:solidFill>
            <a:srgbClr val="FFFFFF"/>
          </a:solidFill>
        </a:fill>
      </a:tcStyle>
    </a:band2H>
    <a:firstCol>
      <a:tcTxStyle b="on" i="off">
        <a:font>
          <a:latin typeface="Ericsson Hilda Bold"/>
          <a:ea typeface="Ericsson Hilda Bold"/>
          <a:cs typeface="Ericsson Hilda Bold"/>
        </a:font>
        <a:srgbClr val="181818"/>
      </a:tcTxStyle>
      <a:tcStyle>
        <a:tcBdr>
          <a:left>
            <a:ln w="12700" cap="flat">
              <a:solidFill>
                <a:srgbClr val="181818"/>
              </a:solidFill>
              <a:prstDash val="solid"/>
              <a:round/>
            </a:ln>
          </a:left>
          <a:right>
            <a:ln w="12700" cap="flat">
              <a:solidFill>
                <a:srgbClr val="181818"/>
              </a:solidFill>
              <a:prstDash val="solid"/>
              <a:round/>
            </a:ln>
          </a:right>
          <a:top>
            <a:ln w="12700" cap="flat">
              <a:solidFill>
                <a:srgbClr val="181818"/>
              </a:solidFill>
              <a:prstDash val="solid"/>
              <a:round/>
            </a:ln>
          </a:top>
          <a:bottom>
            <a:ln w="12700" cap="flat">
              <a:solidFill>
                <a:srgbClr val="181818"/>
              </a:solidFill>
              <a:prstDash val="solid"/>
              <a:round/>
            </a:ln>
          </a:bottom>
          <a:insideH>
            <a:ln w="12700" cap="flat">
              <a:solidFill>
                <a:srgbClr val="181818"/>
              </a:solidFill>
              <a:prstDash val="solid"/>
              <a:round/>
            </a:ln>
          </a:insideH>
          <a:insideV>
            <a:ln w="12700" cap="flat">
              <a:solidFill>
                <a:srgbClr val="181818"/>
              </a:solidFill>
              <a:prstDash val="solid"/>
              <a:round/>
            </a:ln>
          </a:insideV>
        </a:tcBdr>
        <a:fill>
          <a:solidFill>
            <a:srgbClr val="181818">
              <a:alpha val="20000"/>
            </a:srgbClr>
          </a:solidFill>
        </a:fill>
      </a:tcStyle>
    </a:firstCol>
    <a:lastRow>
      <a:tcTxStyle b="on" i="off">
        <a:font>
          <a:latin typeface="Ericsson Hilda Bold"/>
          <a:ea typeface="Ericsson Hilda Bold"/>
          <a:cs typeface="Ericsson Hilda Bold"/>
        </a:font>
        <a:srgbClr val="181818"/>
      </a:tcTxStyle>
      <a:tcStyle>
        <a:tcBdr>
          <a:left>
            <a:ln w="12700" cap="flat">
              <a:solidFill>
                <a:srgbClr val="181818"/>
              </a:solidFill>
              <a:prstDash val="solid"/>
              <a:round/>
            </a:ln>
          </a:left>
          <a:right>
            <a:ln w="12700" cap="flat">
              <a:solidFill>
                <a:srgbClr val="181818"/>
              </a:solidFill>
              <a:prstDash val="solid"/>
              <a:round/>
            </a:ln>
          </a:right>
          <a:top>
            <a:ln w="50800" cap="flat">
              <a:solidFill>
                <a:srgbClr val="181818"/>
              </a:solidFill>
              <a:prstDash val="solid"/>
              <a:round/>
            </a:ln>
          </a:top>
          <a:bottom>
            <a:ln w="12700" cap="flat">
              <a:solidFill>
                <a:srgbClr val="181818"/>
              </a:solidFill>
              <a:prstDash val="solid"/>
              <a:round/>
            </a:ln>
          </a:bottom>
          <a:insideH>
            <a:ln w="12700" cap="flat">
              <a:solidFill>
                <a:srgbClr val="181818"/>
              </a:solidFill>
              <a:prstDash val="solid"/>
              <a:round/>
            </a:ln>
          </a:insideH>
          <a:insideV>
            <a:ln w="12700" cap="flat">
              <a:solidFill>
                <a:srgbClr val="181818"/>
              </a:solidFill>
              <a:prstDash val="solid"/>
              <a:round/>
            </a:ln>
          </a:insideV>
        </a:tcBdr>
        <a:fill>
          <a:noFill/>
        </a:fill>
      </a:tcStyle>
    </a:lastRow>
    <a:firstRow>
      <a:tcTxStyle b="on" i="off">
        <a:font>
          <a:latin typeface="Ericsson Hilda Bold"/>
          <a:ea typeface="Ericsson Hilda Bold"/>
          <a:cs typeface="Ericsson Hilda Bold"/>
        </a:font>
        <a:srgbClr val="181818"/>
      </a:tcTxStyle>
      <a:tcStyle>
        <a:tcBdr>
          <a:left>
            <a:ln w="12700" cap="flat">
              <a:solidFill>
                <a:srgbClr val="181818"/>
              </a:solidFill>
              <a:prstDash val="solid"/>
              <a:round/>
            </a:ln>
          </a:left>
          <a:right>
            <a:ln w="12700" cap="flat">
              <a:solidFill>
                <a:srgbClr val="181818"/>
              </a:solidFill>
              <a:prstDash val="solid"/>
              <a:round/>
            </a:ln>
          </a:right>
          <a:top>
            <a:ln w="12700" cap="flat">
              <a:solidFill>
                <a:srgbClr val="181818"/>
              </a:solidFill>
              <a:prstDash val="solid"/>
              <a:round/>
            </a:ln>
          </a:top>
          <a:bottom>
            <a:ln w="25400" cap="flat">
              <a:solidFill>
                <a:srgbClr val="181818"/>
              </a:solidFill>
              <a:prstDash val="solid"/>
              <a:round/>
            </a:ln>
          </a:bottom>
          <a:insideH>
            <a:ln w="12700" cap="flat">
              <a:solidFill>
                <a:srgbClr val="181818"/>
              </a:solidFill>
              <a:prstDash val="solid"/>
              <a:round/>
            </a:ln>
          </a:insideH>
          <a:insideV>
            <a:ln w="12700" cap="flat">
              <a:solidFill>
                <a:srgbClr val="181818"/>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284" name="Shape 284"/>
          <p:cNvSpPr/>
          <p:nvPr>
            <p:ph type="sldImg"/>
          </p:nvPr>
        </p:nvSpPr>
        <p:spPr>
          <a:xfrm>
            <a:off x="1143000" y="685800"/>
            <a:ext cx="4572000" cy="3429000"/>
          </a:xfrm>
          <a:prstGeom prst="rect">
            <a:avLst/>
          </a:prstGeom>
        </p:spPr>
        <p:txBody>
          <a:bodyPr/>
          <a:lstStyle/>
          <a:p>
            <a:pPr/>
          </a:p>
        </p:txBody>
      </p:sp>
      <p:sp>
        <p:nvSpPr>
          <p:cNvPr id="285" name="Shape 28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Ericsson Hilda Light"/>
      </a:defRPr>
    </a:lvl1pPr>
    <a:lvl2pPr indent="228600" latinLnBrk="0">
      <a:defRPr sz="1200">
        <a:latin typeface="+mn-lt"/>
        <a:ea typeface="+mn-ea"/>
        <a:cs typeface="+mn-cs"/>
        <a:sym typeface="Ericsson Hilda Light"/>
      </a:defRPr>
    </a:lvl2pPr>
    <a:lvl3pPr indent="457200" latinLnBrk="0">
      <a:defRPr sz="1200">
        <a:latin typeface="+mn-lt"/>
        <a:ea typeface="+mn-ea"/>
        <a:cs typeface="+mn-cs"/>
        <a:sym typeface="Ericsson Hilda Light"/>
      </a:defRPr>
    </a:lvl3pPr>
    <a:lvl4pPr indent="685800" latinLnBrk="0">
      <a:defRPr sz="1200">
        <a:latin typeface="+mn-lt"/>
        <a:ea typeface="+mn-ea"/>
        <a:cs typeface="+mn-cs"/>
        <a:sym typeface="Ericsson Hilda Light"/>
      </a:defRPr>
    </a:lvl4pPr>
    <a:lvl5pPr indent="914400" latinLnBrk="0">
      <a:defRPr sz="1200">
        <a:latin typeface="+mn-lt"/>
        <a:ea typeface="+mn-ea"/>
        <a:cs typeface="+mn-cs"/>
        <a:sym typeface="Ericsson Hilda Light"/>
      </a:defRPr>
    </a:lvl5pPr>
    <a:lvl6pPr indent="1143000" latinLnBrk="0">
      <a:defRPr sz="1200">
        <a:latin typeface="+mn-lt"/>
        <a:ea typeface="+mn-ea"/>
        <a:cs typeface="+mn-cs"/>
        <a:sym typeface="Ericsson Hilda Light"/>
      </a:defRPr>
    </a:lvl6pPr>
    <a:lvl7pPr indent="1371600" latinLnBrk="0">
      <a:defRPr sz="1200">
        <a:latin typeface="+mn-lt"/>
        <a:ea typeface="+mn-ea"/>
        <a:cs typeface="+mn-cs"/>
        <a:sym typeface="Ericsson Hilda Light"/>
      </a:defRPr>
    </a:lvl7pPr>
    <a:lvl8pPr indent="1600200" latinLnBrk="0">
      <a:defRPr sz="1200">
        <a:latin typeface="+mn-lt"/>
        <a:ea typeface="+mn-ea"/>
        <a:cs typeface="+mn-cs"/>
        <a:sym typeface="Ericsson Hilda Light"/>
      </a:defRPr>
    </a:lvl8pPr>
    <a:lvl9pPr indent="1828800" latinLnBrk="0">
      <a:defRPr sz="1200">
        <a:latin typeface="+mn-lt"/>
        <a:ea typeface="+mn-ea"/>
        <a:cs typeface="+mn-cs"/>
        <a:sym typeface="Ericsson Hilda Light"/>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19.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0.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1.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2.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0" name="Shape 290"/>
          <p:cNvSpPr/>
          <p:nvPr>
            <p:ph type="sldImg"/>
          </p:nvPr>
        </p:nvSpPr>
        <p:spPr>
          <a:prstGeom prst="rect">
            <a:avLst/>
          </a:prstGeom>
        </p:spPr>
        <p:txBody>
          <a:bodyPr/>
          <a:lstStyle/>
          <a:p>
            <a:pPr/>
          </a:p>
        </p:txBody>
      </p:sp>
      <p:sp>
        <p:nvSpPr>
          <p:cNvPr id="291" name="Shape 291"/>
          <p:cNvSpPr/>
          <p:nvPr>
            <p:ph type="body" sz="quarter" idx="1"/>
          </p:nvPr>
        </p:nvSpPr>
        <p:spPr>
          <a:prstGeom prst="rect">
            <a:avLst/>
          </a:prstGeom>
        </p:spPr>
        <p:txBody>
          <a:bodyPr/>
          <a:lstStyle/>
          <a:p>
            <a:pPr/>
            <a:r>
              <a:t>KEY MESSAGE: EdgeVision demonstrates real-time AI inference offloaded to a 5G edge GPU using standardized CAMARA APIs.</a:t>
            </a:r>
          </a:p>
          <a:p>
            <a:pPr/>
          </a:p>
          <a:p>
            <a:pPr/>
            <a:r>
              <a:t>Talking points:</a:t>
            </a:r>
          </a:p>
          <a:p>
            <a:pPr/>
            <a:r>
              <a:t>- This is a working demo built on Ericsson's 5G SA lab at LTH</a:t>
            </a:r>
          </a:p>
          <a:p>
            <a:pPr/>
            <a:r>
              <a:t>- Shows CAMARA Edge Cloud APIs orchestrating GPU workloads</a:t>
            </a:r>
          </a:p>
          <a:p>
            <a:pPr/>
            <a:r>
              <a:t>- Demonstrates sub-20ms edge inference vs 500ms+ local CPU</a:t>
            </a:r>
          </a:p>
          <a:p>
            <a:pPr/>
          </a:p>
          <a:p>
            <a:pPr/>
            <a:r>
              <a:t>REFERENCE: CAMARA project (Linux Foundation + GSMA, Dec 2022). GSMA Open Gateway announced MWC Feb 2023. Ericsson is a founding contributor.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8" name="Shape 318"/>
          <p:cNvSpPr/>
          <p:nvPr>
            <p:ph type="sldImg"/>
          </p:nvPr>
        </p:nvSpPr>
        <p:spPr>
          <a:prstGeom prst="rect">
            <a:avLst/>
          </a:prstGeom>
        </p:spPr>
        <p:txBody>
          <a:bodyPr/>
          <a:lstStyle/>
          <a:p>
            <a:pPr/>
          </a:p>
        </p:txBody>
      </p:sp>
      <p:sp>
        <p:nvSpPr>
          <p:cNvPr id="319" name="Shape 319"/>
          <p:cNvSpPr/>
          <p:nvPr>
            <p:ph type="body" sz="quarter" idx="1"/>
          </p:nvPr>
        </p:nvSpPr>
        <p:spPr>
          <a:prstGeom prst="rect">
            <a:avLst/>
          </a:prstGeom>
        </p:spPr>
        <p:txBody>
          <a:bodyPr/>
          <a:lstStyle/>
          <a:p>
            <a:pPr>
              <a:defRPr>
                <a:solidFill>
                  <a:srgbClr val="181818"/>
                </a:solidFill>
              </a:defRPr>
            </a:pPr>
            <a:r>
              <a:t>6G should bring the use cases that are emerging with 5G to a larger scale. For instance, mixed reality and AI assistant glasses are emerging now/soon, and future networks will have to cope with massive use of those. Large impact on e.g. UL capacity, and compute  offload capabilities</a:t>
            </a:r>
          </a:p>
          <a:p>
            <a:pPr>
              <a:defRPr>
                <a:solidFill>
                  <a:srgbClr val="181818"/>
                </a:solidFill>
              </a:defRPr>
            </a:pPr>
          </a:p>
          <a:p>
            <a:pPr>
              <a:defRPr>
                <a:solidFill>
                  <a:srgbClr val="181818"/>
                </a:solidFill>
              </a:defRPr>
            </a:pPr>
            <a:r>
              <a:t>Our industry needs to adopt Network APIs that can help application developers to easily access and make use of network capabilities. Focus  now with 5G is on APIs related to communication services, such as QoD for different needs of applications. But also on things like fraud detection etc…</a:t>
            </a:r>
          </a:p>
          <a:p>
            <a:pPr>
              <a:defRPr>
                <a:solidFill>
                  <a:srgbClr val="181818"/>
                </a:solidFill>
              </a:defRPr>
            </a:pPr>
            <a:r>
              <a:t>With 6G we can take this to another level and also provide “beyond-connectivity” services and information, such as spatial data generated from Integrated Sensing and Communication (ISAC), but also AI and compute services.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6" name="Shape 326"/>
          <p:cNvSpPr/>
          <p:nvPr>
            <p:ph type="sldImg"/>
          </p:nvPr>
        </p:nvSpPr>
        <p:spPr>
          <a:prstGeom prst="rect">
            <a:avLst/>
          </a:prstGeom>
        </p:spPr>
        <p:txBody>
          <a:bodyPr/>
          <a:lstStyle/>
          <a:p>
            <a:pPr/>
          </a:p>
        </p:txBody>
      </p:sp>
      <p:sp>
        <p:nvSpPr>
          <p:cNvPr id="327" name="Shape 327"/>
          <p:cNvSpPr/>
          <p:nvPr>
            <p:ph type="body" sz="quarter" idx="1"/>
          </p:nvPr>
        </p:nvSpPr>
        <p:spPr>
          <a:prstGeom prst="rect">
            <a:avLst/>
          </a:prstGeom>
        </p:spPr>
        <p:txBody>
          <a:bodyPr/>
          <a:lstStyle/>
          <a:p>
            <a:pPr>
              <a:defRPr>
                <a:latin typeface="Ericsson Hilda Regular"/>
                <a:ea typeface="Ericsson Hilda Regular"/>
                <a:cs typeface="Ericsson Hilda Regular"/>
                <a:sym typeface="Ericsson Hilda Regular"/>
              </a:defRPr>
            </a:pPr>
            <a:r>
              <a:t>Reasons too off-load</a:t>
            </a:r>
          </a:p>
          <a:p>
            <a:pPr marL="171450" indent="-171450">
              <a:buSzPct val="100000"/>
              <a:buFont typeface="Arial"/>
              <a:buChar char="•"/>
              <a:defRPr>
                <a:latin typeface="Ericsson Hilda Regular"/>
                <a:ea typeface="Ericsson Hilda Regular"/>
                <a:cs typeface="Ericsson Hilda Regular"/>
                <a:sym typeface="Ericsson Hilda Regular"/>
              </a:defRPr>
            </a:pPr>
            <a:r>
              <a:t>Save energy/battery</a:t>
            </a:r>
          </a:p>
          <a:p>
            <a:pPr marL="171450" indent="-171450">
              <a:buSzPct val="100000"/>
              <a:buFont typeface="Arial"/>
              <a:buChar char="•"/>
              <a:defRPr>
                <a:latin typeface="Ericsson Hilda Regular"/>
                <a:ea typeface="Ericsson Hilda Regular"/>
                <a:cs typeface="Ericsson Hilda Regular"/>
                <a:sym typeface="Ericsson Hilda Regular"/>
              </a:defRPr>
            </a:pPr>
            <a:r>
              <a:t>Reduce heat dissipation</a:t>
            </a:r>
          </a:p>
          <a:p>
            <a:pPr marL="171450" indent="-171450">
              <a:buSzPct val="100000"/>
              <a:buFont typeface="Arial"/>
              <a:buChar char="•"/>
              <a:defRPr>
                <a:latin typeface="Ericsson Hilda Regular"/>
                <a:ea typeface="Ericsson Hilda Regular"/>
                <a:cs typeface="Ericsson Hilda Regular"/>
                <a:sym typeface="Ericsson Hilda Regular"/>
              </a:defRPr>
            </a:pPr>
            <a:r>
              <a:t>More compute power</a:t>
            </a:r>
          </a:p>
          <a:p>
            <a:pPr marL="171450" indent="-171450">
              <a:buSzPct val="100000"/>
              <a:buFont typeface="Arial"/>
              <a:buChar char="•"/>
              <a:defRPr>
                <a:latin typeface="Ericsson Hilda Regular"/>
                <a:ea typeface="Ericsson Hilda Regular"/>
                <a:cs typeface="Ericsson Hilda Regular"/>
                <a:sym typeface="Ericsson Hilda Regular"/>
              </a:defRPr>
            </a:pPr>
            <a:r>
              <a:t>Multi-agent collaborations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1" name="Shape 421"/>
          <p:cNvSpPr/>
          <p:nvPr>
            <p:ph type="sldImg"/>
          </p:nvPr>
        </p:nvSpPr>
        <p:spPr>
          <a:prstGeom prst="rect">
            <a:avLst/>
          </a:prstGeom>
        </p:spPr>
        <p:txBody>
          <a:bodyPr/>
          <a:lstStyle/>
          <a:p>
            <a:pPr/>
          </a:p>
        </p:txBody>
      </p:sp>
      <p:sp>
        <p:nvSpPr>
          <p:cNvPr id="422" name="Shape 422"/>
          <p:cNvSpPr/>
          <p:nvPr>
            <p:ph type="body" sz="quarter" idx="1"/>
          </p:nvPr>
        </p:nvSpPr>
        <p:spPr>
          <a:prstGeom prst="rect">
            <a:avLst/>
          </a:prstGeom>
        </p:spPr>
        <p:txBody>
          <a:bodyPr/>
          <a:lstStyle/>
          <a:p>
            <a:pPr>
              <a:defRPr sz="1800">
                <a:latin typeface="Calibri"/>
                <a:ea typeface="Calibri"/>
                <a:cs typeface="Calibri"/>
                <a:sym typeface="Calibri"/>
              </a:defRPr>
            </a:pPr>
            <a:r>
              <a:t>[</a:t>
            </a:r>
            <a:r>
              <a:rPr>
                <a:solidFill>
                  <a:srgbClr val="FF0000"/>
                </a:solidFill>
              </a:rPr>
              <a:t>click] </a:t>
            </a:r>
            <a:r>
              <a:t>After reaching a certain threshold, </a:t>
            </a:r>
          </a:p>
          <a:p>
            <a:pPr>
              <a:defRPr sz="1800">
                <a:solidFill>
                  <a:srgbClr val="FF0000"/>
                </a:solidFill>
                <a:latin typeface="Calibri"/>
                <a:ea typeface="Calibri"/>
                <a:cs typeface="Calibri"/>
                <a:sym typeface="Calibri"/>
              </a:defRPr>
            </a:pPr>
            <a:r>
              <a:t>[click]</a:t>
            </a:r>
            <a:r>
              <a:rPr>
                <a:solidFill>
                  <a:srgbClr val="000000"/>
                </a:solidFill>
              </a:rPr>
              <a:t> this device can dynamically offload one of the computational heavy tasks - for instance some AI inference, or object detection as we will show later in the demo. This happens during application runtime, potentially even transparent to the user.</a:t>
            </a:r>
          </a:p>
          <a:p>
            <a:pPr>
              <a:defRPr sz="1800">
                <a:latin typeface="Calibri"/>
                <a:ea typeface="Calibri"/>
                <a:cs typeface="Calibri"/>
                <a:sym typeface="Calibri"/>
              </a:defRPr>
            </a:pPr>
            <a:r>
              <a:t> </a:t>
            </a:r>
          </a:p>
          <a:p>
            <a:pPr>
              <a:defRPr sz="1800">
                <a:solidFill>
                  <a:srgbClr val="FF0000"/>
                </a:solidFill>
                <a:latin typeface="Calibri"/>
                <a:ea typeface="Calibri"/>
                <a:cs typeface="Calibri"/>
                <a:sym typeface="Calibri"/>
              </a:defRPr>
            </a:pPr>
            <a:r>
              <a:t>[click] </a:t>
            </a:r>
            <a:r>
              <a:rPr>
                <a:solidFill>
                  <a:srgbClr val="000000"/>
                </a:solidFill>
              </a:rPr>
              <a:t>As a result, the device will now have a reduced energy consumption, produce less heat, and in some cases the application might even experience a speed up, depending on the HW use in the device and the network location, respectively.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2" name="Shape 512"/>
          <p:cNvSpPr/>
          <p:nvPr>
            <p:ph type="sldImg"/>
          </p:nvPr>
        </p:nvSpPr>
        <p:spPr>
          <a:prstGeom prst="rect">
            <a:avLst/>
          </a:prstGeom>
        </p:spPr>
        <p:txBody>
          <a:bodyPr/>
          <a:lstStyle/>
          <a:p>
            <a:pPr/>
          </a:p>
        </p:txBody>
      </p:sp>
      <p:sp>
        <p:nvSpPr>
          <p:cNvPr id="513" name="Shape 513"/>
          <p:cNvSpPr/>
          <p:nvPr>
            <p:ph type="body" sz="quarter" idx="1"/>
          </p:nvPr>
        </p:nvSpPr>
        <p:spPr>
          <a:prstGeom prst="rect">
            <a:avLst/>
          </a:prstGeom>
        </p:spPr>
        <p:txBody>
          <a:bodyPr/>
          <a:lstStyle/>
          <a:p>
            <a:pPr>
              <a:defRPr sz="1800">
                <a:latin typeface="Calibri"/>
                <a:ea typeface="Calibri"/>
                <a:cs typeface="Calibri"/>
                <a:sym typeface="Calibri"/>
              </a:defRPr>
            </a:pPr>
            <a:r>
              <a:t>[</a:t>
            </a:r>
            <a:r>
              <a:rPr>
                <a:solidFill>
                  <a:srgbClr val="FF0000"/>
                </a:solidFill>
              </a:rPr>
              <a:t>click] </a:t>
            </a:r>
            <a:r>
              <a:t>After reaching a certain threshold, </a:t>
            </a:r>
          </a:p>
          <a:p>
            <a:pPr>
              <a:defRPr sz="1800">
                <a:solidFill>
                  <a:srgbClr val="FF0000"/>
                </a:solidFill>
                <a:latin typeface="Calibri"/>
                <a:ea typeface="Calibri"/>
                <a:cs typeface="Calibri"/>
                <a:sym typeface="Calibri"/>
              </a:defRPr>
            </a:pPr>
            <a:r>
              <a:t>[click]</a:t>
            </a:r>
            <a:r>
              <a:rPr>
                <a:solidFill>
                  <a:srgbClr val="000000"/>
                </a:solidFill>
              </a:rPr>
              <a:t> this device can dynamically offload one of the computational heavy tasks - for instance some AI inference, or object detection as we will show later in the demo. This happens during application runtime, potentially even transparent to the user.</a:t>
            </a:r>
          </a:p>
          <a:p>
            <a:pPr>
              <a:defRPr sz="1800">
                <a:latin typeface="Calibri"/>
                <a:ea typeface="Calibri"/>
                <a:cs typeface="Calibri"/>
                <a:sym typeface="Calibri"/>
              </a:defRPr>
            </a:pPr>
            <a:r>
              <a:t> </a:t>
            </a:r>
          </a:p>
          <a:p>
            <a:pPr>
              <a:defRPr sz="1800">
                <a:solidFill>
                  <a:srgbClr val="FF0000"/>
                </a:solidFill>
                <a:latin typeface="Calibri"/>
                <a:ea typeface="Calibri"/>
                <a:cs typeface="Calibri"/>
                <a:sym typeface="Calibri"/>
              </a:defRPr>
            </a:pPr>
            <a:r>
              <a:t>[click] </a:t>
            </a:r>
            <a:r>
              <a:rPr>
                <a:solidFill>
                  <a:srgbClr val="000000"/>
                </a:solidFill>
              </a:rPr>
              <a:t>As a result, the device will now have a reduced energy consumption, produce less heat, and in some cases the application might even experience a speed up, depending on the HW use in the device and the network location, respectively.</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7" name="Shape 587"/>
          <p:cNvSpPr/>
          <p:nvPr>
            <p:ph type="sldImg"/>
          </p:nvPr>
        </p:nvSpPr>
        <p:spPr>
          <a:prstGeom prst="rect">
            <a:avLst/>
          </a:prstGeom>
        </p:spPr>
        <p:txBody>
          <a:bodyPr/>
          <a:lstStyle/>
          <a:p>
            <a:pPr/>
          </a:p>
        </p:txBody>
      </p:sp>
      <p:sp>
        <p:nvSpPr>
          <p:cNvPr id="588" name="Shape 588"/>
          <p:cNvSpPr/>
          <p:nvPr>
            <p:ph type="body" sz="quarter" idx="1"/>
          </p:nvPr>
        </p:nvSpPr>
        <p:spPr>
          <a:prstGeom prst="rect">
            <a:avLst/>
          </a:prstGeom>
        </p:spPr>
        <p:txBody>
          <a:bodyPr/>
          <a:lstStyle/>
          <a:p>
            <a:pPr/>
            <a:r>
              <a:t>KEY MESSAGE: Three-tier architecture — client device, 5G SA network with CAMARA NEF-shim, and GPU-accelerated edge cloud.</a:t>
            </a:r>
          </a:p>
          <a:p>
            <a:pPr/>
          </a:p>
          <a:p>
            <a:pPr/>
            <a:r>
              <a:t>Talking points:</a:t>
            </a:r>
          </a:p>
          <a:p>
            <a:pPr/>
            <a:r>
              <a:t>- Client runs on any device connected via 5G (laptop, phone, embedded)</a:t>
            </a:r>
          </a:p>
          <a:p>
            <a:pPr/>
            <a:r>
              <a:t>- NEF-shim is the CAMARA-compliant orchestrator: it translates standardized API calls into k8s operations</a:t>
            </a:r>
          </a:p>
          <a:p>
            <a:pPr/>
            <a:r>
              <a:t>- Edge cloud runs Triton with TensorRT FP16 on NVIDIA L40S</a:t>
            </a:r>
          </a:p>
          <a:p>
            <a:pPr/>
            <a:r>
              <a:t>- Two transport paths: gRPC direct (NodePort, 5G only) and HTTP via NGINX (works over VPN too)</a:t>
            </a:r>
          </a:p>
          <a:p>
            <a:pPr/>
            <a:r>
              <a:t>- Sidecar pattern: JPEG in, JSON out — avoids sending 4.8MB raw tensors over the network</a:t>
            </a:r>
          </a:p>
          <a:p>
            <a:pPr/>
          </a:p>
          <a:p>
            <a:pPr/>
            <a:r>
              <a:t>Color meaning: Blue = client/CAMARA path, Teal = edge compute, Grey = 5G transport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14" name="Shape 614"/>
          <p:cNvSpPr/>
          <p:nvPr>
            <p:ph type="sldImg"/>
          </p:nvPr>
        </p:nvSpPr>
        <p:spPr>
          <a:prstGeom prst="rect">
            <a:avLst/>
          </a:prstGeom>
        </p:spPr>
        <p:txBody>
          <a:bodyPr/>
          <a:lstStyle/>
          <a:p>
            <a:pPr/>
          </a:p>
        </p:txBody>
      </p:sp>
      <p:sp>
        <p:nvSpPr>
          <p:cNvPr id="615" name="Shape 615"/>
          <p:cNvSpPr/>
          <p:nvPr>
            <p:ph type="body" sz="quarter" idx="1"/>
          </p:nvPr>
        </p:nvSpPr>
        <p:spPr>
          <a:prstGeom prst="rect">
            <a:avLst/>
          </a:prstGeom>
        </p:spPr>
        <p:txBody>
          <a:bodyPr/>
          <a:lstStyle/>
          <a:p>
            <a:pPr/>
            <a:r>
              <a:t>KEY MESSAGE: CAMARA defines a clean 4-step lifecycle for edge applications — discover, deploy, connect, teardown.</a:t>
            </a:r>
          </a:p>
          <a:p>
            <a:pPr/>
          </a:p>
          <a:p>
            <a:pPr/>
            <a:r>
              <a:t>Talking points:</a:t>
            </a:r>
          </a:p>
          <a:p>
            <a:pPr/>
            <a:r>
              <a:t>- Step 1: Edge Discovery returns available zones with GPU capabilities and location</a:t>
            </a:r>
          </a:p>
          <a:p>
            <a:pPr/>
            <a:r>
              <a:t>- Step 2: App Management creates a containerized instance (our Triton+sidecar image)</a:t>
            </a:r>
          </a:p>
          <a:p>
            <a:pPr/>
            <a:r>
              <a:t>- Step 3: Endpoint Discovery returns the gRPC/HTTP target once the instance is ready</a:t>
            </a:r>
          </a:p>
          <a:p>
            <a:pPr/>
            <a:r>
              <a:t>- Step 4: Teardown deletes all k8s resources when the client quits</a:t>
            </a:r>
          </a:p>
          <a:p>
            <a:pPr/>
            <a:r>
              <a:t>- All APIs are tenant-isolated (source IP hashing)</a:t>
            </a:r>
          </a:p>
          <a:p>
            <a:pPr/>
          </a:p>
          <a:p>
            <a:pPr/>
            <a:r>
              <a:t>REFERENCE: CAMARA Edge Cloud API sub-project: github.com/camaraproject/EdgeCloud. API specs follow OpenAPI 3.0.</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03" name="Shape 703"/>
          <p:cNvSpPr/>
          <p:nvPr>
            <p:ph type="sldImg"/>
          </p:nvPr>
        </p:nvSpPr>
        <p:spPr>
          <a:prstGeom prst="rect">
            <a:avLst/>
          </a:prstGeom>
        </p:spPr>
        <p:txBody>
          <a:bodyPr/>
          <a:lstStyle/>
          <a:p>
            <a:pPr/>
          </a:p>
        </p:txBody>
      </p:sp>
      <p:sp>
        <p:nvSpPr>
          <p:cNvPr id="704" name="Shape 704"/>
          <p:cNvSpPr/>
          <p:nvPr>
            <p:ph type="body" sz="quarter" idx="1"/>
          </p:nvPr>
        </p:nvSpPr>
        <p:spPr>
          <a:prstGeom prst="rect">
            <a:avLst/>
          </a:prstGeom>
        </p:spPr>
        <p:txBody>
          <a:bodyPr/>
          <a:lstStyle/>
          <a:p>
            <a:pPr/>
            <a:r>
              <a:t>KEY MESSAGE: CAMARA Edge Cloud is still maturing — only Edge Discovery is stable; App Management is alpha.</a:t>
            </a:r>
          </a:p>
          <a:p>
            <a:pPr/>
          </a:p>
          <a:p>
            <a:pPr/>
            <a:r>
              <a:t>Talking points:</a:t>
            </a:r>
          </a:p>
          <a:p>
            <a:pPr/>
            <a:r>
              <a:t>- The EdgeCloud umbrella repo (github.com/camaraproject/EdgeCloud) is empty now</a:t>
            </a:r>
          </a:p>
          <a:p>
            <a:pPr/>
            <a:r>
              <a:t>- Work was split into 6 focused repositories</a:t>
            </a:r>
          </a:p>
          <a:p>
            <a:pPr/>
            <a:r>
              <a:t>- SimpleEdgeDiscovery is the most mature (v2.0.1, released with CAMARA r2.3)</a:t>
            </a:r>
          </a:p>
          <a:p>
            <a:pPr/>
            <a:r>
              <a:t>- EdgeApplicationManagement is v0.1.0-alpha — the manifest schema is not yet finalized</a:t>
            </a:r>
          </a:p>
          <a:p>
            <a:pPr/>
            <a:r>
              <a:t>- This means our NEF-shim can't be 'fully compliant' — the target spec doesn't exist yet</a:t>
            </a:r>
          </a:p>
          <a:p>
            <a:pPr/>
            <a:r>
              <a:t>- We follow the lifecycle semantics (discover → deploy → connect → teardown) even if the exact schemas differ</a:t>
            </a:r>
          </a:p>
          <a:p>
            <a:pPr/>
          </a:p>
          <a:p>
            <a:pPr/>
            <a:r>
              <a:t>REFERENCE: github.com/camaraproject — all repos are OpenAPI 3.0.3 under code/API_definitions/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49" name="Shape 749"/>
          <p:cNvSpPr/>
          <p:nvPr>
            <p:ph type="sldImg"/>
          </p:nvPr>
        </p:nvSpPr>
        <p:spPr>
          <a:prstGeom prst="rect">
            <a:avLst/>
          </a:prstGeom>
        </p:spPr>
        <p:txBody>
          <a:bodyPr/>
          <a:lstStyle/>
          <a:p>
            <a:pPr/>
          </a:p>
        </p:txBody>
      </p:sp>
      <p:sp>
        <p:nvSpPr>
          <p:cNvPr id="750" name="Shape 750"/>
          <p:cNvSpPr/>
          <p:nvPr>
            <p:ph type="body" sz="quarter" idx="1"/>
          </p:nvPr>
        </p:nvSpPr>
        <p:spPr>
          <a:prstGeom prst="rect">
            <a:avLst/>
          </a:prstGeom>
        </p:spPr>
        <p:txBody>
          <a:bodyPr/>
          <a:lstStyle/>
          <a:p>
            <a:pPr/>
            <a:r>
              <a:t>KEY MESSAGE: Our shim follows CAMARA lifecycle semantics but uses a pragmatic manifest format because the spec is still alpha.</a:t>
            </a:r>
          </a:p>
          <a:p>
            <a:pPr/>
          </a:p>
          <a:p>
            <a:pPr/>
            <a:r>
              <a:t>Talking points:</a:t>
            </a:r>
          </a:p>
          <a:p>
            <a:pPr/>
            <a:r>
              <a:t>- Green badges = aligned with CAMARA spec (Edge Discovery, Endpoint Discovery, overall lifecycle)</a:t>
            </a:r>
          </a:p>
          <a:p>
            <a:pPr/>
            <a:r>
              <a:t>- Orange badges = differs (App Package/Instantiation — we use inline container specs instead of pre-onboarded packages)</a:t>
            </a:r>
          </a:p>
          <a:p>
            <a:pPr/>
            <a:r>
              <a:t>- CAMARA assumes apps are 'onboarded' through a separate channel; we collapse this into the API call for demo simplicity</a:t>
            </a:r>
          </a:p>
          <a:p>
            <a:pPr/>
            <a:r>
              <a:t>- The important point: the 4-step lifecycle IS standard CAMARA — discover, deploy, connect, teardown</a:t>
            </a:r>
          </a:p>
          <a:p>
            <a:pPr/>
            <a:r>
              <a:t>- When EdgeApplicationManagement reaches v1.0, we can update the manifest schema without touching the client</a:t>
            </a:r>
          </a:p>
          <a:p>
            <a:pPr/>
            <a:r>
              <a:t>- The client only knows: 'call CAMARA, get endpoint, send frames'</a:t>
            </a:r>
          </a:p>
          <a:p>
            <a:pPr/>
          </a:p>
          <a:p>
            <a:pPr/>
            <a:r>
              <a:t>Color meaning: Teal badge = aligned with spec, Coral badge = diverges from spec</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99" name="Shape 799"/>
          <p:cNvSpPr/>
          <p:nvPr>
            <p:ph type="sldImg"/>
          </p:nvPr>
        </p:nvSpPr>
        <p:spPr>
          <a:prstGeom prst="rect">
            <a:avLst/>
          </a:prstGeom>
        </p:spPr>
        <p:txBody>
          <a:bodyPr/>
          <a:lstStyle/>
          <a:p>
            <a:pPr/>
          </a:p>
        </p:txBody>
      </p:sp>
      <p:sp>
        <p:nvSpPr>
          <p:cNvPr id="800" name="Shape 800"/>
          <p:cNvSpPr/>
          <p:nvPr>
            <p:ph type="body" sz="quarter" idx="1"/>
          </p:nvPr>
        </p:nvSpPr>
        <p:spPr>
          <a:prstGeom prst="rect">
            <a:avLst/>
          </a:prstGeom>
        </p:spPr>
        <p:txBody>
          <a:bodyPr/>
          <a:lstStyle/>
          <a:p>
            <a:pPr/>
            <a:r>
              <a:t>KEY MESSAGE: The NEF-shim translates every CAMARA API call into corresponding Kubernetes operations, providing tenant isolation.</a:t>
            </a:r>
          </a:p>
          <a:p>
            <a:pPr/>
          </a:p>
          <a:p>
            <a:pPr/>
            <a:r>
              <a:t>Talking points:</a:t>
            </a:r>
          </a:p>
          <a:p>
            <a:pPr/>
            <a:r>
              <a:t>- FastAPI service running as a Deployment in the same cluster</a:t>
            </a:r>
          </a:p>
          <a:p>
            <a:pPr/>
            <a:r>
              <a:t>- Each tenant gets isolated resources namespaced by IP hash (t-{md5[:8]})</a:t>
            </a:r>
          </a:p>
          <a:p>
            <a:pPr/>
            <a:r>
              <a:t>- Creates Deployment + Service + ConfigMap per tenant instance</a:t>
            </a:r>
          </a:p>
          <a:p>
            <a:pPr/>
            <a:r>
              <a:t>- Monitors pod readiness and reports status (building_models, waiting_ready, ready)</a:t>
            </a:r>
          </a:p>
          <a:p>
            <a:pPr/>
            <a:r>
              <a:t>- Handles TRT build time gracefully (liveness probe: 600s initial delay)</a:t>
            </a:r>
          </a:p>
          <a:p>
            <a:pPr/>
          </a:p>
          <a:p>
            <a:pPr/>
            <a:r>
              <a:t>Color meaning: Blue = CAMARA/external API layer, Teal = internal Kubernetes operations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05" name="Shape 805"/>
          <p:cNvSpPr/>
          <p:nvPr>
            <p:ph type="sldImg"/>
          </p:nvPr>
        </p:nvSpPr>
        <p:spPr>
          <a:prstGeom prst="rect">
            <a:avLst/>
          </a:prstGeom>
        </p:spPr>
        <p:txBody>
          <a:bodyPr/>
          <a:lstStyle/>
          <a:p>
            <a:pPr/>
          </a:p>
        </p:txBody>
      </p:sp>
      <p:sp>
        <p:nvSpPr>
          <p:cNvPr id="806" name="Shape 806"/>
          <p:cNvSpPr/>
          <p:nvPr>
            <p:ph type="body" sz="quarter" idx="1"/>
          </p:nvPr>
        </p:nvSpPr>
        <p:spPr>
          <a:prstGeom prst="rect">
            <a:avLst/>
          </a:prstGeom>
        </p:spPr>
        <p:txBody>
          <a:bodyPr/>
          <a:lstStyle/>
          <a:p>
            <a:pPr/>
            <a:r>
              <a:t>KEY MESSAGE: Triton handles GPU model serving while the sidecar handles network I/O — zero-copy shared memory between them.</a:t>
            </a:r>
          </a:p>
          <a:p>
            <a:pPr/>
          </a:p>
          <a:p>
            <a:pPr/>
            <a:r>
              <a:t>Talking points:</a:t>
            </a:r>
          </a:p>
          <a:p>
            <a:pPr/>
            <a:r>
              <a:t>- Sidecar pattern avoids sending 4.8MB raw tensors over the network</a:t>
            </a:r>
          </a:p>
          <a:p>
            <a:pPr/>
            <a:r>
              <a:t>- Client sends JPEG (~50KB), gets back JSON detections (&lt;1KB)</a:t>
            </a:r>
          </a:p>
          <a:p>
            <a:pPr/>
            <a:r>
              <a:t>- Shared memory IPC between sidecar and Triton = zero network overhead</a:t>
            </a:r>
          </a:p>
          <a:p>
            <a:pPr/>
            <a:r>
              <a:t>- TensorRT FP16 engines are built on first boot from ONNX models</a:t>
            </a:r>
          </a:p>
          <a:p>
            <a:pPr/>
            <a:r>
              <a:t>- Build takes ~4 min on L40S (one-time cost per fresh deployment)</a:t>
            </a:r>
          </a:p>
          <a:p>
            <a:pPr/>
            <a:r>
              <a:t>- Both models loaded simultaneously, switchable via request header</a:t>
            </a:r>
          </a:p>
          <a:p>
            <a:pPr/>
          </a:p>
          <a:p>
            <a:pPr/>
            <a:r>
              <a:t>Color meaning: Teal = edge compute components (all same system, one color)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34" name="Shape 834"/>
          <p:cNvSpPr/>
          <p:nvPr>
            <p:ph type="sldImg"/>
          </p:nvPr>
        </p:nvSpPr>
        <p:spPr>
          <a:prstGeom prst="rect">
            <a:avLst/>
          </a:prstGeom>
        </p:spPr>
        <p:txBody>
          <a:bodyPr/>
          <a:lstStyle/>
          <a:p>
            <a:pPr/>
          </a:p>
        </p:txBody>
      </p:sp>
      <p:sp>
        <p:nvSpPr>
          <p:cNvPr id="835" name="Shape 835"/>
          <p:cNvSpPr/>
          <p:nvPr>
            <p:ph type="body" sz="quarter" idx="1"/>
          </p:nvPr>
        </p:nvSpPr>
        <p:spPr>
          <a:prstGeom prst="rect">
            <a:avLst/>
          </a:prstGeom>
        </p:spPr>
        <p:txBody>
          <a:bodyPr/>
          <a:lstStyle/>
          <a:p>
            <a:pPr/>
            <a:r>
              <a:t>KEY MESSAGE: Triton handles GPU model serving while the sidecar handles network I/O — zero-copy shared memory between them.</a:t>
            </a:r>
          </a:p>
          <a:p>
            <a:pPr/>
          </a:p>
          <a:p>
            <a:pPr/>
            <a:r>
              <a:t>Talking points:</a:t>
            </a:r>
          </a:p>
          <a:p>
            <a:pPr/>
            <a:r>
              <a:t>- Sidecar pattern avoids sending 4.8MB raw tensors over the network</a:t>
            </a:r>
          </a:p>
          <a:p>
            <a:pPr/>
            <a:r>
              <a:t>- Client sends JPEG (~50KB), gets back JSON detections (&lt;1KB)</a:t>
            </a:r>
          </a:p>
          <a:p>
            <a:pPr/>
            <a:r>
              <a:t>- Shared memory IPC between sidecar and Triton = zero network overhead</a:t>
            </a:r>
          </a:p>
          <a:p>
            <a:pPr/>
            <a:r>
              <a:t>- TensorRT FP16 engines are built on first boot from ONNX models</a:t>
            </a:r>
          </a:p>
          <a:p>
            <a:pPr/>
            <a:r>
              <a:t>- Build takes ~4 min on L40S (one-time cost per fresh deployment)</a:t>
            </a:r>
          </a:p>
          <a:p>
            <a:pPr/>
            <a:r>
              <a:t>- Both models loaded simultaneously, switchable via request header</a:t>
            </a:r>
          </a:p>
          <a:p>
            <a:pPr/>
          </a:p>
          <a:p>
            <a:pPr/>
            <a:r>
              <a:t>Color meaning: Teal = edge compute components (all same system, one color)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84" name="Shape 884"/>
          <p:cNvSpPr/>
          <p:nvPr>
            <p:ph type="sldImg"/>
          </p:nvPr>
        </p:nvSpPr>
        <p:spPr>
          <a:prstGeom prst="rect">
            <a:avLst/>
          </a:prstGeom>
        </p:spPr>
        <p:txBody>
          <a:bodyPr/>
          <a:lstStyle/>
          <a:p>
            <a:pPr/>
          </a:p>
        </p:txBody>
      </p:sp>
      <p:sp>
        <p:nvSpPr>
          <p:cNvPr id="885" name="Shape 885"/>
          <p:cNvSpPr/>
          <p:nvPr>
            <p:ph type="body" sz="quarter" idx="1"/>
          </p:nvPr>
        </p:nvSpPr>
        <p:spPr>
          <a:prstGeom prst="rect">
            <a:avLst/>
          </a:prstGeom>
        </p:spPr>
        <p:txBody>
          <a:bodyPr/>
          <a:lstStyle/>
          <a:p>
            <a:pPr/>
            <a:r>
              <a:t>KEY MESSAGE: The deployment sequence shows how a single 'edge offload' button press triggers a cascade of API calls and k8s operations.</a:t>
            </a:r>
          </a:p>
          <a:p>
            <a:pPr/>
          </a:p>
          <a:p>
            <a:pPr/>
            <a:r>
              <a:t>Talking points:</a:t>
            </a:r>
          </a:p>
          <a:p>
            <a:pPr/>
            <a:r>
              <a:t>- Total time from button press to inference-ready: ~4 minutes (dominated by TRT engine build)</a:t>
            </a:r>
          </a:p>
          <a:p>
            <a:pPr/>
            <a:r>
              <a:t>- Subsequent toggles are instant — instance stays alive until quit</a:t>
            </a:r>
          </a:p>
          <a:p>
            <a:pPr/>
            <a:r>
              <a:t>- NEF-shim polls pod status and reports progress to client (building_models → waiting_ready → ready)</a:t>
            </a:r>
          </a:p>
          <a:p>
            <a:pPr/>
            <a:r>
              <a:t>- Client can display status updates in real-time during wait</a:t>
            </a:r>
          </a:p>
          <a:p>
            <a:pPr/>
            <a:r>
              <a:t>- gRPC endpoint is a NodePort — only works on 5G (kube-proxy won't forward to unready pods)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90" name="Shape 890"/>
          <p:cNvSpPr/>
          <p:nvPr>
            <p:ph type="sldImg"/>
          </p:nvPr>
        </p:nvSpPr>
        <p:spPr>
          <a:prstGeom prst="rect">
            <a:avLst/>
          </a:prstGeom>
        </p:spPr>
        <p:txBody>
          <a:bodyPr/>
          <a:lstStyle/>
          <a:p>
            <a:pPr/>
          </a:p>
        </p:txBody>
      </p:sp>
      <p:sp>
        <p:nvSpPr>
          <p:cNvPr id="891" name="Shape 891"/>
          <p:cNvSpPr/>
          <p:nvPr>
            <p:ph type="body" sz="quarter" idx="1"/>
          </p:nvPr>
        </p:nvSpPr>
        <p:spPr>
          <a:prstGeom prst="rect">
            <a:avLst/>
          </a:prstGeom>
        </p:spPr>
        <p:txBody>
          <a:bodyPr/>
          <a:lstStyle/>
          <a:p>
            <a:pPr/>
            <a:r>
              <a:t>KEY MESSAGE: The deployment sequence shows how a single 'edge offload' button press triggers a cascade of API calls and k8s operations.</a:t>
            </a:r>
          </a:p>
          <a:p>
            <a:pPr/>
          </a:p>
          <a:p>
            <a:pPr/>
            <a:r>
              <a:t>Talking points:</a:t>
            </a:r>
          </a:p>
          <a:p>
            <a:pPr/>
            <a:r>
              <a:t>- Total time from button press to inference-ready: ~4 minutes (dominated by TRT engine build)</a:t>
            </a:r>
          </a:p>
          <a:p>
            <a:pPr/>
            <a:r>
              <a:t>- Subsequent toggles are instant — instance stays alive until quit</a:t>
            </a:r>
          </a:p>
          <a:p>
            <a:pPr/>
            <a:r>
              <a:t>- NEF-shim polls pod status and reports progress to client (building_models → waiting_ready → ready)</a:t>
            </a:r>
          </a:p>
          <a:p>
            <a:pPr/>
            <a:r>
              <a:t>- Client can display status updates in real-time during wait</a:t>
            </a:r>
          </a:p>
          <a:p>
            <a:pPr/>
            <a:r>
              <a:t>- gRPC endpoint is a NodePort — only works on 5G (kube-proxy won't forward to unready pods)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27" name="Shape 927"/>
          <p:cNvSpPr/>
          <p:nvPr>
            <p:ph type="sldImg"/>
          </p:nvPr>
        </p:nvSpPr>
        <p:spPr>
          <a:prstGeom prst="rect">
            <a:avLst/>
          </a:prstGeom>
        </p:spPr>
        <p:txBody>
          <a:bodyPr/>
          <a:lstStyle/>
          <a:p>
            <a:pPr/>
          </a:p>
        </p:txBody>
      </p:sp>
      <p:sp>
        <p:nvSpPr>
          <p:cNvPr id="928" name="Shape 928"/>
          <p:cNvSpPr/>
          <p:nvPr>
            <p:ph type="body" sz="quarter" idx="1"/>
          </p:nvPr>
        </p:nvSpPr>
        <p:spPr>
          <a:prstGeom prst="rect">
            <a:avLst/>
          </a:prstGeom>
        </p:spPr>
        <p:txBody>
          <a:bodyPr/>
          <a:lstStyle/>
          <a:p>
            <a:pPr/>
            <a:r>
              <a:t>KEY MESSAGE: Edge inference round-trip is 18-25ms end-to-end — 7-30x faster than local CPU.</a:t>
            </a:r>
          </a:p>
          <a:p>
            <a:pPr/>
          </a:p>
          <a:p>
            <a:pPr/>
            <a:r>
              <a:t>Talking points:</a:t>
            </a:r>
          </a:p>
          <a:p>
            <a:pPr/>
            <a:r>
              <a:t>- gRPC path: binary protobuf, single TCP connection, ~18ms total</a:t>
            </a:r>
          </a:p>
          <a:p>
            <a:pPr/>
            <a:r>
              <a:t>- HTTP path: JPEG POST to /infer, JSON response, ~25ms (7ms overhead from encode/decode)</a:t>
            </a:r>
          </a:p>
          <a:p>
            <a:pPr/>
            <a:r>
              <a:t>- Local CPU comparison: YOLOv8n=120ms, YOLOv8x-seg=530ms</a:t>
            </a:r>
          </a:p>
          <a:p>
            <a:pPr/>
            <a:r>
              <a:t>- Sidecar does all pre/post-processing — client just sends JPEG and gets JSON</a:t>
            </a:r>
          </a:p>
          <a:p>
            <a:pPr/>
            <a:r>
              <a:t>- Shared memory between sidecar and Triton eliminates internal serialization</a:t>
            </a:r>
          </a:p>
          <a:p>
            <a:pPr/>
          </a:p>
          <a:p>
            <a:pPr/>
            <a:r>
              <a:t>Color meaning: Blue = external data path, Teal = internal pod processing</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2" name="Shape 952"/>
          <p:cNvSpPr/>
          <p:nvPr>
            <p:ph type="sldImg"/>
          </p:nvPr>
        </p:nvSpPr>
        <p:spPr>
          <a:prstGeom prst="rect">
            <a:avLst/>
          </a:prstGeom>
        </p:spPr>
        <p:txBody>
          <a:bodyPr/>
          <a:lstStyle/>
          <a:p>
            <a:pPr/>
          </a:p>
        </p:txBody>
      </p:sp>
      <p:sp>
        <p:nvSpPr>
          <p:cNvPr id="953" name="Shape 953"/>
          <p:cNvSpPr/>
          <p:nvPr>
            <p:ph type="body" sz="quarter" idx="1"/>
          </p:nvPr>
        </p:nvSpPr>
        <p:spPr>
          <a:prstGeom prst="rect">
            <a:avLst/>
          </a:prstGeom>
        </p:spPr>
        <p:txBody>
          <a:bodyPr/>
          <a:lstStyle/>
          <a:p>
            <a:pPr/>
            <a:r>
              <a:t>KEY MESSAGE: The 5G air interface contributes ~35% of total latency; GPU inference is only ~5ms of the 18ms total.</a:t>
            </a:r>
          </a:p>
          <a:p>
            <a:pPr/>
          </a:p>
          <a:p>
            <a:pPr/>
            <a:r>
              <a:t>Talking points:</a:t>
            </a:r>
          </a:p>
          <a:p>
            <a:pPr/>
            <a:r>
              <a:t>- UL latency dominated by TDD pattern (DDDSU = 80% DL, 20% UL slots)</a:t>
            </a:r>
          </a:p>
          <a:p>
            <a:pPr/>
            <a:r>
              <a:t>- With JPEG compression, upload is only ~50KB — still 3.2ms due to scheduling</a:t>
            </a:r>
          </a:p>
          <a:p>
            <a:pPr/>
            <a:r>
              <a:t>- DL is faster (more slots available) and response is tiny (&lt;1KB JSON)</a:t>
            </a:r>
          </a:p>
          <a:p>
            <a:pPr/>
            <a:r>
              <a:t>- Triton inference itself is 4-5ms — the rest is transport and pre/post-processing</a:t>
            </a:r>
          </a:p>
          <a:p>
            <a:pPr/>
            <a:r>
              <a:t>- Segmentation (YOLOv8x-seg) adds only ~4ms on GPU vs 400ms on CPU</a:t>
            </a:r>
          </a:p>
          <a:p>
            <a:pPr/>
          </a:p>
          <a:p>
            <a:pPr/>
            <a:r>
              <a:t>Color meaning: Blue = network transport, Teal = compute processing</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64" name="Shape 964"/>
          <p:cNvSpPr/>
          <p:nvPr>
            <p:ph type="sldImg"/>
          </p:nvPr>
        </p:nvSpPr>
        <p:spPr>
          <a:prstGeom prst="rect">
            <a:avLst/>
          </a:prstGeom>
        </p:spPr>
        <p:txBody>
          <a:bodyPr/>
          <a:lstStyle/>
          <a:p>
            <a:pPr/>
          </a:p>
        </p:txBody>
      </p:sp>
      <p:sp>
        <p:nvSpPr>
          <p:cNvPr id="965" name="Shape 965"/>
          <p:cNvSpPr/>
          <p:nvPr>
            <p:ph type="body" sz="quarter" idx="1"/>
          </p:nvPr>
        </p:nvSpPr>
        <p:spPr>
          <a:prstGeom prst="rect">
            <a:avLst/>
          </a:prstGeom>
        </p:spPr>
        <p:txBody>
          <a:bodyPr/>
          <a:lstStyle/>
          <a:p>
            <a:pPr/>
            <a:r>
              <a:t>KEY MESSAGE: gRPC is primary (faster, binary) but HTTP fallback ensures the demo works in any network condition.</a:t>
            </a:r>
          </a:p>
          <a:p>
            <a:pPr/>
          </a:p>
          <a:p>
            <a:pPr/>
            <a:r>
              <a:t>Talking points:</a:t>
            </a:r>
          </a:p>
          <a:p>
            <a:pPr/>
            <a:r>
              <a:t>- gRPC only works when directly on 5G — NodePort is exposed on the cluster's external IP</a:t>
            </a:r>
          </a:p>
          <a:p>
            <a:pPr/>
            <a:r>
              <a:t>- VPN routes traffic through a different path, NodePort becomes unreachable</a:t>
            </a:r>
          </a:p>
          <a:p>
            <a:pPr/>
            <a:r>
              <a:t>- Client auto-detects gRPC failure (RuntimeError) and falls back to HTTP</a:t>
            </a:r>
          </a:p>
          <a:p>
            <a:pPr/>
            <a:r>
              <a:t>- HTTP path goes through NGINX ingress which is always accessible</a:t>
            </a:r>
          </a:p>
          <a:p>
            <a:pPr/>
            <a:r>
              <a:t>- 7ms penalty for HTTP vs gRPC is the JPEG encode + JSON parse overhead</a:t>
            </a:r>
          </a:p>
          <a:p>
            <a:pPr/>
          </a:p>
          <a:p>
            <a:pPr/>
            <a:r>
              <a:t>Color meaning: Blue = primary/preferred path, Grey = fallback/alternative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91" name="Shape 991"/>
          <p:cNvSpPr/>
          <p:nvPr>
            <p:ph type="sldImg"/>
          </p:nvPr>
        </p:nvSpPr>
        <p:spPr>
          <a:prstGeom prst="rect">
            <a:avLst/>
          </a:prstGeom>
        </p:spPr>
        <p:txBody>
          <a:bodyPr/>
          <a:lstStyle/>
          <a:p>
            <a:pPr/>
          </a:p>
        </p:txBody>
      </p:sp>
      <p:sp>
        <p:nvSpPr>
          <p:cNvPr id="992" name="Shape 992"/>
          <p:cNvSpPr/>
          <p:nvPr>
            <p:ph type="body" sz="quarter" idx="1"/>
          </p:nvPr>
        </p:nvSpPr>
        <p:spPr>
          <a:prstGeom prst="rect">
            <a:avLst/>
          </a:prstGeom>
        </p:spPr>
        <p:txBody>
          <a:bodyPr/>
          <a:lstStyle/>
          <a:p>
            <a:pPr/>
            <a:r>
              <a:t>KEY MESSAGE: Development is a standard container workflow — git push, Docker build, registry push, then NEF-shim pulls on demand.</a:t>
            </a:r>
          </a:p>
          <a:p>
            <a:pPr/>
          </a:p>
          <a:p>
            <a:pPr/>
            <a:r>
              <a:t>Talking points:</a:t>
            </a:r>
          </a:p>
          <a:p>
            <a:pPr/>
            <a:r>
              <a:t>- No special deployment pipeline — standard Docker + k8s</a:t>
            </a:r>
          </a:p>
          <a:p>
            <a:pPr/>
            <a:r>
              <a:t>- Container includes model weights but NOT TRT engines (built on-device for hardware compatibility)</a:t>
            </a:r>
          </a:p>
          <a:p>
            <a:pPr/>
            <a:r>
              <a:t>- First boot takes ~4 min due to TRT engine compilation — subsequent starts are instant</a:t>
            </a:r>
          </a:p>
          <a:p>
            <a:pPr/>
            <a:r>
              <a:t>- Liveness probe set to 600s initial delay to accommodate TRT build</a:t>
            </a:r>
          </a:p>
          <a:p>
            <a:pPr/>
            <a:r>
              <a:t>- NEF-shim creates a fresh Deployment on each POST /app-instances</a:t>
            </a:r>
          </a:p>
          <a:p>
            <a:pPr/>
          </a:p>
          <a:p>
            <a:pPr/>
            <a:r>
              <a:t>REFERENCE: GitHub Container Registry (ghcr.io). NVIDIA Triton base image: nvcr.io/nvidia/tritonserver:24.01-py3</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01" name="Shape 1001"/>
          <p:cNvSpPr/>
          <p:nvPr>
            <p:ph type="sldImg"/>
          </p:nvPr>
        </p:nvSpPr>
        <p:spPr>
          <a:prstGeom prst="rect">
            <a:avLst/>
          </a:prstGeom>
        </p:spPr>
        <p:txBody>
          <a:bodyPr/>
          <a:lstStyle/>
          <a:p>
            <a:pPr/>
          </a:p>
        </p:txBody>
      </p:sp>
      <p:sp>
        <p:nvSpPr>
          <p:cNvPr id="1002" name="Shape 1002"/>
          <p:cNvSpPr/>
          <p:nvPr>
            <p:ph type="body" sz="quarter" idx="1"/>
          </p:nvPr>
        </p:nvSpPr>
        <p:spPr>
          <a:prstGeom prst="rect">
            <a:avLst/>
          </a:prstGeom>
        </p:spPr>
        <p:txBody>
          <a:bodyPr/>
          <a:lstStyle/>
          <a:p>
            <a:pPr/>
            <a:r>
              <a:t>KEY MESSAGE: The edge GPU makes heavy models practical in real-time — 59x speedup for segmentation.</a:t>
            </a:r>
          </a:p>
          <a:p>
            <a:pPr/>
          </a:p>
          <a:p>
            <a:pPr/>
            <a:r>
              <a:t>Talking points:</a:t>
            </a:r>
          </a:p>
          <a:p>
            <a:pPr/>
            <a:r>
              <a:t>- YOLOv8n is the 'nano' model — fast even on CPU, but edge makes it instant</a:t>
            </a:r>
          </a:p>
          <a:p>
            <a:pPr/>
            <a:r>
              <a:t>- YOLOv8x-seg is the 'extra-large' segmentation model — impossible in real-time on CPU</a:t>
            </a:r>
          </a:p>
          <a:p>
            <a:pPr/>
            <a:r>
              <a:t>- Segmentation output requires mask coefficient decoding: coeffs @ prototypes → sigmoid → threshold → contour</a:t>
            </a:r>
          </a:p>
          <a:p>
            <a:pPr/>
            <a:r>
              <a:t>- This is where edge offloading truly shines — tasks that are infeasible locally become trivial on GPU</a:t>
            </a:r>
          </a:p>
          <a:p>
            <a:pPr/>
            <a:r>
              <a:t>- Both models use same input size (640×640) — switchable at runtime via M key</a:t>
            </a:r>
          </a:p>
          <a:p>
            <a:pPr/>
          </a:p>
          <a:p>
            <a:pPr/>
            <a:r>
              <a:t>REFERENCE: Ultralytics YOLOv8 (Jan 2023). Architecture: CSPDarknet backbone + C2f modules + detection/segmentation heads.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07" name="Shape 1007"/>
          <p:cNvSpPr/>
          <p:nvPr>
            <p:ph type="sldImg"/>
          </p:nvPr>
        </p:nvSpPr>
        <p:spPr>
          <a:prstGeom prst="rect">
            <a:avLst/>
          </a:prstGeom>
        </p:spPr>
        <p:txBody>
          <a:bodyPr/>
          <a:lstStyle/>
          <a:p>
            <a:pPr/>
          </a:p>
        </p:txBody>
      </p:sp>
      <p:sp>
        <p:nvSpPr>
          <p:cNvPr id="1008" name="Shape 1008"/>
          <p:cNvSpPr/>
          <p:nvPr>
            <p:ph type="body" sz="quarter" idx="1"/>
          </p:nvPr>
        </p:nvSpPr>
        <p:spPr>
          <a:prstGeom prst="rect">
            <a:avLst/>
          </a:prstGeom>
        </p:spPr>
        <p:txBody>
          <a:bodyPr/>
          <a:lstStyle/>
          <a:p>
            <a:pPr/>
            <a:r>
              <a:t>KEY MESSAGE: The system is efficient enough for multi-tenant deployment — each tenant uses only 2.5GB of GPU memory.</a:t>
            </a:r>
          </a:p>
          <a:p>
            <a:pPr/>
          </a:p>
          <a:p>
            <a:pPr/>
            <a:r>
              <a:t>Talking points:</a:t>
            </a:r>
          </a:p>
          <a:p>
            <a:pPr/>
            <a:r>
              <a:t>- L40S with 48GB VRAM could theoretically serve ~19 concurrent tenants</a:t>
            </a:r>
          </a:p>
          <a:p>
            <a:pPr/>
            <a:r>
              <a:t>- TDD pattern (DDDSU) means UL has fewer time slots — this is the main source of UL latency</a:t>
            </a:r>
          </a:p>
          <a:p>
            <a:pPr/>
            <a:r>
              <a:t>- FP16 inference gives near-identical accuracy to FP32 but 2x throughput</a:t>
            </a:r>
          </a:p>
          <a:p>
            <a:pPr/>
            <a:r>
              <a:t>- Tenant isolation is lightweight — just k8s label selectors and service routing</a:t>
            </a:r>
          </a:p>
          <a:p>
            <a:pPr/>
            <a:r>
              <a:t>- HTTP response is slightly larger due to JSON encoding vs binary protobuf</a:t>
            </a:r>
          </a:p>
          <a:p>
            <a:pPr/>
          </a:p>
          <a:p>
            <a:pPr/>
            <a:r>
              <a:t>Color meaning: Blue header = data table styling (single color for uniformity)</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13" name="Shape 1013"/>
          <p:cNvSpPr/>
          <p:nvPr>
            <p:ph type="sldImg"/>
          </p:nvPr>
        </p:nvSpPr>
        <p:spPr>
          <a:prstGeom prst="rect">
            <a:avLst/>
          </a:prstGeom>
        </p:spPr>
        <p:txBody>
          <a:bodyPr/>
          <a:lstStyle/>
          <a:p>
            <a:pPr/>
          </a:p>
        </p:txBody>
      </p:sp>
      <p:sp>
        <p:nvSpPr>
          <p:cNvPr id="1014" name="Shape 1014"/>
          <p:cNvSpPr/>
          <p:nvPr>
            <p:ph type="body" sz="quarter" idx="1"/>
          </p:nvPr>
        </p:nvSpPr>
        <p:spPr>
          <a:prstGeom prst="rect">
            <a:avLst/>
          </a:prstGeom>
        </p:spPr>
        <p:txBody>
          <a:bodyPr/>
          <a:lstStyle/>
          <a:p>
            <a:pPr/>
            <a:r>
              <a:t>KEY MESSAGE: The system is efficient enough for multi-tenant deployment — each tenant uses only 2.5GB of GPU memory.</a:t>
            </a:r>
          </a:p>
          <a:p>
            <a:pPr/>
          </a:p>
          <a:p>
            <a:pPr/>
            <a:r>
              <a:t>Talking points:</a:t>
            </a:r>
          </a:p>
          <a:p>
            <a:pPr/>
            <a:r>
              <a:t>- L40S with 48GB VRAM could theoretically serve ~19 concurrent tenants</a:t>
            </a:r>
          </a:p>
          <a:p>
            <a:pPr/>
            <a:r>
              <a:t>- TDD pattern (DDDSU) means UL has fewer time slots — this is the main source of UL latency</a:t>
            </a:r>
          </a:p>
          <a:p>
            <a:pPr/>
            <a:r>
              <a:t>- FP16 inference gives near-identical accuracy to FP32 but 2x throughput</a:t>
            </a:r>
          </a:p>
          <a:p>
            <a:pPr/>
            <a:r>
              <a:t>- Tenant isolation is lightweight — just k8s label selectors and service routing</a:t>
            </a:r>
          </a:p>
          <a:p>
            <a:pPr/>
            <a:r>
              <a:t>- HTTP response is slightly larger due to JSON encoding vs binary protobuf</a:t>
            </a:r>
          </a:p>
          <a:p>
            <a:pPr/>
          </a:p>
          <a:p>
            <a:pPr/>
            <a:r>
              <a:t>Color meaning: Blue header = data table styling (single color for uniformity)</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16" name="Shape 1016"/>
          <p:cNvSpPr/>
          <p:nvPr>
            <p:ph type="sldImg"/>
          </p:nvPr>
        </p:nvSpPr>
        <p:spPr>
          <a:prstGeom prst="rect">
            <a:avLst/>
          </a:prstGeom>
        </p:spPr>
        <p:txBody>
          <a:bodyPr/>
          <a:lstStyle/>
          <a:p>
            <a:pPr/>
          </a:p>
        </p:txBody>
      </p:sp>
      <p:sp>
        <p:nvSpPr>
          <p:cNvPr id="1017" name="Shape 1017"/>
          <p:cNvSpPr/>
          <p:nvPr>
            <p:ph type="body" sz="quarter" idx="1"/>
          </p:nvPr>
        </p:nvSpPr>
        <p:spPr>
          <a:prstGeom prst="rect">
            <a:avLst/>
          </a:prstGeom>
        </p:spPr>
        <p:txBody>
          <a:bodyPr/>
          <a:lstStyle/>
          <a:p>
            <a:pPr/>
            <a:r>
              <a:t>KEY MESSAGE: Thank you — questions welcome.</a:t>
            </a:r>
          </a:p>
          <a:p>
            <a:pPr/>
          </a:p>
          <a:p>
            <a:pPr/>
            <a:r>
              <a:t>Talking points:</a:t>
            </a:r>
          </a:p>
          <a:p>
            <a:pPr/>
            <a:r>
              <a:t>- Demo is live and can be shown on request</a:t>
            </a:r>
          </a:p>
          <a:p>
            <a:pPr/>
            <a:r>
              <a:t>- Code is on GitHub (tag: beta-1)</a:t>
            </a:r>
          </a:p>
          <a:p>
            <a:pPr/>
            <a:r>
              <a:t>- Next steps: multi-tenant benchmarking, QoS-on-demand integration, model hot-swap</a:t>
            </a:r>
          </a:p>
          <a:p>
            <a:pPr/>
          </a:p>
          <a:p>
            <a:pPr/>
            <a:r>
              <a:t>REFERENCE: github.com (edgevision repo, beta-1 tag). CAMARA project: camaraproject.org. Ericsson edge computing: ericsson.com/edge-computing</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Page">
    <p:spTree>
      <p:nvGrpSpPr>
        <p:cNvPr id="1" name=""/>
        <p:cNvGrpSpPr/>
        <p:nvPr/>
      </p:nvGrpSpPr>
      <p:grpSpPr>
        <a:xfrm>
          <a:off x="0" y="0"/>
          <a:ext cx="0" cy="0"/>
          <a:chOff x="0" y="0"/>
          <a:chExt cx="0" cy="0"/>
        </a:xfrm>
      </p:grpSpPr>
      <p:sp>
        <p:nvSpPr>
          <p:cNvPr id="12" name="Title/cover page,   Ericsson Hilda Light 80pt, max 3-lines"/>
          <p:cNvSpPr txBox="1"/>
          <p:nvPr>
            <p:ph type="title" hasCustomPrompt="1"/>
          </p:nvPr>
        </p:nvSpPr>
        <p:spPr>
          <a:xfrm>
            <a:off x="479425" y="476250"/>
            <a:ext cx="8353426" cy="3457577"/>
          </a:xfrm>
          <a:prstGeom prst="rect">
            <a:avLst/>
          </a:prstGeom>
        </p:spPr>
        <p:txBody>
          <a:bodyPr>
            <a:normAutofit fontScale="100000" lnSpcReduction="0"/>
          </a:bodyPr>
          <a:lstStyle>
            <a:lvl1pPr>
              <a:defRPr sz="8000"/>
            </a:lvl1pPr>
          </a:lstStyle>
          <a:p>
            <a:pPr/>
            <a:r>
              <a:t>Title/cover page,   Ericsson Hilda Light 80pt, max 3-lines</a:t>
            </a:r>
          </a:p>
        </p:txBody>
      </p:sp>
      <p:sp>
        <p:nvSpPr>
          <p:cNvPr id="13" name="Body Level One…"/>
          <p:cNvSpPr txBox="1"/>
          <p:nvPr>
            <p:ph type="body" sz="quarter" idx="1" hasCustomPrompt="1"/>
          </p:nvPr>
        </p:nvSpPr>
        <p:spPr>
          <a:xfrm>
            <a:off x="479425" y="4149725"/>
            <a:ext cx="5472115" cy="2087564"/>
          </a:xfrm>
          <a:prstGeom prst="rect">
            <a:avLst/>
          </a:prstGeom>
        </p:spPr>
        <p:txBody>
          <a:bodyPr>
            <a:normAutofit fontScale="100000" lnSpcReduction="0"/>
          </a:bodyPr>
          <a:lstStyle>
            <a:lvl1pPr marL="0" indent="0">
              <a:spcBef>
                <a:spcPts val="0"/>
              </a:spcBef>
              <a:buSzTx/>
              <a:buFontTx/>
              <a:buNone/>
            </a:lvl1pPr>
            <a:lvl2pPr>
              <a:spcBef>
                <a:spcPts val="0"/>
              </a:spcBef>
              <a:buFontTx/>
            </a:lvl2pPr>
            <a:lvl3pPr>
              <a:spcBef>
                <a:spcPts val="0"/>
              </a:spcBef>
              <a:buFontTx/>
            </a:lvl3pPr>
            <a:lvl4pPr>
              <a:spcBef>
                <a:spcPts val="0"/>
              </a:spcBef>
              <a:buFontTx/>
            </a:lvl4pPr>
            <a:lvl5pPr>
              <a:spcBef>
                <a:spcPts val="0"/>
              </a:spcBef>
              <a:buFontTx/>
            </a:lvl5pPr>
          </a:lstStyle>
          <a:p>
            <a:pPr/>
            <a:r>
              <a:t>Description/subtitle/speaker…Ericsson Hilda Black 20pt</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ck Title Page">
    <p:bg>
      <p:bgPr>
        <a:solidFill>
          <a:srgbClr val="181818"/>
        </a:solidFill>
      </p:bgPr>
    </p:bg>
    <p:spTree>
      <p:nvGrpSpPr>
        <p:cNvPr id="1" name=""/>
        <p:cNvGrpSpPr/>
        <p:nvPr/>
      </p:nvGrpSpPr>
      <p:grpSpPr>
        <a:xfrm>
          <a:off x="0" y="0"/>
          <a:ext cx="0" cy="0"/>
          <a:chOff x="0" y="0"/>
          <a:chExt cx="0" cy="0"/>
        </a:xfrm>
      </p:grpSpPr>
      <p:sp>
        <p:nvSpPr>
          <p:cNvPr id="21" name="Background"/>
          <p:cNvSpPr/>
          <p:nvPr/>
        </p:nvSpPr>
        <p:spPr>
          <a:xfrm>
            <a:off x="0" y="0"/>
            <a:ext cx="12192000" cy="6858000"/>
          </a:xfrm>
          <a:prstGeom prst="rect">
            <a:avLst/>
          </a:prstGeom>
          <a:solidFill>
            <a:srgbClr val="181818">
              <a:alpha val="0"/>
            </a:srgbClr>
          </a:solidFill>
          <a:ln w="12700">
            <a:miter lim="400000"/>
          </a:ln>
        </p:spPr>
        <p:txBody>
          <a:bodyPr lIns="36000" tIns="36000" rIns="36000" bIns="36000"/>
          <a:lstStyle/>
          <a:p>
            <a:pPr>
              <a:spcBef>
                <a:spcPts val="800"/>
              </a:spcBef>
            </a:pPr>
          </a:p>
        </p:txBody>
      </p:sp>
      <p:sp>
        <p:nvSpPr>
          <p:cNvPr id="22" name="Title/cover page,   Ericsson Hilda Light 80pt, max 3-lines"/>
          <p:cNvSpPr txBox="1"/>
          <p:nvPr>
            <p:ph type="title" hasCustomPrompt="1"/>
          </p:nvPr>
        </p:nvSpPr>
        <p:spPr>
          <a:xfrm>
            <a:off x="479425" y="476250"/>
            <a:ext cx="8353426" cy="3457577"/>
          </a:xfrm>
          <a:prstGeom prst="rect">
            <a:avLst/>
          </a:prstGeom>
        </p:spPr>
        <p:txBody>
          <a:bodyPr>
            <a:normAutofit fontScale="100000" lnSpcReduction="0"/>
          </a:bodyPr>
          <a:lstStyle>
            <a:lvl1pPr>
              <a:defRPr sz="8000">
                <a:solidFill>
                  <a:srgbClr val="FFFFFF"/>
                </a:solidFill>
              </a:defRPr>
            </a:lvl1pPr>
          </a:lstStyle>
          <a:p>
            <a:pPr/>
            <a:r>
              <a:t>Title/cover page,   Ericsson Hilda Light 80pt, max 3-lines</a:t>
            </a:r>
          </a:p>
        </p:txBody>
      </p:sp>
      <p:sp>
        <p:nvSpPr>
          <p:cNvPr id="23" name="Body Level One…"/>
          <p:cNvSpPr txBox="1"/>
          <p:nvPr>
            <p:ph type="body" sz="quarter" idx="1" hasCustomPrompt="1"/>
          </p:nvPr>
        </p:nvSpPr>
        <p:spPr>
          <a:xfrm>
            <a:off x="479425" y="4149725"/>
            <a:ext cx="5472115" cy="2087564"/>
          </a:xfrm>
          <a:prstGeom prst="rect">
            <a:avLst/>
          </a:prstGeom>
        </p:spPr>
        <p:txBody>
          <a:bodyPr>
            <a:normAutofit fontScale="100000" lnSpcReduction="0"/>
          </a:bodyPr>
          <a:lstStyle>
            <a:lvl1pPr marL="0" indent="0">
              <a:spcBef>
                <a:spcPts val="0"/>
              </a:spcBef>
              <a:buSzTx/>
              <a:buFontTx/>
              <a:buNone/>
              <a:defRPr>
                <a:solidFill>
                  <a:srgbClr val="FFFFFF"/>
                </a:solidFill>
              </a:defRPr>
            </a:lvl1pPr>
            <a:lvl2pPr>
              <a:spcBef>
                <a:spcPts val="0"/>
              </a:spcBef>
              <a:buFontTx/>
              <a:defRPr>
                <a:solidFill>
                  <a:srgbClr val="FFFFFF"/>
                </a:solidFill>
              </a:defRPr>
            </a:lvl2pPr>
            <a:lvl3pPr>
              <a:spcBef>
                <a:spcPts val="0"/>
              </a:spcBef>
              <a:buFontTx/>
              <a:defRPr>
                <a:solidFill>
                  <a:srgbClr val="FFFFFF"/>
                </a:solidFill>
              </a:defRPr>
            </a:lvl3pPr>
            <a:lvl4pPr>
              <a:spcBef>
                <a:spcPts val="0"/>
              </a:spcBef>
              <a:buFontTx/>
              <a:defRPr>
                <a:solidFill>
                  <a:srgbClr val="FFFFFF"/>
                </a:solidFill>
              </a:defRPr>
            </a:lvl4pPr>
            <a:lvl5pPr>
              <a:spcBef>
                <a:spcPts val="0"/>
              </a:spcBef>
              <a:buFontTx/>
              <a:defRPr>
                <a:solidFill>
                  <a:srgbClr val="FFFFFF"/>
                </a:solidFill>
              </a:defRPr>
            </a:lvl5pPr>
          </a:lstStyle>
          <a:p>
            <a:pPr/>
            <a:r>
              <a:t>Description/subtitle/speaker…Ericsson Hilda Black 20pt</a:t>
            </a:r>
          </a:p>
          <a:p>
            <a:pPr lvl="1"/>
            <a:r>
              <a:t/>
            </a:r>
          </a:p>
          <a:p>
            <a:pPr lvl="2"/>
            <a:r>
              <a:t/>
            </a:r>
          </a:p>
          <a:p>
            <a:pPr lvl="3"/>
            <a:r>
              <a:t/>
            </a:r>
          </a:p>
          <a:p>
            <a:pPr lvl="4"/>
            <a:r>
              <a:t/>
            </a:r>
          </a:p>
        </p:txBody>
      </p:sp>
      <p:sp>
        <p:nvSpPr>
          <p:cNvPr id="24" name="Slide Number"/>
          <p:cNvSpPr txBox="1"/>
          <p:nvPr>
            <p:ph type="sldNum" sz="quarter" idx="2"/>
          </p:nvPr>
        </p:nvSpPr>
        <p:spPr>
          <a:prstGeom prst="rect">
            <a:avLst/>
          </a:prstGeom>
        </p:spPr>
        <p:txBody>
          <a:bodyPr/>
          <a:lstStyle/>
          <a:p>
            <a:pPr/>
            <a:fld id="{86CB4B4D-7CA3-9044-876B-883B54F8677D}" type="slidenum"/>
          </a:p>
        </p:txBody>
      </p:sp>
      <p:pic>
        <p:nvPicPr>
          <p:cNvPr id="25" name="Logo" descr="Logo"/>
          <p:cNvPicPr>
            <a:picLocks noChangeAspect="1"/>
          </p:cNvPicPr>
          <p:nvPr/>
        </p:nvPicPr>
        <p:blipFill>
          <a:blip r:embed="rId2">
            <a:extLst/>
          </a:blip>
          <a:stretch>
            <a:fillRect/>
          </a:stretch>
        </p:blipFill>
        <p:spPr>
          <a:xfrm>
            <a:off x="11379841" y="429420"/>
            <a:ext cx="482229" cy="482440"/>
          </a:xfrm>
          <a:prstGeom prst="rect">
            <a:avLst/>
          </a:prstGeom>
          <a:ln w="12700">
            <a:miter lim="400000"/>
          </a:ln>
        </p:spPr>
      </p:pic>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3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ck blank">
    <p:bg>
      <p:bgPr>
        <a:solidFill>
          <a:srgbClr val="181818"/>
        </a:solidFill>
      </p:bgPr>
    </p:bg>
    <p:spTree>
      <p:nvGrpSpPr>
        <p:cNvPr id="1" name=""/>
        <p:cNvGrpSpPr/>
        <p:nvPr/>
      </p:nvGrpSpPr>
      <p:grpSpPr>
        <a:xfrm>
          <a:off x="0" y="0"/>
          <a:ext cx="0" cy="0"/>
          <a:chOff x="0" y="0"/>
          <a:chExt cx="0" cy="0"/>
        </a:xfrm>
      </p:grpSpPr>
      <p:sp>
        <p:nvSpPr>
          <p:cNvPr id="39" name="Background"/>
          <p:cNvSpPr/>
          <p:nvPr/>
        </p:nvSpPr>
        <p:spPr>
          <a:xfrm>
            <a:off x="0" y="0"/>
            <a:ext cx="12192000" cy="6858000"/>
          </a:xfrm>
          <a:prstGeom prst="rect">
            <a:avLst/>
          </a:prstGeom>
          <a:solidFill>
            <a:srgbClr val="181818">
              <a:alpha val="0"/>
            </a:srgbClr>
          </a:solidFill>
          <a:ln w="12700">
            <a:miter lim="400000"/>
          </a:ln>
        </p:spPr>
        <p:txBody>
          <a:bodyPr lIns="36000" tIns="36000" rIns="36000" bIns="36000"/>
          <a:lstStyle/>
          <a:p>
            <a:pPr>
              <a:spcBef>
                <a:spcPts val="800"/>
              </a:spcBef>
            </a:pPr>
          </a:p>
        </p:txBody>
      </p:sp>
      <p:sp>
        <p:nvSpPr>
          <p:cNvPr id="40" name="Slide Number"/>
          <p:cNvSpPr txBox="1"/>
          <p:nvPr>
            <p:ph type="sldNum" sz="quarter" idx="2"/>
          </p:nvPr>
        </p:nvSpPr>
        <p:spPr>
          <a:prstGeom prst="rect">
            <a:avLst/>
          </a:prstGeom>
        </p:spPr>
        <p:txBody>
          <a:bodyPr/>
          <a:lstStyle/>
          <a:p>
            <a:pPr/>
            <a:fld id="{86CB4B4D-7CA3-9044-876B-883B54F8677D}" type="slidenum"/>
          </a:p>
        </p:txBody>
      </p:sp>
      <p:pic>
        <p:nvPicPr>
          <p:cNvPr id="41" name="Logo" descr="Logo"/>
          <p:cNvPicPr>
            <a:picLocks noChangeAspect="1"/>
          </p:cNvPicPr>
          <p:nvPr/>
        </p:nvPicPr>
        <p:blipFill>
          <a:blip r:embed="rId2">
            <a:extLst/>
          </a:blip>
          <a:stretch>
            <a:fillRect/>
          </a:stretch>
        </p:blipFill>
        <p:spPr>
          <a:xfrm>
            <a:off x="11379841" y="429420"/>
            <a:ext cx="482229" cy="482440"/>
          </a:xfrm>
          <a:prstGeom prst="rect">
            <a:avLst/>
          </a:prstGeom>
          <a:ln w="12700">
            <a:miter lim="400000"/>
          </a:ln>
        </p:spPr>
      </p:pic>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48" name="Slide title, Ericsson Hilda Light 40pt, Ericsson Black, max 2-lines"/>
          <p:cNvSpPr txBox="1"/>
          <p:nvPr>
            <p:ph type="title" hasCustomPrompt="1"/>
          </p:nvPr>
        </p:nvSpPr>
        <p:spPr>
          <a:xfrm>
            <a:off x="479423" y="476250"/>
            <a:ext cx="8353426" cy="1081088"/>
          </a:xfrm>
          <a:prstGeom prst="rect">
            <a:avLst/>
          </a:prstGeom>
        </p:spPr>
        <p:txBody>
          <a:bodyPr lIns="0" tIns="0" rIns="0" bIns="0">
            <a:normAutofit fontScale="100000" lnSpcReduction="0"/>
          </a:bodyPr>
          <a:lstStyle/>
          <a:p>
            <a:pPr/>
            <a:r>
              <a:t>Slide title, Ericsson Hilda Light 40pt, Ericsson Black, max 2-lines</a:t>
            </a:r>
          </a:p>
        </p:txBody>
      </p:sp>
      <p:sp>
        <p:nvSpPr>
          <p:cNvPr id="4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ck Title Only">
    <p:bg>
      <p:bgPr>
        <a:solidFill>
          <a:srgbClr val="181818"/>
        </a:solidFill>
      </p:bgPr>
    </p:bg>
    <p:spTree>
      <p:nvGrpSpPr>
        <p:cNvPr id="1" name=""/>
        <p:cNvGrpSpPr/>
        <p:nvPr/>
      </p:nvGrpSpPr>
      <p:grpSpPr>
        <a:xfrm>
          <a:off x="0" y="0"/>
          <a:ext cx="0" cy="0"/>
          <a:chOff x="0" y="0"/>
          <a:chExt cx="0" cy="0"/>
        </a:xfrm>
      </p:grpSpPr>
      <p:sp>
        <p:nvSpPr>
          <p:cNvPr id="56" name="Background"/>
          <p:cNvSpPr/>
          <p:nvPr/>
        </p:nvSpPr>
        <p:spPr>
          <a:xfrm>
            <a:off x="0" y="0"/>
            <a:ext cx="12192000" cy="6858000"/>
          </a:xfrm>
          <a:prstGeom prst="rect">
            <a:avLst/>
          </a:prstGeom>
          <a:solidFill>
            <a:srgbClr val="181818">
              <a:alpha val="0"/>
            </a:srgbClr>
          </a:solidFill>
          <a:ln w="12700">
            <a:miter lim="400000"/>
          </a:ln>
        </p:spPr>
        <p:txBody>
          <a:bodyPr lIns="36000" tIns="36000" rIns="36000" bIns="36000"/>
          <a:lstStyle/>
          <a:p>
            <a:pPr>
              <a:spcBef>
                <a:spcPts val="800"/>
              </a:spcBef>
            </a:pPr>
          </a:p>
        </p:txBody>
      </p:sp>
      <p:pic>
        <p:nvPicPr>
          <p:cNvPr id="57" name="Logo" descr="Logo"/>
          <p:cNvPicPr>
            <a:picLocks noChangeAspect="1"/>
          </p:cNvPicPr>
          <p:nvPr/>
        </p:nvPicPr>
        <p:blipFill>
          <a:blip r:embed="rId2">
            <a:extLst/>
          </a:blip>
          <a:stretch>
            <a:fillRect/>
          </a:stretch>
        </p:blipFill>
        <p:spPr>
          <a:xfrm>
            <a:off x="11379841" y="429420"/>
            <a:ext cx="482229" cy="482440"/>
          </a:xfrm>
          <a:prstGeom prst="rect">
            <a:avLst/>
          </a:prstGeom>
          <a:ln w="12700">
            <a:miter lim="400000"/>
          </a:ln>
        </p:spPr>
      </p:pic>
      <p:sp>
        <p:nvSpPr>
          <p:cNvPr id="58" name="Slide title, Ericsson Hilda Light 40pt, Ericsson Black, max 2-lines"/>
          <p:cNvSpPr txBox="1"/>
          <p:nvPr>
            <p:ph type="title" hasCustomPrompt="1"/>
          </p:nvPr>
        </p:nvSpPr>
        <p:spPr>
          <a:xfrm>
            <a:off x="479423" y="476250"/>
            <a:ext cx="8353426" cy="1081088"/>
          </a:xfrm>
          <a:prstGeom prst="rect">
            <a:avLst/>
          </a:prstGeom>
        </p:spPr>
        <p:txBody>
          <a:bodyPr lIns="0" tIns="0" rIns="0" bIns="0">
            <a:normAutofit fontScale="100000" lnSpcReduction="0"/>
          </a:bodyPr>
          <a:lstStyle>
            <a:lvl1pPr>
              <a:defRPr>
                <a:solidFill>
                  <a:srgbClr val="FFFFFF"/>
                </a:solidFill>
              </a:defRPr>
            </a:lvl1pPr>
          </a:lstStyle>
          <a:p>
            <a:pPr/>
            <a:r>
              <a:t>Slide title, Ericsson Hilda Light 40pt, Ericsson Black, max 2-lines</a:t>
            </a:r>
          </a:p>
        </p:txBody>
      </p:sp>
      <p:sp>
        <p:nvSpPr>
          <p:cNvPr id="5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1 column">
    <p:spTree>
      <p:nvGrpSpPr>
        <p:cNvPr id="1" name=""/>
        <p:cNvGrpSpPr/>
        <p:nvPr/>
      </p:nvGrpSpPr>
      <p:grpSpPr>
        <a:xfrm>
          <a:off x="0" y="0"/>
          <a:ext cx="0" cy="0"/>
          <a:chOff x="0" y="0"/>
          <a:chExt cx="0" cy="0"/>
        </a:xfrm>
      </p:grpSpPr>
      <p:sp>
        <p:nvSpPr>
          <p:cNvPr id="66" name="Use this layout for document slides when you need space for a long heading and big content area"/>
          <p:cNvSpPr txBox="1"/>
          <p:nvPr>
            <p:ph type="title" hasCustomPrompt="1"/>
          </p:nvPr>
        </p:nvSpPr>
        <p:spPr>
          <a:xfrm>
            <a:off x="479425" y="476250"/>
            <a:ext cx="10521950" cy="1081088"/>
          </a:xfrm>
          <a:prstGeom prst="rect">
            <a:avLst/>
          </a:prstGeom>
        </p:spPr>
        <p:txBody>
          <a:bodyPr>
            <a:normAutofit fontScale="100000" lnSpcReduction="0"/>
          </a:bodyPr>
          <a:lstStyle/>
          <a:p>
            <a:pPr/>
            <a:r>
              <a:t>Use this layout for document slides when you need space for a long heading and big content area</a:t>
            </a:r>
          </a:p>
        </p:txBody>
      </p:sp>
      <p:sp>
        <p:nvSpPr>
          <p:cNvPr id="67" name="Body Level One…"/>
          <p:cNvSpPr txBox="1"/>
          <p:nvPr>
            <p:ph type="body" idx="1" hasCustomPrompt="1"/>
          </p:nvPr>
        </p:nvSpPr>
        <p:spPr>
          <a:xfrm>
            <a:off x="479425" y="1844675"/>
            <a:ext cx="11233150" cy="4392613"/>
          </a:xfrm>
          <a:prstGeom prst="rect">
            <a:avLst/>
          </a:prstGeom>
        </p:spPr>
        <p:txBody>
          <a:bodyPr>
            <a:normAutofit fontScale="100000" lnSpcReduction="0"/>
          </a:bodyPr>
          <a:lstStyle/>
          <a:p>
            <a:pPr/>
            <a:r>
              <a:t>For heading, use Ericsson Hilda in bold. For copy and bullets, use Ericsson Hilda.</a:t>
            </a:r>
          </a:p>
          <a:p>
            <a:pPr lvl="1"/>
            <a:r>
              <a:t/>
            </a:r>
          </a:p>
          <a:p>
            <a:pPr lvl="2"/>
            <a:r>
              <a:t/>
            </a:r>
          </a:p>
          <a:p>
            <a:pPr lvl="3"/>
            <a:r>
              <a:t/>
            </a:r>
          </a:p>
          <a:p>
            <a:pPr lvl="4"/>
            <a:r>
              <a:t/>
            </a:r>
          </a:p>
        </p:txBody>
      </p:sp>
      <p:sp>
        <p:nvSpPr>
          <p:cNvPr id="6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ck Title and 1 column">
    <p:bg>
      <p:bgPr>
        <a:solidFill>
          <a:srgbClr val="181818"/>
        </a:solidFill>
      </p:bgPr>
    </p:bg>
    <p:spTree>
      <p:nvGrpSpPr>
        <p:cNvPr id="1" name=""/>
        <p:cNvGrpSpPr/>
        <p:nvPr/>
      </p:nvGrpSpPr>
      <p:grpSpPr>
        <a:xfrm>
          <a:off x="0" y="0"/>
          <a:ext cx="0" cy="0"/>
          <a:chOff x="0" y="0"/>
          <a:chExt cx="0" cy="0"/>
        </a:xfrm>
      </p:grpSpPr>
      <p:sp>
        <p:nvSpPr>
          <p:cNvPr id="75" name="Background"/>
          <p:cNvSpPr/>
          <p:nvPr/>
        </p:nvSpPr>
        <p:spPr>
          <a:xfrm>
            <a:off x="0" y="0"/>
            <a:ext cx="12192000" cy="6858000"/>
          </a:xfrm>
          <a:prstGeom prst="rect">
            <a:avLst/>
          </a:prstGeom>
          <a:solidFill>
            <a:srgbClr val="181818">
              <a:alpha val="0"/>
            </a:srgbClr>
          </a:solidFill>
          <a:ln w="12700">
            <a:miter lim="400000"/>
          </a:ln>
        </p:spPr>
        <p:txBody>
          <a:bodyPr lIns="36000" tIns="36000" rIns="36000" bIns="36000"/>
          <a:lstStyle/>
          <a:p>
            <a:pPr>
              <a:spcBef>
                <a:spcPts val="800"/>
              </a:spcBef>
            </a:pPr>
          </a:p>
        </p:txBody>
      </p:sp>
      <p:pic>
        <p:nvPicPr>
          <p:cNvPr id="76" name="Logo" descr="Logo"/>
          <p:cNvPicPr>
            <a:picLocks noChangeAspect="1"/>
          </p:cNvPicPr>
          <p:nvPr/>
        </p:nvPicPr>
        <p:blipFill>
          <a:blip r:embed="rId2">
            <a:extLst/>
          </a:blip>
          <a:stretch>
            <a:fillRect/>
          </a:stretch>
        </p:blipFill>
        <p:spPr>
          <a:xfrm>
            <a:off x="11379841" y="429420"/>
            <a:ext cx="482229" cy="482440"/>
          </a:xfrm>
          <a:prstGeom prst="rect">
            <a:avLst/>
          </a:prstGeom>
          <a:ln w="12700">
            <a:miter lim="400000"/>
          </a:ln>
        </p:spPr>
      </p:pic>
      <p:sp>
        <p:nvSpPr>
          <p:cNvPr id="77" name="Use this layout for document slides when you need space for a long heading and big content area"/>
          <p:cNvSpPr txBox="1"/>
          <p:nvPr>
            <p:ph type="title" hasCustomPrompt="1"/>
          </p:nvPr>
        </p:nvSpPr>
        <p:spPr>
          <a:xfrm>
            <a:off x="479425" y="476250"/>
            <a:ext cx="10521950" cy="1081088"/>
          </a:xfrm>
          <a:prstGeom prst="rect">
            <a:avLst/>
          </a:prstGeom>
        </p:spPr>
        <p:txBody>
          <a:bodyPr>
            <a:normAutofit fontScale="100000" lnSpcReduction="0"/>
          </a:bodyPr>
          <a:lstStyle>
            <a:lvl1pPr>
              <a:defRPr>
                <a:solidFill>
                  <a:srgbClr val="FFFFFF"/>
                </a:solidFill>
              </a:defRPr>
            </a:lvl1pPr>
          </a:lstStyle>
          <a:p>
            <a:pPr/>
            <a:r>
              <a:t>Use this layout for document slides when you need space for a long heading and big content area</a:t>
            </a:r>
          </a:p>
        </p:txBody>
      </p:sp>
      <p:sp>
        <p:nvSpPr>
          <p:cNvPr id="78" name="Body Level One…"/>
          <p:cNvSpPr txBox="1"/>
          <p:nvPr>
            <p:ph type="body" idx="1" hasCustomPrompt="1"/>
          </p:nvPr>
        </p:nvSpPr>
        <p:spPr>
          <a:xfrm>
            <a:off x="479425" y="1844675"/>
            <a:ext cx="11233150" cy="4392613"/>
          </a:xfrm>
          <a:prstGeom prst="rect">
            <a:avLst/>
          </a:prstGeom>
        </p:spPr>
        <p:txBody>
          <a:bodyPr>
            <a:normAutofit fontScale="100000" lnSpcReduction="0"/>
          </a:bodyPr>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a:r>
              <a:t>For heading, use Ericsson Hilda in bold. For copy and bullets, use Ericsson Hilda.</a:t>
            </a:r>
          </a:p>
          <a:p>
            <a:pPr lvl="1"/>
            <a:r>
              <a:t/>
            </a:r>
          </a:p>
          <a:p>
            <a:pPr lvl="2"/>
            <a:r>
              <a:t/>
            </a:r>
          </a:p>
          <a:p>
            <a:pPr lvl="3"/>
            <a:r>
              <a:t/>
            </a:r>
          </a:p>
          <a:p>
            <a:pPr lvl="4"/>
            <a:r>
              <a:t/>
            </a:r>
          </a:p>
        </p:txBody>
      </p:sp>
      <p:sp>
        <p:nvSpPr>
          <p:cNvPr id="7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and 1 smaller column">
    <p:spTree>
      <p:nvGrpSpPr>
        <p:cNvPr id="1" name=""/>
        <p:cNvGrpSpPr/>
        <p:nvPr/>
      </p:nvGrpSpPr>
      <p:grpSpPr>
        <a:xfrm>
          <a:off x="0" y="0"/>
          <a:ext cx="0" cy="0"/>
          <a:chOff x="0" y="0"/>
          <a:chExt cx="0" cy="0"/>
        </a:xfrm>
      </p:grpSpPr>
      <p:pic>
        <p:nvPicPr>
          <p:cNvPr id="86" name="Logo" descr="Logo"/>
          <p:cNvPicPr>
            <a:picLocks noChangeAspect="1"/>
          </p:cNvPicPr>
          <p:nvPr/>
        </p:nvPicPr>
        <p:blipFill>
          <a:blip r:embed="rId2">
            <a:extLst/>
          </a:blip>
          <a:stretch>
            <a:fillRect/>
          </a:stretch>
        </p:blipFill>
        <p:spPr>
          <a:xfrm>
            <a:off x="11379841" y="429420"/>
            <a:ext cx="482229" cy="482440"/>
          </a:xfrm>
          <a:prstGeom prst="rect">
            <a:avLst/>
          </a:prstGeom>
          <a:ln w="12700">
            <a:miter lim="400000"/>
          </a:ln>
        </p:spPr>
      </p:pic>
      <p:sp>
        <p:nvSpPr>
          <p:cNvPr id="87" name="Use this layout for presentations using short and crisp headings"/>
          <p:cNvSpPr txBox="1"/>
          <p:nvPr>
            <p:ph type="title" hasCustomPrompt="1"/>
          </p:nvPr>
        </p:nvSpPr>
        <p:spPr>
          <a:xfrm>
            <a:off x="479425" y="476250"/>
            <a:ext cx="8353426" cy="1081088"/>
          </a:xfrm>
          <a:prstGeom prst="rect">
            <a:avLst/>
          </a:prstGeom>
        </p:spPr>
        <p:txBody>
          <a:bodyPr>
            <a:normAutofit fontScale="100000" lnSpcReduction="0"/>
          </a:bodyPr>
          <a:lstStyle/>
          <a:p>
            <a:pPr/>
            <a:r>
              <a:t>Use this layout for presentations using short and crisp headings</a:t>
            </a:r>
          </a:p>
        </p:txBody>
      </p:sp>
      <p:sp>
        <p:nvSpPr>
          <p:cNvPr id="88" name="Body Level One…"/>
          <p:cNvSpPr txBox="1"/>
          <p:nvPr>
            <p:ph type="body" idx="1" hasCustomPrompt="1"/>
          </p:nvPr>
        </p:nvSpPr>
        <p:spPr>
          <a:xfrm>
            <a:off x="479425" y="1844675"/>
            <a:ext cx="8353426" cy="4392613"/>
          </a:xfrm>
          <a:prstGeom prst="rect">
            <a:avLst/>
          </a:prstGeom>
        </p:spPr>
        <p:txBody>
          <a:bodyPr>
            <a:normAutofit fontScale="100000" lnSpcReduction="0"/>
          </a:bodyPr>
          <a:lstStyle/>
          <a:p>
            <a:pPr/>
            <a:r>
              <a:t>For heading, use Ericsson Hilda in bold. For copy and bullets, use Ericsson Hilda.</a:t>
            </a:r>
          </a:p>
          <a:p>
            <a:pPr lvl="1"/>
            <a:r>
              <a:t/>
            </a:r>
          </a:p>
          <a:p>
            <a:pPr lvl="2"/>
            <a:r>
              <a:t/>
            </a:r>
          </a:p>
          <a:p>
            <a:pPr lvl="3"/>
            <a:r>
              <a:t/>
            </a:r>
          </a:p>
          <a:p>
            <a:pPr lvl="4"/>
            <a:r>
              <a:t/>
            </a:r>
          </a:p>
        </p:txBody>
      </p:sp>
      <p:sp>
        <p:nvSpPr>
          <p:cNvPr id="8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ck Title and 1 smaller column">
    <p:bg>
      <p:bgPr>
        <a:solidFill>
          <a:srgbClr val="181818"/>
        </a:solidFill>
      </p:bgPr>
    </p:bg>
    <p:spTree>
      <p:nvGrpSpPr>
        <p:cNvPr id="1" name=""/>
        <p:cNvGrpSpPr/>
        <p:nvPr/>
      </p:nvGrpSpPr>
      <p:grpSpPr>
        <a:xfrm>
          <a:off x="0" y="0"/>
          <a:ext cx="0" cy="0"/>
          <a:chOff x="0" y="0"/>
          <a:chExt cx="0" cy="0"/>
        </a:xfrm>
      </p:grpSpPr>
      <p:sp>
        <p:nvSpPr>
          <p:cNvPr id="96" name="Background"/>
          <p:cNvSpPr/>
          <p:nvPr/>
        </p:nvSpPr>
        <p:spPr>
          <a:xfrm>
            <a:off x="0" y="0"/>
            <a:ext cx="12192000" cy="6858000"/>
          </a:xfrm>
          <a:prstGeom prst="rect">
            <a:avLst/>
          </a:prstGeom>
          <a:solidFill>
            <a:srgbClr val="181818">
              <a:alpha val="0"/>
            </a:srgbClr>
          </a:solidFill>
          <a:ln w="12700">
            <a:miter lim="400000"/>
          </a:ln>
        </p:spPr>
        <p:txBody>
          <a:bodyPr lIns="36000" tIns="36000" rIns="36000" bIns="36000"/>
          <a:lstStyle/>
          <a:p>
            <a:pPr>
              <a:spcBef>
                <a:spcPts val="800"/>
              </a:spcBef>
            </a:pPr>
          </a:p>
        </p:txBody>
      </p:sp>
      <p:pic>
        <p:nvPicPr>
          <p:cNvPr id="97" name="Logo" descr="Logo"/>
          <p:cNvPicPr>
            <a:picLocks noChangeAspect="1"/>
          </p:cNvPicPr>
          <p:nvPr/>
        </p:nvPicPr>
        <p:blipFill>
          <a:blip r:embed="rId2">
            <a:extLst/>
          </a:blip>
          <a:stretch>
            <a:fillRect/>
          </a:stretch>
        </p:blipFill>
        <p:spPr>
          <a:xfrm>
            <a:off x="11379841" y="429420"/>
            <a:ext cx="482229" cy="482440"/>
          </a:xfrm>
          <a:prstGeom prst="rect">
            <a:avLst/>
          </a:prstGeom>
          <a:ln w="12700">
            <a:miter lim="400000"/>
          </a:ln>
        </p:spPr>
      </p:pic>
      <p:sp>
        <p:nvSpPr>
          <p:cNvPr id="98" name="Use this layout for presentations using short and crisp headings"/>
          <p:cNvSpPr txBox="1"/>
          <p:nvPr>
            <p:ph type="title" hasCustomPrompt="1"/>
          </p:nvPr>
        </p:nvSpPr>
        <p:spPr>
          <a:xfrm>
            <a:off x="479425" y="476250"/>
            <a:ext cx="8353426" cy="1081088"/>
          </a:xfrm>
          <a:prstGeom prst="rect">
            <a:avLst/>
          </a:prstGeom>
        </p:spPr>
        <p:txBody>
          <a:bodyPr>
            <a:normAutofit fontScale="100000" lnSpcReduction="0"/>
          </a:bodyPr>
          <a:lstStyle>
            <a:lvl1pPr>
              <a:defRPr>
                <a:solidFill>
                  <a:srgbClr val="FFFFFF"/>
                </a:solidFill>
              </a:defRPr>
            </a:lvl1pPr>
          </a:lstStyle>
          <a:p>
            <a:pPr/>
            <a:r>
              <a:t>Use this layout for presentations using short and crisp headings</a:t>
            </a:r>
          </a:p>
        </p:txBody>
      </p:sp>
      <p:sp>
        <p:nvSpPr>
          <p:cNvPr id="99" name="Body Level One…"/>
          <p:cNvSpPr txBox="1"/>
          <p:nvPr>
            <p:ph type="body" idx="1" hasCustomPrompt="1"/>
          </p:nvPr>
        </p:nvSpPr>
        <p:spPr>
          <a:xfrm>
            <a:off x="479425" y="1844675"/>
            <a:ext cx="8353426" cy="4392613"/>
          </a:xfrm>
          <a:prstGeom prst="rect">
            <a:avLst/>
          </a:prstGeom>
        </p:spPr>
        <p:txBody>
          <a:bodyPr>
            <a:normAutofit fontScale="100000" lnSpcReduction="0"/>
          </a:bodyPr>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a:r>
              <a:t>For heading, use Ericsson Hilda in bold. For copy and bullets, use Ericsson Hilda.</a:t>
            </a:r>
          </a:p>
          <a:p>
            <a:pPr lvl="1"/>
            <a:r>
              <a:t/>
            </a:r>
          </a:p>
          <a:p>
            <a:pPr lvl="2"/>
            <a:r>
              <a:t/>
            </a:r>
          </a:p>
          <a:p>
            <a:pPr lvl="3"/>
            <a:r>
              <a:t/>
            </a:r>
          </a:p>
          <a:p>
            <a:pPr lvl="4"/>
            <a:r>
              <a:t/>
            </a:r>
          </a:p>
        </p:txBody>
      </p:sp>
      <p:sp>
        <p:nvSpPr>
          <p:cNvPr id="10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and 2 columns">
    <p:spTree>
      <p:nvGrpSpPr>
        <p:cNvPr id="1" name=""/>
        <p:cNvGrpSpPr/>
        <p:nvPr/>
      </p:nvGrpSpPr>
      <p:grpSpPr>
        <a:xfrm>
          <a:off x="0" y="0"/>
          <a:ext cx="0" cy="0"/>
          <a:chOff x="0" y="0"/>
          <a:chExt cx="0" cy="0"/>
        </a:xfrm>
      </p:grpSpPr>
      <p:pic>
        <p:nvPicPr>
          <p:cNvPr id="107" name="Logo" descr="Logo"/>
          <p:cNvPicPr>
            <a:picLocks noChangeAspect="1"/>
          </p:cNvPicPr>
          <p:nvPr/>
        </p:nvPicPr>
        <p:blipFill>
          <a:blip r:embed="rId2">
            <a:extLst/>
          </a:blip>
          <a:stretch>
            <a:fillRect/>
          </a:stretch>
        </p:blipFill>
        <p:spPr>
          <a:xfrm>
            <a:off x="11379841" y="429420"/>
            <a:ext cx="482229" cy="482440"/>
          </a:xfrm>
          <a:prstGeom prst="rect">
            <a:avLst/>
          </a:prstGeom>
          <a:ln w="12700">
            <a:miter lim="400000"/>
          </a:ln>
        </p:spPr>
      </p:pic>
      <p:sp>
        <p:nvSpPr>
          <p:cNvPr id="108" name="Slide title, Ericsson Hilda Light 40pt, Ericsson Black, max 2-lines"/>
          <p:cNvSpPr txBox="1"/>
          <p:nvPr>
            <p:ph type="title" hasCustomPrompt="1"/>
          </p:nvPr>
        </p:nvSpPr>
        <p:spPr>
          <a:xfrm>
            <a:off x="479425" y="476250"/>
            <a:ext cx="8353426" cy="1081088"/>
          </a:xfrm>
          <a:prstGeom prst="rect">
            <a:avLst/>
          </a:prstGeom>
        </p:spPr>
        <p:txBody>
          <a:bodyPr>
            <a:normAutofit fontScale="100000" lnSpcReduction="0"/>
          </a:bodyPr>
          <a:lstStyle/>
          <a:p>
            <a:pPr/>
            <a:r>
              <a:t>Slide title, Ericsson Hilda Light 40pt, Ericsson Black, max 2-lines</a:t>
            </a:r>
          </a:p>
        </p:txBody>
      </p:sp>
      <p:sp>
        <p:nvSpPr>
          <p:cNvPr id="109" name="Body Level One…"/>
          <p:cNvSpPr txBox="1"/>
          <p:nvPr>
            <p:ph type="body" sz="half" idx="1" hasCustomPrompt="1"/>
          </p:nvPr>
        </p:nvSpPr>
        <p:spPr>
          <a:xfrm>
            <a:off x="479425" y="1844675"/>
            <a:ext cx="5472113" cy="4392613"/>
          </a:xfrm>
          <a:prstGeom prst="rect">
            <a:avLst/>
          </a:prstGeom>
        </p:spPr>
        <p:txBody>
          <a:bodyPr>
            <a:normAutofit fontScale="100000" lnSpcReduction="0"/>
          </a:bodyPr>
          <a:lstStyle/>
          <a:p>
            <a:pPr/>
            <a:r>
              <a:t>For heading, use Ericsson Hilda in bold. For copy and bullets, use Ericsson Hilda.</a:t>
            </a:r>
          </a:p>
          <a:p>
            <a:pPr lvl="1"/>
            <a:r>
              <a:t/>
            </a:r>
          </a:p>
          <a:p>
            <a:pPr lvl="2"/>
            <a:r>
              <a:t/>
            </a:r>
          </a:p>
          <a:p>
            <a:pPr lvl="3"/>
            <a:r>
              <a:t/>
            </a:r>
          </a:p>
          <a:p>
            <a:pPr lvl="4"/>
            <a:r>
              <a:t/>
            </a:r>
          </a:p>
        </p:txBody>
      </p:sp>
      <p:sp>
        <p:nvSpPr>
          <p:cNvPr id="11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ck Title and 2 columns">
    <p:bg>
      <p:bgPr>
        <a:solidFill>
          <a:srgbClr val="181818"/>
        </a:solidFill>
      </p:bgPr>
    </p:bg>
    <p:spTree>
      <p:nvGrpSpPr>
        <p:cNvPr id="1" name=""/>
        <p:cNvGrpSpPr/>
        <p:nvPr/>
      </p:nvGrpSpPr>
      <p:grpSpPr>
        <a:xfrm>
          <a:off x="0" y="0"/>
          <a:ext cx="0" cy="0"/>
          <a:chOff x="0" y="0"/>
          <a:chExt cx="0" cy="0"/>
        </a:xfrm>
      </p:grpSpPr>
      <p:sp>
        <p:nvSpPr>
          <p:cNvPr id="117" name="Background"/>
          <p:cNvSpPr/>
          <p:nvPr/>
        </p:nvSpPr>
        <p:spPr>
          <a:xfrm>
            <a:off x="0" y="0"/>
            <a:ext cx="12192000" cy="6858000"/>
          </a:xfrm>
          <a:prstGeom prst="rect">
            <a:avLst/>
          </a:prstGeom>
          <a:solidFill>
            <a:srgbClr val="181818">
              <a:alpha val="0"/>
            </a:srgbClr>
          </a:solidFill>
          <a:ln w="12700">
            <a:miter lim="400000"/>
          </a:ln>
        </p:spPr>
        <p:txBody>
          <a:bodyPr lIns="36000" tIns="36000" rIns="36000" bIns="36000"/>
          <a:lstStyle/>
          <a:p>
            <a:pPr>
              <a:spcBef>
                <a:spcPts val="800"/>
              </a:spcBef>
            </a:pPr>
          </a:p>
        </p:txBody>
      </p:sp>
      <p:pic>
        <p:nvPicPr>
          <p:cNvPr id="118" name="Logo" descr="Logo"/>
          <p:cNvPicPr>
            <a:picLocks noChangeAspect="1"/>
          </p:cNvPicPr>
          <p:nvPr/>
        </p:nvPicPr>
        <p:blipFill>
          <a:blip r:embed="rId2">
            <a:extLst/>
          </a:blip>
          <a:stretch>
            <a:fillRect/>
          </a:stretch>
        </p:blipFill>
        <p:spPr>
          <a:xfrm>
            <a:off x="11379841" y="429420"/>
            <a:ext cx="482229" cy="482440"/>
          </a:xfrm>
          <a:prstGeom prst="rect">
            <a:avLst/>
          </a:prstGeom>
          <a:ln w="12700">
            <a:miter lim="400000"/>
          </a:ln>
        </p:spPr>
      </p:pic>
      <p:sp>
        <p:nvSpPr>
          <p:cNvPr id="119" name="Slide title, Ericsson Hilda Light 40pt, Ericsson Black, max 2-lines"/>
          <p:cNvSpPr txBox="1"/>
          <p:nvPr>
            <p:ph type="title" hasCustomPrompt="1"/>
          </p:nvPr>
        </p:nvSpPr>
        <p:spPr>
          <a:xfrm>
            <a:off x="479425" y="476250"/>
            <a:ext cx="8353426" cy="1081088"/>
          </a:xfrm>
          <a:prstGeom prst="rect">
            <a:avLst/>
          </a:prstGeom>
        </p:spPr>
        <p:txBody>
          <a:bodyPr>
            <a:normAutofit fontScale="100000" lnSpcReduction="0"/>
          </a:bodyPr>
          <a:lstStyle>
            <a:lvl1pPr>
              <a:defRPr>
                <a:solidFill>
                  <a:srgbClr val="FFFFFF"/>
                </a:solidFill>
              </a:defRPr>
            </a:lvl1pPr>
          </a:lstStyle>
          <a:p>
            <a:pPr/>
            <a:r>
              <a:t>Slide title, Ericsson Hilda Light 40pt, Ericsson Black, max 2-lines</a:t>
            </a:r>
          </a:p>
        </p:txBody>
      </p:sp>
      <p:sp>
        <p:nvSpPr>
          <p:cNvPr id="120" name="Body Level One…"/>
          <p:cNvSpPr txBox="1"/>
          <p:nvPr>
            <p:ph type="body" sz="half" idx="1" hasCustomPrompt="1"/>
          </p:nvPr>
        </p:nvSpPr>
        <p:spPr>
          <a:xfrm>
            <a:off x="479425" y="1844675"/>
            <a:ext cx="5472113" cy="4392613"/>
          </a:xfrm>
          <a:prstGeom prst="rect">
            <a:avLst/>
          </a:prstGeom>
        </p:spPr>
        <p:txBody>
          <a:bodyPr>
            <a:normAutofit fontScale="100000" lnSpcReduction="0"/>
          </a:bodyPr>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a:r>
              <a:t>For heading, use Ericsson Hilda in bold. For copy and bullets, use Ericsson Hilda.</a:t>
            </a:r>
          </a:p>
          <a:p>
            <a:pPr lvl="1"/>
            <a:r>
              <a:t/>
            </a:r>
          </a:p>
          <a:p>
            <a:pPr lvl="2"/>
            <a:r>
              <a:t/>
            </a:r>
          </a:p>
          <a:p>
            <a:pPr lvl="3"/>
            <a:r>
              <a:t/>
            </a:r>
          </a:p>
          <a:p>
            <a:pPr lvl="4"/>
            <a:r>
              <a:t/>
            </a:r>
          </a:p>
        </p:txBody>
      </p:sp>
      <p:sp>
        <p:nvSpPr>
          <p:cNvPr id="12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and 3 columns">
    <p:spTree>
      <p:nvGrpSpPr>
        <p:cNvPr id="1" name=""/>
        <p:cNvGrpSpPr/>
        <p:nvPr/>
      </p:nvGrpSpPr>
      <p:grpSpPr>
        <a:xfrm>
          <a:off x="0" y="0"/>
          <a:ext cx="0" cy="0"/>
          <a:chOff x="0" y="0"/>
          <a:chExt cx="0" cy="0"/>
        </a:xfrm>
      </p:grpSpPr>
      <p:pic>
        <p:nvPicPr>
          <p:cNvPr id="128" name="Logo" descr="Logo"/>
          <p:cNvPicPr>
            <a:picLocks noChangeAspect="1"/>
          </p:cNvPicPr>
          <p:nvPr/>
        </p:nvPicPr>
        <p:blipFill>
          <a:blip r:embed="rId2">
            <a:extLst/>
          </a:blip>
          <a:stretch>
            <a:fillRect/>
          </a:stretch>
        </p:blipFill>
        <p:spPr>
          <a:xfrm>
            <a:off x="11379841" y="429420"/>
            <a:ext cx="482229" cy="482440"/>
          </a:xfrm>
          <a:prstGeom prst="rect">
            <a:avLst/>
          </a:prstGeom>
          <a:ln w="12700">
            <a:miter lim="400000"/>
          </a:ln>
        </p:spPr>
      </p:pic>
      <p:sp>
        <p:nvSpPr>
          <p:cNvPr id="129" name="Slide title, Ericsson Hilda Light 40pt, Ericsson Black, max 2-lines"/>
          <p:cNvSpPr txBox="1"/>
          <p:nvPr>
            <p:ph type="title" hasCustomPrompt="1"/>
          </p:nvPr>
        </p:nvSpPr>
        <p:spPr>
          <a:xfrm>
            <a:off x="479425" y="476250"/>
            <a:ext cx="8353426" cy="1081088"/>
          </a:xfrm>
          <a:prstGeom prst="rect">
            <a:avLst/>
          </a:prstGeom>
        </p:spPr>
        <p:txBody>
          <a:bodyPr>
            <a:normAutofit fontScale="100000" lnSpcReduction="0"/>
          </a:bodyPr>
          <a:lstStyle/>
          <a:p>
            <a:pPr/>
            <a:r>
              <a:t>Slide title, Ericsson Hilda Light 40pt, Ericsson Black, max 2-lines</a:t>
            </a:r>
          </a:p>
        </p:txBody>
      </p:sp>
      <p:sp>
        <p:nvSpPr>
          <p:cNvPr id="130" name="Body Level One…"/>
          <p:cNvSpPr txBox="1"/>
          <p:nvPr>
            <p:ph type="body" sz="quarter" idx="1" hasCustomPrompt="1"/>
          </p:nvPr>
        </p:nvSpPr>
        <p:spPr>
          <a:xfrm>
            <a:off x="481051" y="1846579"/>
            <a:ext cx="3528002" cy="4392614"/>
          </a:xfrm>
          <a:prstGeom prst="rect">
            <a:avLst/>
          </a:prstGeom>
        </p:spPr>
        <p:txBody>
          <a:bodyPr>
            <a:normAutofit fontScale="100000" lnSpcReduction="0"/>
          </a:bodyPr>
          <a:lstStyle/>
          <a:p>
            <a:pPr/>
            <a:r>
              <a:t>For heading, use Ericsson Hilda in bold. For copy and bullets, use Ericsson Hilda.</a:t>
            </a:r>
          </a:p>
          <a:p>
            <a:pPr lvl="1"/>
            <a:r>
              <a:t/>
            </a:r>
          </a:p>
          <a:p>
            <a:pPr lvl="2"/>
            <a:r>
              <a:t/>
            </a:r>
          </a:p>
          <a:p>
            <a:pPr lvl="3"/>
            <a:r>
              <a:t/>
            </a:r>
          </a:p>
          <a:p>
            <a:pPr lvl="4"/>
            <a:r>
              <a:t/>
            </a:r>
          </a:p>
        </p:txBody>
      </p:sp>
      <p:sp>
        <p:nvSpPr>
          <p:cNvPr id="1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ck Title and 3 columns">
    <p:bg>
      <p:bgPr>
        <a:solidFill>
          <a:srgbClr val="181818"/>
        </a:solidFill>
      </p:bgPr>
    </p:bg>
    <p:spTree>
      <p:nvGrpSpPr>
        <p:cNvPr id="1" name=""/>
        <p:cNvGrpSpPr/>
        <p:nvPr/>
      </p:nvGrpSpPr>
      <p:grpSpPr>
        <a:xfrm>
          <a:off x="0" y="0"/>
          <a:ext cx="0" cy="0"/>
          <a:chOff x="0" y="0"/>
          <a:chExt cx="0" cy="0"/>
        </a:xfrm>
      </p:grpSpPr>
      <p:pic>
        <p:nvPicPr>
          <p:cNvPr id="138" name="Logo" descr="Logo"/>
          <p:cNvPicPr>
            <a:picLocks noChangeAspect="1"/>
          </p:cNvPicPr>
          <p:nvPr/>
        </p:nvPicPr>
        <p:blipFill>
          <a:blip r:embed="rId2">
            <a:extLst/>
          </a:blip>
          <a:stretch>
            <a:fillRect/>
          </a:stretch>
        </p:blipFill>
        <p:spPr>
          <a:xfrm>
            <a:off x="11379841" y="429420"/>
            <a:ext cx="482229" cy="482440"/>
          </a:xfrm>
          <a:prstGeom prst="rect">
            <a:avLst/>
          </a:prstGeom>
          <a:ln w="12700">
            <a:miter lim="400000"/>
          </a:ln>
        </p:spPr>
      </p:pic>
      <p:sp>
        <p:nvSpPr>
          <p:cNvPr id="139" name="Background"/>
          <p:cNvSpPr/>
          <p:nvPr/>
        </p:nvSpPr>
        <p:spPr>
          <a:xfrm>
            <a:off x="0" y="0"/>
            <a:ext cx="12192000" cy="6858000"/>
          </a:xfrm>
          <a:prstGeom prst="rect">
            <a:avLst/>
          </a:prstGeom>
          <a:solidFill>
            <a:srgbClr val="181818">
              <a:alpha val="0"/>
            </a:srgbClr>
          </a:solidFill>
          <a:ln w="12700">
            <a:miter lim="400000"/>
          </a:ln>
        </p:spPr>
        <p:txBody>
          <a:bodyPr lIns="36000" tIns="36000" rIns="36000" bIns="36000"/>
          <a:lstStyle/>
          <a:p>
            <a:pPr>
              <a:spcBef>
                <a:spcPts val="800"/>
              </a:spcBef>
            </a:pPr>
          </a:p>
        </p:txBody>
      </p:sp>
      <p:pic>
        <p:nvPicPr>
          <p:cNvPr id="140" name="Logo" descr="Logo"/>
          <p:cNvPicPr>
            <a:picLocks noChangeAspect="1"/>
          </p:cNvPicPr>
          <p:nvPr/>
        </p:nvPicPr>
        <p:blipFill>
          <a:blip r:embed="rId3">
            <a:extLst/>
          </a:blip>
          <a:stretch>
            <a:fillRect/>
          </a:stretch>
        </p:blipFill>
        <p:spPr>
          <a:xfrm>
            <a:off x="11379841" y="429420"/>
            <a:ext cx="482229" cy="482440"/>
          </a:xfrm>
          <a:prstGeom prst="rect">
            <a:avLst/>
          </a:prstGeom>
          <a:ln w="12700">
            <a:miter lim="400000"/>
          </a:ln>
        </p:spPr>
      </p:pic>
      <p:sp>
        <p:nvSpPr>
          <p:cNvPr id="141" name="Slide title, Ericsson Hilda Light 40pt, Ericsson Black, max 2-lines"/>
          <p:cNvSpPr txBox="1"/>
          <p:nvPr>
            <p:ph type="title" hasCustomPrompt="1"/>
          </p:nvPr>
        </p:nvSpPr>
        <p:spPr>
          <a:xfrm>
            <a:off x="479425" y="476250"/>
            <a:ext cx="8353426" cy="1081088"/>
          </a:xfrm>
          <a:prstGeom prst="rect">
            <a:avLst/>
          </a:prstGeom>
        </p:spPr>
        <p:txBody>
          <a:bodyPr>
            <a:normAutofit fontScale="100000" lnSpcReduction="0"/>
          </a:bodyPr>
          <a:lstStyle>
            <a:lvl1pPr>
              <a:defRPr>
                <a:solidFill>
                  <a:srgbClr val="FFFFFF"/>
                </a:solidFill>
              </a:defRPr>
            </a:lvl1pPr>
          </a:lstStyle>
          <a:p>
            <a:pPr/>
            <a:r>
              <a:t>Slide title, Ericsson Hilda Light 40pt, Ericsson Black, max 2-lines</a:t>
            </a:r>
          </a:p>
        </p:txBody>
      </p:sp>
      <p:sp>
        <p:nvSpPr>
          <p:cNvPr id="142" name="Body Level One…"/>
          <p:cNvSpPr txBox="1"/>
          <p:nvPr>
            <p:ph type="body" sz="quarter" idx="1" hasCustomPrompt="1"/>
          </p:nvPr>
        </p:nvSpPr>
        <p:spPr>
          <a:xfrm>
            <a:off x="481051" y="1846579"/>
            <a:ext cx="3528002" cy="4392614"/>
          </a:xfrm>
          <a:prstGeom prst="rect">
            <a:avLst/>
          </a:prstGeom>
        </p:spPr>
        <p:txBody>
          <a:bodyPr>
            <a:normAutofit fontScale="100000" lnSpcReduction="0"/>
          </a:bodyPr>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a:r>
              <a:t>For heading, use Ericsson Hilda in bold. For copy and bullets, use Ericsson Hilda.</a:t>
            </a:r>
          </a:p>
          <a:p>
            <a:pPr lvl="1"/>
            <a:r>
              <a:t/>
            </a:r>
          </a:p>
          <a:p>
            <a:pPr lvl="2"/>
            <a:r>
              <a:t/>
            </a:r>
          </a:p>
          <a:p>
            <a:pPr lvl="3"/>
            <a:r>
              <a:t/>
            </a:r>
          </a:p>
          <a:p>
            <a:pPr lvl="4"/>
            <a:r>
              <a:t/>
            </a:r>
          </a:p>
        </p:txBody>
      </p:sp>
      <p:sp>
        <p:nvSpPr>
          <p:cNvPr id="14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and 4 columns">
    <p:spTree>
      <p:nvGrpSpPr>
        <p:cNvPr id="1" name=""/>
        <p:cNvGrpSpPr/>
        <p:nvPr/>
      </p:nvGrpSpPr>
      <p:grpSpPr>
        <a:xfrm>
          <a:off x="0" y="0"/>
          <a:ext cx="0" cy="0"/>
          <a:chOff x="0" y="0"/>
          <a:chExt cx="0" cy="0"/>
        </a:xfrm>
      </p:grpSpPr>
      <p:pic>
        <p:nvPicPr>
          <p:cNvPr id="150" name="Logo" descr="Logo"/>
          <p:cNvPicPr>
            <a:picLocks noChangeAspect="1"/>
          </p:cNvPicPr>
          <p:nvPr/>
        </p:nvPicPr>
        <p:blipFill>
          <a:blip r:embed="rId2">
            <a:extLst/>
          </a:blip>
          <a:stretch>
            <a:fillRect/>
          </a:stretch>
        </p:blipFill>
        <p:spPr>
          <a:xfrm>
            <a:off x="11379841" y="429420"/>
            <a:ext cx="482229" cy="482440"/>
          </a:xfrm>
          <a:prstGeom prst="rect">
            <a:avLst/>
          </a:prstGeom>
          <a:ln w="12700">
            <a:miter lim="400000"/>
          </a:ln>
        </p:spPr>
      </p:pic>
      <p:sp>
        <p:nvSpPr>
          <p:cNvPr id="151" name="Slide title, Ericsson Hilda Light 40pt, Ericsson Black, max 2-lines"/>
          <p:cNvSpPr txBox="1"/>
          <p:nvPr>
            <p:ph type="title" hasCustomPrompt="1"/>
          </p:nvPr>
        </p:nvSpPr>
        <p:spPr>
          <a:xfrm>
            <a:off x="479425" y="476250"/>
            <a:ext cx="8353426" cy="1081088"/>
          </a:xfrm>
          <a:prstGeom prst="rect">
            <a:avLst/>
          </a:prstGeom>
        </p:spPr>
        <p:txBody>
          <a:bodyPr>
            <a:normAutofit fontScale="100000" lnSpcReduction="0"/>
          </a:bodyPr>
          <a:lstStyle/>
          <a:p>
            <a:pPr/>
            <a:r>
              <a:t>Slide title, Ericsson Hilda Light 40pt, Ericsson Black, max 2-lines</a:t>
            </a:r>
          </a:p>
        </p:txBody>
      </p:sp>
      <p:sp>
        <p:nvSpPr>
          <p:cNvPr id="152" name="Body Level One…"/>
          <p:cNvSpPr txBox="1"/>
          <p:nvPr>
            <p:ph type="body" sz="quarter" idx="1" hasCustomPrompt="1"/>
          </p:nvPr>
        </p:nvSpPr>
        <p:spPr>
          <a:xfrm>
            <a:off x="479425" y="1844674"/>
            <a:ext cx="2592389" cy="4392613"/>
          </a:xfrm>
          <a:prstGeom prst="rect">
            <a:avLst/>
          </a:prstGeom>
        </p:spPr>
        <p:txBody>
          <a:bodyPr>
            <a:normAutofit fontScale="100000" lnSpcReduction="0"/>
          </a:bodyPr>
          <a:lstStyle/>
          <a:p>
            <a:pPr/>
            <a:r>
              <a:t>For heading, use Ericsson Hilda in bold. For copy and bullets, use Ericsson Hilda.</a:t>
            </a:r>
          </a:p>
          <a:p>
            <a:pPr lvl="1"/>
            <a:r>
              <a:t/>
            </a:r>
          </a:p>
          <a:p>
            <a:pPr lvl="2"/>
            <a:r>
              <a:t/>
            </a:r>
          </a:p>
          <a:p>
            <a:pPr lvl="3"/>
            <a:r>
              <a:t/>
            </a:r>
          </a:p>
          <a:p>
            <a:pPr lvl="4"/>
            <a:r>
              <a:t/>
            </a:r>
          </a:p>
        </p:txBody>
      </p:sp>
      <p:sp>
        <p:nvSpPr>
          <p:cNvPr id="1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ck Title and 4 columns">
    <p:bg>
      <p:bgPr>
        <a:solidFill>
          <a:srgbClr val="181818"/>
        </a:solidFill>
      </p:bgPr>
    </p:bg>
    <p:spTree>
      <p:nvGrpSpPr>
        <p:cNvPr id="1" name=""/>
        <p:cNvGrpSpPr/>
        <p:nvPr/>
      </p:nvGrpSpPr>
      <p:grpSpPr>
        <a:xfrm>
          <a:off x="0" y="0"/>
          <a:ext cx="0" cy="0"/>
          <a:chOff x="0" y="0"/>
          <a:chExt cx="0" cy="0"/>
        </a:xfrm>
      </p:grpSpPr>
      <p:sp>
        <p:nvSpPr>
          <p:cNvPr id="160" name="Background"/>
          <p:cNvSpPr/>
          <p:nvPr/>
        </p:nvSpPr>
        <p:spPr>
          <a:xfrm>
            <a:off x="0" y="0"/>
            <a:ext cx="12192000" cy="6858000"/>
          </a:xfrm>
          <a:prstGeom prst="rect">
            <a:avLst/>
          </a:prstGeom>
          <a:solidFill>
            <a:srgbClr val="181818">
              <a:alpha val="0"/>
            </a:srgbClr>
          </a:solidFill>
          <a:ln w="12700">
            <a:miter lim="400000"/>
          </a:ln>
        </p:spPr>
        <p:txBody>
          <a:bodyPr lIns="36000" tIns="36000" rIns="36000" bIns="36000"/>
          <a:lstStyle/>
          <a:p>
            <a:pPr>
              <a:spcBef>
                <a:spcPts val="800"/>
              </a:spcBef>
            </a:pPr>
          </a:p>
        </p:txBody>
      </p:sp>
      <p:pic>
        <p:nvPicPr>
          <p:cNvPr id="161" name="Logo" descr="Logo"/>
          <p:cNvPicPr>
            <a:picLocks noChangeAspect="1"/>
          </p:cNvPicPr>
          <p:nvPr/>
        </p:nvPicPr>
        <p:blipFill>
          <a:blip r:embed="rId2">
            <a:extLst/>
          </a:blip>
          <a:stretch>
            <a:fillRect/>
          </a:stretch>
        </p:blipFill>
        <p:spPr>
          <a:xfrm>
            <a:off x="11379841" y="429420"/>
            <a:ext cx="482229" cy="482440"/>
          </a:xfrm>
          <a:prstGeom prst="rect">
            <a:avLst/>
          </a:prstGeom>
          <a:ln w="12700">
            <a:miter lim="400000"/>
          </a:ln>
        </p:spPr>
      </p:pic>
      <p:sp>
        <p:nvSpPr>
          <p:cNvPr id="162" name="Slide title, Ericsson Hilda Light 40pt, Ericsson Black, max 2-lines"/>
          <p:cNvSpPr txBox="1"/>
          <p:nvPr>
            <p:ph type="title" hasCustomPrompt="1"/>
          </p:nvPr>
        </p:nvSpPr>
        <p:spPr>
          <a:xfrm>
            <a:off x="479425" y="476250"/>
            <a:ext cx="8353426" cy="1081088"/>
          </a:xfrm>
          <a:prstGeom prst="rect">
            <a:avLst/>
          </a:prstGeom>
        </p:spPr>
        <p:txBody>
          <a:bodyPr>
            <a:normAutofit fontScale="100000" lnSpcReduction="0"/>
          </a:bodyPr>
          <a:lstStyle>
            <a:lvl1pPr>
              <a:defRPr>
                <a:solidFill>
                  <a:srgbClr val="FFFFFF"/>
                </a:solidFill>
              </a:defRPr>
            </a:lvl1pPr>
          </a:lstStyle>
          <a:p>
            <a:pPr/>
            <a:r>
              <a:t>Slide title, Ericsson Hilda Light 40pt, Ericsson Black, max 2-lines</a:t>
            </a:r>
          </a:p>
        </p:txBody>
      </p:sp>
      <p:sp>
        <p:nvSpPr>
          <p:cNvPr id="163" name="Body Level One…"/>
          <p:cNvSpPr txBox="1"/>
          <p:nvPr>
            <p:ph type="body" sz="quarter" idx="1" hasCustomPrompt="1"/>
          </p:nvPr>
        </p:nvSpPr>
        <p:spPr>
          <a:xfrm>
            <a:off x="479425" y="1844674"/>
            <a:ext cx="2592389" cy="4392613"/>
          </a:xfrm>
          <a:prstGeom prst="rect">
            <a:avLst/>
          </a:prstGeom>
        </p:spPr>
        <p:txBody>
          <a:bodyPr>
            <a:normAutofit fontScale="100000" lnSpcReduction="0"/>
          </a:bodyPr>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a:r>
              <a:t>For heading, use Ericsson Hilda in bold. For copy and bullets, use Ericsson Hilda.</a:t>
            </a:r>
          </a:p>
          <a:p>
            <a:pPr lvl="1"/>
            <a:r>
              <a:t/>
            </a:r>
          </a:p>
          <a:p>
            <a:pPr lvl="2"/>
            <a:r>
              <a:t/>
            </a:r>
          </a:p>
          <a:p>
            <a:pPr lvl="3"/>
            <a:r>
              <a:t/>
            </a:r>
          </a:p>
          <a:p>
            <a:pPr lvl="4"/>
            <a:r>
              <a:t/>
            </a:r>
          </a:p>
        </p:txBody>
      </p:sp>
      <p:sp>
        <p:nvSpPr>
          <p:cNvPr id="1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and 4 Content">
    <p:spTree>
      <p:nvGrpSpPr>
        <p:cNvPr id="1" name=""/>
        <p:cNvGrpSpPr/>
        <p:nvPr/>
      </p:nvGrpSpPr>
      <p:grpSpPr>
        <a:xfrm>
          <a:off x="0" y="0"/>
          <a:ext cx="0" cy="0"/>
          <a:chOff x="0" y="0"/>
          <a:chExt cx="0" cy="0"/>
        </a:xfrm>
      </p:grpSpPr>
      <p:pic>
        <p:nvPicPr>
          <p:cNvPr id="171" name="Logo" descr="Logo"/>
          <p:cNvPicPr>
            <a:picLocks noChangeAspect="1"/>
          </p:cNvPicPr>
          <p:nvPr/>
        </p:nvPicPr>
        <p:blipFill>
          <a:blip r:embed="rId2">
            <a:extLst/>
          </a:blip>
          <a:stretch>
            <a:fillRect/>
          </a:stretch>
        </p:blipFill>
        <p:spPr>
          <a:xfrm>
            <a:off x="11379841" y="429420"/>
            <a:ext cx="482229" cy="482440"/>
          </a:xfrm>
          <a:prstGeom prst="rect">
            <a:avLst/>
          </a:prstGeom>
          <a:ln w="12700">
            <a:miter lim="400000"/>
          </a:ln>
        </p:spPr>
      </p:pic>
      <p:sp>
        <p:nvSpPr>
          <p:cNvPr id="172" name="Slide title, Ericsson Hilda Light 40pt, Ericsson Black, max 2-lines"/>
          <p:cNvSpPr txBox="1"/>
          <p:nvPr>
            <p:ph type="title" hasCustomPrompt="1"/>
          </p:nvPr>
        </p:nvSpPr>
        <p:spPr>
          <a:xfrm>
            <a:off x="479425" y="476250"/>
            <a:ext cx="8353426" cy="1081088"/>
          </a:xfrm>
          <a:prstGeom prst="rect">
            <a:avLst/>
          </a:prstGeom>
        </p:spPr>
        <p:txBody>
          <a:bodyPr>
            <a:normAutofit fontScale="100000" lnSpcReduction="0"/>
          </a:bodyPr>
          <a:lstStyle/>
          <a:p>
            <a:pPr/>
            <a:r>
              <a:t>Slide title, Ericsson Hilda Light 40pt, Ericsson Black, max 2-lines</a:t>
            </a:r>
          </a:p>
        </p:txBody>
      </p:sp>
      <p:sp>
        <p:nvSpPr>
          <p:cNvPr id="173" name="Body Level One…"/>
          <p:cNvSpPr txBox="1"/>
          <p:nvPr>
            <p:ph type="body" sz="quarter" idx="1" hasCustomPrompt="1"/>
          </p:nvPr>
        </p:nvSpPr>
        <p:spPr>
          <a:xfrm>
            <a:off x="481654" y="1844674"/>
            <a:ext cx="5472114" cy="2089151"/>
          </a:xfrm>
          <a:prstGeom prst="rect">
            <a:avLst/>
          </a:prstGeom>
        </p:spPr>
        <p:txBody>
          <a:bodyPr>
            <a:normAutofit fontScale="100000" lnSpcReduction="0"/>
          </a:bodyPr>
          <a:lstStyle/>
          <a:p>
            <a:pPr/>
            <a:r>
              <a:t>For heading, use Ericsson Hilda in bold. For copy and bullets, use Ericsson Hilda.</a:t>
            </a:r>
          </a:p>
          <a:p>
            <a:pPr lvl="1"/>
            <a:r>
              <a:t/>
            </a:r>
          </a:p>
          <a:p>
            <a:pPr lvl="2"/>
            <a:r>
              <a:t/>
            </a:r>
          </a:p>
          <a:p>
            <a:pPr lvl="3"/>
            <a:r>
              <a:t/>
            </a:r>
          </a:p>
          <a:p>
            <a:pPr lvl="4"/>
            <a:r>
              <a:t/>
            </a:r>
          </a:p>
        </p:txBody>
      </p:sp>
      <p:sp>
        <p:nvSpPr>
          <p:cNvPr id="1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ck Title and 4 Content">
    <p:bg>
      <p:bgPr>
        <a:solidFill>
          <a:srgbClr val="181818"/>
        </a:solidFill>
      </p:bgPr>
    </p:bg>
    <p:spTree>
      <p:nvGrpSpPr>
        <p:cNvPr id="1" name=""/>
        <p:cNvGrpSpPr/>
        <p:nvPr/>
      </p:nvGrpSpPr>
      <p:grpSpPr>
        <a:xfrm>
          <a:off x="0" y="0"/>
          <a:ext cx="0" cy="0"/>
          <a:chOff x="0" y="0"/>
          <a:chExt cx="0" cy="0"/>
        </a:xfrm>
      </p:grpSpPr>
      <p:sp>
        <p:nvSpPr>
          <p:cNvPr id="181" name="Background"/>
          <p:cNvSpPr/>
          <p:nvPr/>
        </p:nvSpPr>
        <p:spPr>
          <a:xfrm>
            <a:off x="0" y="0"/>
            <a:ext cx="12192000" cy="6858000"/>
          </a:xfrm>
          <a:prstGeom prst="rect">
            <a:avLst/>
          </a:prstGeom>
          <a:solidFill>
            <a:srgbClr val="181818">
              <a:alpha val="0"/>
            </a:srgbClr>
          </a:solidFill>
          <a:ln w="12700">
            <a:miter lim="400000"/>
          </a:ln>
        </p:spPr>
        <p:txBody>
          <a:bodyPr lIns="36000" tIns="36000" rIns="36000" bIns="36000"/>
          <a:lstStyle/>
          <a:p>
            <a:pPr>
              <a:spcBef>
                <a:spcPts val="800"/>
              </a:spcBef>
            </a:pPr>
          </a:p>
        </p:txBody>
      </p:sp>
      <p:pic>
        <p:nvPicPr>
          <p:cNvPr id="182" name="Logo" descr="Logo"/>
          <p:cNvPicPr>
            <a:picLocks noChangeAspect="1"/>
          </p:cNvPicPr>
          <p:nvPr/>
        </p:nvPicPr>
        <p:blipFill>
          <a:blip r:embed="rId2">
            <a:extLst/>
          </a:blip>
          <a:stretch>
            <a:fillRect/>
          </a:stretch>
        </p:blipFill>
        <p:spPr>
          <a:xfrm>
            <a:off x="11379841" y="429420"/>
            <a:ext cx="482229" cy="482440"/>
          </a:xfrm>
          <a:prstGeom prst="rect">
            <a:avLst/>
          </a:prstGeom>
          <a:ln w="12700">
            <a:miter lim="400000"/>
          </a:ln>
        </p:spPr>
      </p:pic>
      <p:sp>
        <p:nvSpPr>
          <p:cNvPr id="183" name="Slide title, Ericsson Hilda Light 40pt, Ericsson Black, max 2-lines"/>
          <p:cNvSpPr txBox="1"/>
          <p:nvPr>
            <p:ph type="title" hasCustomPrompt="1"/>
          </p:nvPr>
        </p:nvSpPr>
        <p:spPr>
          <a:xfrm>
            <a:off x="479425" y="476250"/>
            <a:ext cx="8353426" cy="1081088"/>
          </a:xfrm>
          <a:prstGeom prst="rect">
            <a:avLst/>
          </a:prstGeom>
        </p:spPr>
        <p:txBody>
          <a:bodyPr>
            <a:normAutofit fontScale="100000" lnSpcReduction="0"/>
          </a:bodyPr>
          <a:lstStyle>
            <a:lvl1pPr>
              <a:defRPr>
                <a:solidFill>
                  <a:srgbClr val="FFFFFF"/>
                </a:solidFill>
              </a:defRPr>
            </a:lvl1pPr>
          </a:lstStyle>
          <a:p>
            <a:pPr/>
            <a:r>
              <a:t>Slide title, Ericsson Hilda Light 40pt, Ericsson Black, max 2-lines</a:t>
            </a:r>
          </a:p>
        </p:txBody>
      </p:sp>
      <p:sp>
        <p:nvSpPr>
          <p:cNvPr id="184" name="Body Level One…"/>
          <p:cNvSpPr txBox="1"/>
          <p:nvPr>
            <p:ph type="body" sz="quarter" idx="1" hasCustomPrompt="1"/>
          </p:nvPr>
        </p:nvSpPr>
        <p:spPr>
          <a:xfrm>
            <a:off x="481654" y="1844674"/>
            <a:ext cx="5472114" cy="2089151"/>
          </a:xfrm>
          <a:prstGeom prst="rect">
            <a:avLst/>
          </a:prstGeom>
        </p:spPr>
        <p:txBody>
          <a:bodyPr>
            <a:normAutofit fontScale="100000" lnSpcReduction="0"/>
          </a:bodyPr>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a:r>
              <a:t>For heading, use Ericsson Hilda in bold. For copy and bullets, use Ericsson Hilda.</a:t>
            </a:r>
          </a:p>
          <a:p>
            <a:pPr lvl="1"/>
            <a:r>
              <a:t/>
            </a:r>
          </a:p>
          <a:p>
            <a:pPr lvl="2"/>
            <a:r>
              <a:t/>
            </a:r>
          </a:p>
          <a:p>
            <a:pPr lvl="3"/>
            <a:r>
              <a:t/>
            </a:r>
          </a:p>
          <a:p>
            <a:pPr lvl="4"/>
            <a:r>
              <a:t/>
            </a:r>
          </a:p>
        </p:txBody>
      </p:sp>
      <p:sp>
        <p:nvSpPr>
          <p:cNvPr id="1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and 8 Content">
    <p:spTree>
      <p:nvGrpSpPr>
        <p:cNvPr id="1" name=""/>
        <p:cNvGrpSpPr/>
        <p:nvPr/>
      </p:nvGrpSpPr>
      <p:grpSpPr>
        <a:xfrm>
          <a:off x="0" y="0"/>
          <a:ext cx="0" cy="0"/>
          <a:chOff x="0" y="0"/>
          <a:chExt cx="0" cy="0"/>
        </a:xfrm>
      </p:grpSpPr>
      <p:pic>
        <p:nvPicPr>
          <p:cNvPr id="192" name="Logo" descr="Logo"/>
          <p:cNvPicPr>
            <a:picLocks noChangeAspect="1"/>
          </p:cNvPicPr>
          <p:nvPr/>
        </p:nvPicPr>
        <p:blipFill>
          <a:blip r:embed="rId2">
            <a:extLst/>
          </a:blip>
          <a:stretch>
            <a:fillRect/>
          </a:stretch>
        </p:blipFill>
        <p:spPr>
          <a:xfrm>
            <a:off x="11379841" y="429420"/>
            <a:ext cx="482229" cy="482440"/>
          </a:xfrm>
          <a:prstGeom prst="rect">
            <a:avLst/>
          </a:prstGeom>
          <a:ln w="12700">
            <a:miter lim="400000"/>
          </a:ln>
        </p:spPr>
      </p:pic>
      <p:sp>
        <p:nvSpPr>
          <p:cNvPr id="193" name="Slide title, Ericsson Hilda Light 40pt, Ericsson Black, max 2-lines"/>
          <p:cNvSpPr txBox="1"/>
          <p:nvPr>
            <p:ph type="title" hasCustomPrompt="1"/>
          </p:nvPr>
        </p:nvSpPr>
        <p:spPr>
          <a:xfrm>
            <a:off x="479425" y="476250"/>
            <a:ext cx="8353426" cy="1081088"/>
          </a:xfrm>
          <a:prstGeom prst="rect">
            <a:avLst/>
          </a:prstGeom>
        </p:spPr>
        <p:txBody>
          <a:bodyPr>
            <a:normAutofit fontScale="100000" lnSpcReduction="0"/>
          </a:bodyPr>
          <a:lstStyle/>
          <a:p>
            <a:pPr/>
            <a:r>
              <a:t>Slide title, Ericsson Hilda Light 40pt, Ericsson Black, max 2-lines</a:t>
            </a:r>
          </a:p>
        </p:txBody>
      </p:sp>
      <p:sp>
        <p:nvSpPr>
          <p:cNvPr id="194" name="Body Level One…"/>
          <p:cNvSpPr txBox="1"/>
          <p:nvPr>
            <p:ph type="body" sz="quarter" idx="1" hasCustomPrompt="1"/>
          </p:nvPr>
        </p:nvSpPr>
        <p:spPr>
          <a:xfrm>
            <a:off x="481559" y="1844675"/>
            <a:ext cx="2592391" cy="2089150"/>
          </a:xfrm>
          <a:prstGeom prst="rect">
            <a:avLst/>
          </a:prstGeom>
        </p:spPr>
        <p:txBody>
          <a:bodyPr>
            <a:normAutofit fontScale="100000" lnSpcReduction="0"/>
          </a:bodyPr>
          <a:lstStyle/>
          <a:p>
            <a:pPr/>
            <a:r>
              <a:t>For heading, use Ericsson Hilda in bold. For copy and bullets, use E. Hilda.</a:t>
            </a:r>
          </a:p>
          <a:p>
            <a:pPr lvl="1"/>
            <a:r>
              <a:t/>
            </a:r>
          </a:p>
          <a:p>
            <a:pPr lvl="2"/>
            <a:r>
              <a:t/>
            </a:r>
          </a:p>
          <a:p>
            <a:pPr lvl="3"/>
            <a:r>
              <a:t/>
            </a:r>
          </a:p>
          <a:p>
            <a:pPr lvl="4"/>
            <a:r>
              <a:t/>
            </a:r>
          </a:p>
        </p:txBody>
      </p:sp>
      <p:sp>
        <p:nvSpPr>
          <p:cNvPr id="19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ck Title and 8 Content">
    <p:bg>
      <p:bgPr>
        <a:solidFill>
          <a:srgbClr val="181818"/>
        </a:solidFill>
      </p:bgPr>
    </p:bg>
    <p:spTree>
      <p:nvGrpSpPr>
        <p:cNvPr id="1" name=""/>
        <p:cNvGrpSpPr/>
        <p:nvPr/>
      </p:nvGrpSpPr>
      <p:grpSpPr>
        <a:xfrm>
          <a:off x="0" y="0"/>
          <a:ext cx="0" cy="0"/>
          <a:chOff x="0" y="0"/>
          <a:chExt cx="0" cy="0"/>
        </a:xfrm>
      </p:grpSpPr>
      <p:sp>
        <p:nvSpPr>
          <p:cNvPr id="202" name="Background"/>
          <p:cNvSpPr/>
          <p:nvPr/>
        </p:nvSpPr>
        <p:spPr>
          <a:xfrm>
            <a:off x="0" y="0"/>
            <a:ext cx="12192000" cy="6858000"/>
          </a:xfrm>
          <a:prstGeom prst="rect">
            <a:avLst/>
          </a:prstGeom>
          <a:solidFill>
            <a:srgbClr val="181818">
              <a:alpha val="0"/>
            </a:srgbClr>
          </a:solidFill>
          <a:ln w="12700">
            <a:miter lim="400000"/>
          </a:ln>
        </p:spPr>
        <p:txBody>
          <a:bodyPr lIns="36000" tIns="36000" rIns="36000" bIns="36000"/>
          <a:lstStyle/>
          <a:p>
            <a:pPr>
              <a:spcBef>
                <a:spcPts val="800"/>
              </a:spcBef>
            </a:pPr>
          </a:p>
        </p:txBody>
      </p:sp>
      <p:pic>
        <p:nvPicPr>
          <p:cNvPr id="203" name="Logo" descr="Logo"/>
          <p:cNvPicPr>
            <a:picLocks noChangeAspect="1"/>
          </p:cNvPicPr>
          <p:nvPr/>
        </p:nvPicPr>
        <p:blipFill>
          <a:blip r:embed="rId2">
            <a:extLst/>
          </a:blip>
          <a:stretch>
            <a:fillRect/>
          </a:stretch>
        </p:blipFill>
        <p:spPr>
          <a:xfrm>
            <a:off x="11379841" y="429420"/>
            <a:ext cx="482229" cy="482440"/>
          </a:xfrm>
          <a:prstGeom prst="rect">
            <a:avLst/>
          </a:prstGeom>
          <a:ln w="12700">
            <a:miter lim="400000"/>
          </a:ln>
        </p:spPr>
      </p:pic>
      <p:sp>
        <p:nvSpPr>
          <p:cNvPr id="204" name="Slide title, Ericsson Hilda Light 40pt, Ericsson Black, max 2-lines"/>
          <p:cNvSpPr txBox="1"/>
          <p:nvPr>
            <p:ph type="title" hasCustomPrompt="1"/>
          </p:nvPr>
        </p:nvSpPr>
        <p:spPr>
          <a:xfrm>
            <a:off x="479425" y="476250"/>
            <a:ext cx="8353426" cy="1081088"/>
          </a:xfrm>
          <a:prstGeom prst="rect">
            <a:avLst/>
          </a:prstGeom>
        </p:spPr>
        <p:txBody>
          <a:bodyPr>
            <a:normAutofit fontScale="100000" lnSpcReduction="0"/>
          </a:bodyPr>
          <a:lstStyle>
            <a:lvl1pPr>
              <a:defRPr>
                <a:solidFill>
                  <a:srgbClr val="FFFFFF"/>
                </a:solidFill>
              </a:defRPr>
            </a:lvl1pPr>
          </a:lstStyle>
          <a:p>
            <a:pPr/>
            <a:r>
              <a:t>Slide title, Ericsson Hilda Light 40pt, Ericsson Black, max 2-lines</a:t>
            </a:r>
          </a:p>
        </p:txBody>
      </p:sp>
      <p:sp>
        <p:nvSpPr>
          <p:cNvPr id="205" name="Body Level One…"/>
          <p:cNvSpPr txBox="1"/>
          <p:nvPr>
            <p:ph type="body" sz="quarter" idx="1" hasCustomPrompt="1"/>
          </p:nvPr>
        </p:nvSpPr>
        <p:spPr>
          <a:xfrm>
            <a:off x="481559" y="1844675"/>
            <a:ext cx="2592391" cy="2089150"/>
          </a:xfrm>
          <a:prstGeom prst="rect">
            <a:avLst/>
          </a:prstGeom>
        </p:spPr>
        <p:txBody>
          <a:bodyPr>
            <a:normAutofit fontScale="100000" lnSpcReduction="0"/>
          </a:bodyPr>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a:r>
              <a:t>For heading, use Ericsson Hilda in bold. For copy and bullets, use E. Hilda.</a:t>
            </a:r>
          </a:p>
          <a:p>
            <a:pPr lvl="1"/>
            <a:r>
              <a:t/>
            </a:r>
          </a:p>
          <a:p>
            <a:pPr lvl="2"/>
            <a:r>
              <a:t/>
            </a:r>
          </a:p>
          <a:p>
            <a:pPr lvl="3"/>
            <a:r>
              <a:t/>
            </a:r>
          </a:p>
          <a:p>
            <a:pPr lvl="4"/>
            <a:r>
              <a:t/>
            </a:r>
          </a:p>
        </p:txBody>
      </p:sp>
      <p:sp>
        <p:nvSpPr>
          <p:cNvPr id="20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ck logo end slide">
    <p:spTree>
      <p:nvGrpSpPr>
        <p:cNvPr id="1" name=""/>
        <p:cNvGrpSpPr/>
        <p:nvPr/>
      </p:nvGrpSpPr>
      <p:grpSpPr>
        <a:xfrm>
          <a:off x="0" y="0"/>
          <a:ext cx="0" cy="0"/>
          <a:chOff x="0" y="0"/>
          <a:chExt cx="0" cy="0"/>
        </a:xfrm>
      </p:grpSpPr>
      <p:sp>
        <p:nvSpPr>
          <p:cNvPr id="213" name="Body Level One…"/>
          <p:cNvSpPr txBox="1"/>
          <p:nvPr>
            <p:ph type="body" sz="quarter" idx="1" hasCustomPrompt="1"/>
          </p:nvPr>
        </p:nvSpPr>
        <p:spPr>
          <a:xfrm>
            <a:off x="3074194" y="5004939"/>
            <a:ext cx="6045996" cy="347473"/>
          </a:xfrm>
          <a:prstGeom prst="rect">
            <a:avLst/>
          </a:prstGeom>
        </p:spPr>
        <p:txBody>
          <a:bodyPr anchor="ctr">
            <a:normAutofit fontScale="100000" lnSpcReduction="0"/>
          </a:bodyPr>
          <a:lstStyle>
            <a:lvl1pPr marL="0" indent="0" algn="ctr">
              <a:spcBef>
                <a:spcPts val="0"/>
              </a:spcBef>
              <a:buSzTx/>
              <a:buFontTx/>
              <a:buNone/>
            </a:lvl1pPr>
            <a:lvl2pPr algn="ctr">
              <a:spcBef>
                <a:spcPts val="0"/>
              </a:spcBef>
              <a:buFontTx/>
            </a:lvl2pPr>
            <a:lvl3pPr algn="ctr">
              <a:spcBef>
                <a:spcPts val="0"/>
              </a:spcBef>
              <a:buFontTx/>
            </a:lvl3pPr>
            <a:lvl4pPr algn="ctr">
              <a:spcBef>
                <a:spcPts val="0"/>
              </a:spcBef>
              <a:buFontTx/>
            </a:lvl4pPr>
            <a:lvl5pPr algn="ctr">
              <a:spcBef>
                <a:spcPts val="0"/>
              </a:spcBef>
              <a:buFontTx/>
            </a:lvl5pPr>
          </a:lstStyle>
          <a:p>
            <a:pPr/>
            <a:r>
              <a:t>Use this space for relevant Ericsson URLs or hashtags</a:t>
            </a:r>
          </a:p>
          <a:p>
            <a:pPr lvl="1"/>
            <a:r>
              <a:t/>
            </a:r>
          </a:p>
          <a:p>
            <a:pPr lvl="2"/>
            <a:r>
              <a:t/>
            </a:r>
          </a:p>
          <a:p>
            <a:pPr lvl="3"/>
            <a:r>
              <a:t/>
            </a:r>
          </a:p>
          <a:p>
            <a:pPr lvl="4"/>
            <a:r>
              <a:t/>
            </a:r>
          </a:p>
        </p:txBody>
      </p:sp>
      <p:pic>
        <p:nvPicPr>
          <p:cNvPr id="214" name="image" descr="image"/>
          <p:cNvPicPr>
            <a:picLocks noChangeAspect="1"/>
          </p:cNvPicPr>
          <p:nvPr/>
        </p:nvPicPr>
        <p:blipFill>
          <a:blip r:embed="rId2">
            <a:extLst/>
          </a:blip>
          <a:stretch>
            <a:fillRect/>
          </a:stretch>
        </p:blipFill>
        <p:spPr>
          <a:xfrm>
            <a:off x="5024177" y="2259975"/>
            <a:ext cx="2120177" cy="2121106"/>
          </a:xfrm>
          <a:prstGeom prst="rect">
            <a:avLst/>
          </a:prstGeom>
          <a:ln w="12700">
            <a:miter lim="400000"/>
          </a:ln>
        </p:spPr>
      </p:pic>
      <p:sp>
        <p:nvSpPr>
          <p:cNvPr id="215" name="Slide Number"/>
          <p:cNvSpPr txBox="1"/>
          <p:nvPr>
            <p:ph type="sldNum" sz="quarter" idx="2"/>
          </p:nvPr>
        </p:nvSpPr>
        <p:spPr>
          <a:xfrm>
            <a:off x="5892800" y="6172200"/>
            <a:ext cx="2844800" cy="368301"/>
          </a:xfrm>
          <a:prstGeom prst="rect">
            <a:avLst/>
          </a:prstGeom>
        </p:spPr>
        <p:txBody>
          <a:bodyPr lIns="45719" tIns="45719" rIns="45719" bIns="45719" anchor="ctr"/>
          <a:lstStyle>
            <a:lvl1pPr algn="r">
              <a:defRPr sz="1200"/>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White logo end slide">
    <p:bg>
      <p:bgPr>
        <a:solidFill>
          <a:srgbClr val="181818"/>
        </a:solidFill>
      </p:bgPr>
    </p:bg>
    <p:spTree>
      <p:nvGrpSpPr>
        <p:cNvPr id="1" name=""/>
        <p:cNvGrpSpPr/>
        <p:nvPr/>
      </p:nvGrpSpPr>
      <p:grpSpPr>
        <a:xfrm>
          <a:off x="0" y="0"/>
          <a:ext cx="0" cy="0"/>
          <a:chOff x="0" y="0"/>
          <a:chExt cx="0" cy="0"/>
        </a:xfrm>
      </p:grpSpPr>
      <p:sp>
        <p:nvSpPr>
          <p:cNvPr id="222" name="Background"/>
          <p:cNvSpPr/>
          <p:nvPr/>
        </p:nvSpPr>
        <p:spPr>
          <a:xfrm>
            <a:off x="0" y="0"/>
            <a:ext cx="12192000" cy="6858000"/>
          </a:xfrm>
          <a:prstGeom prst="rect">
            <a:avLst/>
          </a:prstGeom>
          <a:solidFill>
            <a:srgbClr val="181818">
              <a:alpha val="0"/>
            </a:srgbClr>
          </a:solidFill>
          <a:ln w="12700">
            <a:miter lim="400000"/>
          </a:ln>
        </p:spPr>
        <p:txBody>
          <a:bodyPr lIns="36000" tIns="36000" rIns="36000" bIns="36000"/>
          <a:lstStyle/>
          <a:p>
            <a:pPr>
              <a:spcBef>
                <a:spcPts val="800"/>
              </a:spcBef>
            </a:pPr>
          </a:p>
        </p:txBody>
      </p:sp>
      <p:pic>
        <p:nvPicPr>
          <p:cNvPr id="223" name="Logo" descr="Logo"/>
          <p:cNvPicPr>
            <a:picLocks noChangeAspect="1"/>
          </p:cNvPicPr>
          <p:nvPr/>
        </p:nvPicPr>
        <p:blipFill>
          <a:blip r:embed="rId2">
            <a:extLst/>
          </a:blip>
          <a:stretch>
            <a:fillRect/>
          </a:stretch>
        </p:blipFill>
        <p:spPr>
          <a:xfrm>
            <a:off x="5024177" y="2260680"/>
            <a:ext cx="2119474" cy="2120401"/>
          </a:xfrm>
          <a:prstGeom prst="rect">
            <a:avLst/>
          </a:prstGeom>
          <a:ln w="12700">
            <a:miter lim="400000"/>
          </a:ln>
        </p:spPr>
      </p:pic>
      <p:sp>
        <p:nvSpPr>
          <p:cNvPr id="224" name="Body Level One…"/>
          <p:cNvSpPr txBox="1"/>
          <p:nvPr>
            <p:ph type="body" sz="quarter" idx="1" hasCustomPrompt="1"/>
          </p:nvPr>
        </p:nvSpPr>
        <p:spPr>
          <a:xfrm>
            <a:off x="3074194" y="5004939"/>
            <a:ext cx="6045996" cy="347473"/>
          </a:xfrm>
          <a:prstGeom prst="rect">
            <a:avLst/>
          </a:prstGeom>
        </p:spPr>
        <p:txBody>
          <a:bodyPr anchor="ctr">
            <a:normAutofit fontScale="100000" lnSpcReduction="0"/>
          </a:bodyPr>
          <a:lstStyle>
            <a:lvl1pPr marL="0" indent="0" algn="ctr">
              <a:spcBef>
                <a:spcPts val="0"/>
              </a:spcBef>
              <a:buSzTx/>
              <a:buFontTx/>
              <a:buNone/>
              <a:defRPr>
                <a:solidFill>
                  <a:srgbClr val="FFFFFF"/>
                </a:solidFill>
              </a:defRPr>
            </a:lvl1pPr>
            <a:lvl2pPr algn="ctr">
              <a:spcBef>
                <a:spcPts val="0"/>
              </a:spcBef>
              <a:buFontTx/>
              <a:defRPr>
                <a:solidFill>
                  <a:srgbClr val="FFFFFF"/>
                </a:solidFill>
              </a:defRPr>
            </a:lvl2pPr>
            <a:lvl3pPr algn="ctr">
              <a:spcBef>
                <a:spcPts val="0"/>
              </a:spcBef>
              <a:buFontTx/>
              <a:defRPr>
                <a:solidFill>
                  <a:srgbClr val="FFFFFF"/>
                </a:solidFill>
              </a:defRPr>
            </a:lvl3pPr>
            <a:lvl4pPr algn="ctr">
              <a:spcBef>
                <a:spcPts val="0"/>
              </a:spcBef>
              <a:buFontTx/>
              <a:defRPr>
                <a:solidFill>
                  <a:srgbClr val="FFFFFF"/>
                </a:solidFill>
              </a:defRPr>
            </a:lvl4pPr>
            <a:lvl5pPr algn="ctr">
              <a:spcBef>
                <a:spcPts val="0"/>
              </a:spcBef>
              <a:buFontTx/>
              <a:defRPr>
                <a:solidFill>
                  <a:srgbClr val="FFFFFF"/>
                </a:solidFill>
              </a:defRPr>
            </a:lvl5pPr>
          </a:lstStyle>
          <a:p>
            <a:pPr/>
            <a:r>
              <a:t>Use this space for relevant Ericsson URLs or hashtags</a:t>
            </a:r>
          </a:p>
          <a:p>
            <a:pPr lvl="1"/>
            <a:r>
              <a:t/>
            </a:r>
          </a:p>
          <a:p>
            <a:pPr lvl="2"/>
            <a:r>
              <a:t/>
            </a:r>
          </a:p>
          <a:p>
            <a:pPr lvl="3"/>
            <a:r>
              <a:t/>
            </a:r>
          </a:p>
          <a:p>
            <a:pPr lvl="4"/>
            <a:r>
              <a:t/>
            </a:r>
          </a:p>
        </p:txBody>
      </p:sp>
      <p:sp>
        <p:nvSpPr>
          <p:cNvPr id="225" name="Slide Number"/>
          <p:cNvSpPr txBox="1"/>
          <p:nvPr>
            <p:ph type="sldNum" sz="quarter" idx="2"/>
          </p:nvPr>
        </p:nvSpPr>
        <p:spPr>
          <a:xfrm>
            <a:off x="5892800" y="6172200"/>
            <a:ext cx="2844800" cy="368301"/>
          </a:xfrm>
          <a:prstGeom prst="rect">
            <a:avLst/>
          </a:prstGeom>
        </p:spPr>
        <p:txBody>
          <a:bodyPr lIns="45719" tIns="45719" rIns="45719" bIns="45719" anchor="ctr"/>
          <a:lstStyle>
            <a:lvl1pPr algn="r">
              <a:defRPr sz="1200"/>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Embedded characters">
    <p:spTree>
      <p:nvGrpSpPr>
        <p:cNvPr id="1" name=""/>
        <p:cNvGrpSpPr/>
        <p:nvPr/>
      </p:nvGrpSpPr>
      <p:grpSpPr>
        <a:xfrm>
          <a:off x="0" y="0"/>
          <a:ext cx="0" cy="0"/>
          <a:chOff x="0" y="0"/>
          <a:chExt cx="0" cy="0"/>
        </a:xfrm>
      </p:grpSpPr>
      <p:sp>
        <p:nvSpPr>
          <p:cNvPr id="232" name="TextBox 4"/>
          <p:cNvSpPr txBox="1"/>
          <p:nvPr/>
        </p:nvSpPr>
        <p:spPr>
          <a:xfrm>
            <a:off x="551424" y="178896"/>
            <a:ext cx="11161150" cy="7188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400">
                <a:latin typeface="Ericsson Hilda Bold"/>
                <a:ea typeface="Ericsson Hilda Bold"/>
                <a:cs typeface="Ericsson Hilda Bold"/>
                <a:sym typeface="Ericsson Hilda Bold"/>
              </a:defRPr>
            </a:pPr>
            <a:r>
              <a:t>This Master Slide is to ensure that all our characters are embedded with the presentation. Should not be used in a presentation.</a:t>
            </a:r>
            <a:endParaRPr>
              <a:solidFill>
                <a:srgbClr val="000000"/>
              </a:solidFill>
            </a:endParaRPr>
          </a:p>
          <a:p>
            <a:pPr>
              <a:defRPr sz="1400">
                <a:latin typeface="Ericsson Hilda Bold"/>
                <a:ea typeface="Ericsson Hilda Bold"/>
                <a:cs typeface="Ericsson Hilda Bold"/>
                <a:sym typeface="Ericsson Hilda Bold"/>
              </a:defRPr>
            </a:pPr>
          </a:p>
          <a:p>
            <a:pPr>
              <a:defRPr sz="1200" u="sng">
                <a:latin typeface="Ericsson Hilda ExtraLight"/>
                <a:ea typeface="Ericsson Hilda ExtraLight"/>
                <a:cs typeface="Ericsson Hilda ExtraLight"/>
                <a:sym typeface="Ericsson Hilda ExtraLight"/>
              </a:defRPr>
            </a:pPr>
            <a:r>
              <a:t>EricssonHilda(ExtraLight):</a:t>
            </a:r>
            <a:r>
              <a:rPr u="none"/>
              <a:t>!"#$%&amp;'()*+,./0123456789:;&lt;=&gt;?@ABCDEFGHIJKLMNOPQRSTUVWXYZ[\]^_`abcdefghijklmnopqrstuvwxyz{|}~¡¢£¤¥¦§¨©ª«¬®¯°±²³´¶·¸¹º»¼½ÀÁÂÃÄÅÆÇÈËÌÍÎÏÐÑÒÓÔÕÖ×ØÙÚÛÜÝÞßàáâãäåæçèéêëìíîïðñòóôõö÷øùúûüýþÿĀāĂăąĆćĊċČčĎďĐđĒĖėĘęĚěĞğĠġĢģĪīĮįİıĶķĹĺĻļĽľŁłŃńŅņŇňŌŐőŒœŔŕŖŗŘřŚśŞşŠšŢţŤťŪūŮůŰűŲųŴŵŶŷŸŹźŻżŽžƒȘșˆˇ˘˙˚˛˜˝ẀẁẃẄẅỲỳ‘’‚“”„†‡•…‰‹›⁄€™ĀĀĂĂĄĄĆĆĊĊČČĎĎĐĐĒĒĖĖĘĘĚĚĞĞĠĠĢĢĪĪĮĮİĶĶĹĹĻĻĽĽŃŃŅŅŇŇŌŌŐŐŔŔŖŖŘŘŚŚŞŞŢŢŤŤŪŪŮŮŰŰŲŲŴŴŶŶŹŹŻŻȘș−≤≥ﬁﬂΆΈΉΊΌΎΏΐΑΒΓΕΖΗΘΙΚΛΜΝΞΟΠΡΣΤΥΦΧΨΪΫΆΈΉΊΰ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a:t>
            </a:r>
            <a:endParaRPr>
              <a:solidFill>
                <a:srgbClr val="000000"/>
              </a:solidFill>
            </a:endParaRPr>
          </a:p>
          <a:p>
            <a:pPr>
              <a:defRPr sz="1200" u="sng">
                <a:latin typeface="+mn-lt"/>
                <a:ea typeface="+mn-ea"/>
                <a:cs typeface="+mn-cs"/>
                <a:sym typeface="Ericsson Hilda Light"/>
              </a:defRPr>
            </a:pPr>
            <a:r>
              <a:t>EricssonHilda(Light):</a:t>
            </a:r>
            <a:r>
              <a:rPr u="none"/>
              <a:t>!"#$%&amp;'()*+,./0123456789:;&lt;=&gt;?@ABCDEFGHIJKLMNOPQRSTUVWXYZ[\]^_`abcdefghijklmnopqrstuvwxyz{|}~¡¢£¤¥¦§¨©ª«¬®¯°±²³´¶·¸¹º»¼½ÀÁÂÃÄÅÆÇÈËÌÍÎÏÐÑÒÓÔÕÖ×ØÙÚÛÜÝÞßàáâãäåæçèéêëìíîïðñòóôõö÷øùúûüýþÿĀāĂăąĆćĊċ</a:t>
            </a:r>
            <a:r>
              <a:rPr u="none">
                <a:latin typeface="Ericsson Hilda Regular"/>
                <a:ea typeface="Ericsson Hilda Regular"/>
                <a:cs typeface="Ericsson Hilda Regular"/>
                <a:sym typeface="Ericsson Hilda Regular"/>
              </a:rPr>
              <a:t>Čč</a:t>
            </a:r>
            <a:r>
              <a:rPr u="none"/>
              <a:t>ĎďĐđĒĖėĘęĚěĞğĠġĢģĪīĮįİıĶķĹĺĻļĽľŁłŃńŅņŇňŌŐőŒœŔŕŖŗŘřŚśŞşŠšŢţŤťŪūŮůŰűŲųŴŵŶŷŸŹźŻżŽžƒȘșˆˇ˘˙˚˛˜˝ẀẁẃẄẅỲỳ‘’‚“”„†‡•…‰‹›⁄€™ĀĀĂĂĄĄĆĆĊĊČČĎĎĐĐĒĒĖĖĘĘĚĚĞĞĠĠĢĢĪĪĮĮİĶĶĹĹĻĻĽĽŃŃŅŅŇŇŌŌŐŐŔŔŖŖŘŘŚŚŞŞŢŢŤŤŪŪŮŮŰŰŲŲŴŴŶŶŹŹŻŻȘș−≤≥ﬁﬂΆΈΉΊΌΎΏΐΑΒΓΕΖΗΘΙΚΛΜΝΞΟΠΡΣΤΥΦΧΨΪΫΆΈΉΊΰ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a:t>
            </a:r>
          </a:p>
          <a:p>
            <a:pPr>
              <a:defRPr sz="1200" u="sng"/>
            </a:pPr>
            <a:r>
              <a:t>EricssonHilda(Regular):</a:t>
            </a:r>
            <a:r>
              <a:rPr u="none"/>
              <a:t>!"#$%&amp;'()*+,./0123456789:;&lt;=&gt;?@ABCDEFGHIJKLMNOPQRSTUVWXYZ[\]^_`abcdefghijklmnopqrstuvwxyz{|}~¡¢£¤¥¦§¨©ª«¬®¯°±²³´¶·¸¹º»¼½ÀÁÂÃÄÅÆÇÈËÌÍÎÏÐÑÒÓÔÕÖ×ØÙÚÛÜÝÞßàáâãäåæçèéêëìíîïðñòóôõö÷øùúûüýþÿĀāĂăąĆćĊċČčĎďĐđĒĖėĘęĚěĞğĠġĢģĪīĮįİıĶķĹĺĻļĽľŁłŃńŅņŇňŌŐőŒœŔŕŖŗŘřŚśŞşŠšŢţŤťŪūŮůŰűŲųŴŵŶŷŸŹźŻżŽžƒȘșˆˇ˘˙˚˛˜˝ẀẁẃẄẅỲỳ‘’‚“”„†‡•…‰‹›⁄€™ĀĀĂĂĄĄĆĆĊĊČČĎĎĐĐĒĒĖĖĘĘĚĚĞĞĠĠĢĢĪĪĮĮİĶĶĹĹĻĻĽĽŃŃŅŅŇŇŌŌŐŐŔŔŖŖŘŘŚŚŞŞŢŢŤŤŪŪŮŮŰŰŲŲŴŴŶŶŹŹŻŻȘș−≤≥ﬁﬂΆΈΉΊΌΎΏΐΑΒΓΕΖΗΘΙΚΛΜΝΞΟΠΡΣΤΥΦΧΨΪΫΆΈΉΊΰ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a:t>
            </a:r>
            <a:endParaRPr>
              <a:solidFill>
                <a:srgbClr val="000000"/>
              </a:solidFill>
            </a:endParaRPr>
          </a:p>
          <a:p>
            <a:pPr>
              <a:defRPr sz="1200" u="sng">
                <a:latin typeface="+mn-lt"/>
                <a:ea typeface="+mn-ea"/>
                <a:cs typeface="+mn-cs"/>
                <a:sym typeface="Ericsson Hilda Light"/>
              </a:defRPr>
            </a:pPr>
            <a:r>
              <a:t>EricssonHildaLight+Bold(Medium):</a:t>
            </a:r>
            <a:r>
              <a:rPr u="none"/>
              <a:t>!"#$%&amp;'()*+,./0123456789:;&lt;=&gt;?@ABCDEFGHIJKLMNOPQRSTUVWXYZ[\]^_`abcdefghijklmnopqrstuvwxyz{|}~¡¢£¤¥¦§¨©ª«¬®¯°±²³´¶·¸¹º»¼½ÀÁÂÃÄÅÆÇÈËÌÍÎÏÐÑÒÓÔÕÖ×ØÙÚÛÜÝÞßàáâãäåæçèéêëìíîïðñòóôõö÷øùúûüýþÿĀāĂăąĆćĊċ</a:t>
            </a:r>
            <a:r>
              <a:rPr u="none">
                <a:latin typeface="Ericsson Hilda Bold"/>
                <a:ea typeface="Ericsson Hilda Bold"/>
                <a:cs typeface="Ericsson Hilda Bold"/>
                <a:sym typeface="Ericsson Hilda Bold"/>
              </a:rPr>
              <a:t>Čč</a:t>
            </a:r>
            <a:r>
              <a:rPr u="none"/>
              <a:t>ĎďĐđĒĖėĘęĚěĞğĠġĢģĪīĮįİıĶķĹĺĻļĽľŁłŃńŅņŇňŌŐőŒœŔŕŖŗŘřŚśŞşŠšŢţŤťŪūŮůŰűŲųŴŵŶŷŸŹźŻżŽžƒȘșˆˇ˘˙˚˛˜˝ẀẁẃẄẅỲỳ‘’‚“”„†‡•…‰‹›⁄€™ĀĀĂĂĄĄĆĆĊĊČČĎĎĐĐĒĒĖĖĘĘĚĚĞĞĠĠĢĢĪĪĮĮİĶĶĹĹĻĻĽĽŃŃŅŅŇŇŌŌŐŐŔŔŖŖŘŘŚŚŞŞŢŢŤŤŪŪŮŮŰŰŲŲŴŴŶŶŹŹŻŻȘș−≤≥ﬁﬂΆΈΉΊΌΎΏΐΑΒΓΕΖΗΘΙΚΛΜΝΞΟΠΡΣΤΥΦΧΨΪΫΆΈΉΊΰ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a:t>
            </a:r>
          </a:p>
          <a:p>
            <a:pPr>
              <a:defRPr sz="1200" u="sng">
                <a:latin typeface="Ericsson Hilda Bold"/>
                <a:ea typeface="Ericsson Hilda Bold"/>
                <a:cs typeface="Ericsson Hilda Bold"/>
                <a:sym typeface="Ericsson Hilda Bold"/>
              </a:defRPr>
            </a:pPr>
            <a:r>
              <a:t>EricssonHilda+Bold(Bold):</a:t>
            </a:r>
            <a:r>
              <a:rPr u="none"/>
              <a:t>!"#$%&amp;'()*+,./0123456789:;&lt;=&gt;?@ABCDEFGHIJKLMNOPQRSTUVWXYZ[\]^_`abcdefghijklmnopqrstuvwxyz{|}~¡¢£¤¥¦§¨©ª«¬®¯°±²³´¶·¸¹º»¼½ÀÁÂÃÄÅÆÇÈËÌÍÎÏÐÑÒÓÔÕÖ×ØÙÚÛÜÝÞßàáâãäåæçèéêëìíîïðñòóôõö÷øùúûüýþÿĀāĂăąĆćĊċČčĎďĐđĒĖėĘęĚěĞğĠġĢģĪīĮįİıĶķĹĺĻļĽľŁłŃńŅņŇňŌŐőŒœŔŕŖŗŘřŚśŞşŠšŢţŤťŪūŮůŰűŲųŴŵŶŷŸŹźŻżŽžƒȘșˆˇ˘˙˚˛˜˝ẀẁẃẄẅỲỳ‘’‚“”„†‡•…‰‹›⁄€™ĀĀĂĂĄĄĆĆĊĊČČĎĎĐĐĒĒĖĖĘĘĚĚĞĞĠĠĢĢĪĪĮĮİĶĶĹĹĻĻĽĽŃŃŅŅŇŇŌŌŐŐŔŔŖŖŘŘŚŚŞŞŢŢŤŤŪŪŮŮŰŰŲŲŴŴŶŶŹŹŻŻȘș−≤≥ﬁﬂΆΈΉΊΌΎΏΐΑΒΓΕΖΗΘΙΚΛΜΝΞΟΠΡΣΤΥΦΧΨΪΫΆΈΉΊΰ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 ●</a:t>
            </a:r>
            <a:endParaRPr>
              <a:solidFill>
                <a:srgbClr val="000000"/>
              </a:solidFill>
            </a:endParaRPr>
          </a:p>
          <a:p>
            <a:pPr>
              <a:defRPr sz="1200" u="sng">
                <a:latin typeface="Ericsson Hilda ExtraBold"/>
                <a:ea typeface="Ericsson Hilda ExtraBold"/>
                <a:cs typeface="Ericsson Hilda ExtraBold"/>
                <a:sym typeface="Ericsson Hilda ExtraBold"/>
              </a:defRPr>
            </a:pPr>
            <a:r>
              <a:t>EricssonHilda(ExtraBold):</a:t>
            </a:r>
            <a:r>
              <a:rPr u="none"/>
              <a:t>!"#$%&amp;'()*+,./0123456789:;&lt;=&gt;?@ABCDEFGHIJKLMNOPQRSTUVWXYZ[\]^_`abcdefghijklmnopqrstuvwxyz{|}~¡¢£¤¥¦§¨©ª«¬®¯°±²³´¶·¸¹º»¼½ÀÁÂÃÄÅÆÇÈËÌÍÎÏÐÑÒÓÔÕÖ×ØÙÚÛÜÝÞßàáâãäåæçèéêëìíîïðñòóôõö÷øùúûüýþÿĀāĂăąĆćĊċČčĎďĐđĒĖėĘęĚěĞğĠġĢģĪīĮįİıĶķĹĺĻļĽľŁłŃńŅņŇňŌŐőŒœŔŕŖŗŘřŚśŞşŠšŢţŤťŪūŮůŰűŲųŴŵŶŷŸŹźŻżŽžƒȘșˆˇ˘˙˚˛˜˝ẀẁẃẄẅỲỳ‘’‚“”„†‡•…‰‹›⁄€™ĀĀĂĂĄĄĆĆĊĊČČĎĎĐĐĒĒĖĖĘĘĚĚĞĞĠĠĢĢĪĪĮĮİĶĶĹĹĻĻĽĽŃŃŅŅŇŇŌŌŐŐŔŔŖŖŘŘŚŚŞŞŢŢŤŤŪŪŮŮŰŰŲŲŴŴŶŶŹŹŻŻȘș−≤≥ﬁﬂΆΈΉΊΌΎΏΐΑΒΓΕΖΗΘΙΚΛΜΝΞΟΠΡΣΤΥΦΧΨΪΫΆΈΉΊΰ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a:t>
            </a:r>
            <a:endParaRPr>
              <a:solidFill>
                <a:srgbClr val="000000"/>
              </a:solidFill>
            </a:endParaRPr>
          </a:p>
          <a:p>
            <a:pPr>
              <a:defRPr b="1" sz="1200">
                <a:latin typeface="Ericsson Technical Icons"/>
                <a:ea typeface="Ericsson Technical Icons"/>
                <a:cs typeface="Ericsson Technical Icons"/>
                <a:sym typeface="Ericsson Technical Icons"/>
              </a:defRPr>
            </a:pPr>
          </a:p>
          <a:p>
            <a:pPr>
              <a:defRPr b="1" sz="1200">
                <a:latin typeface="Ericsson Technical Icons"/>
                <a:ea typeface="Ericsson Technical Icons"/>
                <a:cs typeface="Ericsson Technical Icons"/>
                <a:sym typeface="Ericsson Technical Icons"/>
              </a:defRPr>
            </a:pPr>
            <a:r>
              <a:t>B C D F G H I L M O P R S W X b c d f g h I l m o p r s w x</a:t>
            </a:r>
          </a:p>
        </p:txBody>
      </p:sp>
      <p:sp>
        <p:nvSpPr>
          <p:cNvPr id="233" name="Slide Number"/>
          <p:cNvSpPr txBox="1"/>
          <p:nvPr>
            <p:ph type="sldNum" sz="quarter" idx="2"/>
          </p:nvPr>
        </p:nvSpPr>
        <p:spPr>
          <a:xfrm>
            <a:off x="5892800" y="6172200"/>
            <a:ext cx="2844800" cy="368301"/>
          </a:xfrm>
          <a:prstGeom prst="rect">
            <a:avLst/>
          </a:prstGeom>
        </p:spPr>
        <p:txBody>
          <a:bodyPr lIns="45719" tIns="45719" rIns="45719" bIns="45719" anchor="ctr"/>
          <a:lstStyle>
            <a:lvl1pPr algn="r">
              <a:defRPr sz="1200"/>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Only">
    <p:spTree>
      <p:nvGrpSpPr>
        <p:cNvPr id="1" name=""/>
        <p:cNvGrpSpPr/>
        <p:nvPr/>
      </p:nvGrpSpPr>
      <p:grpSpPr>
        <a:xfrm>
          <a:off x="0" y="0"/>
          <a:ext cx="0" cy="0"/>
          <a:chOff x="0" y="0"/>
          <a:chExt cx="0" cy="0"/>
        </a:xfrm>
      </p:grpSpPr>
      <p:pic>
        <p:nvPicPr>
          <p:cNvPr id="240" name="Logo" descr="Logo"/>
          <p:cNvPicPr>
            <a:picLocks noChangeAspect="1"/>
          </p:cNvPicPr>
          <p:nvPr/>
        </p:nvPicPr>
        <p:blipFill>
          <a:blip r:embed="rId2">
            <a:extLst/>
          </a:blip>
          <a:stretch>
            <a:fillRect/>
          </a:stretch>
        </p:blipFill>
        <p:spPr>
          <a:xfrm>
            <a:off x="11379841" y="429420"/>
            <a:ext cx="482229" cy="482440"/>
          </a:xfrm>
          <a:prstGeom prst="rect">
            <a:avLst/>
          </a:prstGeom>
          <a:ln w="12700">
            <a:miter lim="400000"/>
          </a:ln>
        </p:spPr>
      </p:pic>
      <p:sp>
        <p:nvSpPr>
          <p:cNvPr id="241" name="Slide title, Ericsson Hilda Light 40pt, Ericsson Black, max 2-lines"/>
          <p:cNvSpPr txBox="1"/>
          <p:nvPr>
            <p:ph type="title" hasCustomPrompt="1"/>
          </p:nvPr>
        </p:nvSpPr>
        <p:spPr>
          <a:xfrm>
            <a:off x="479423" y="476250"/>
            <a:ext cx="8353426" cy="1081088"/>
          </a:xfrm>
          <a:prstGeom prst="rect">
            <a:avLst/>
          </a:prstGeom>
        </p:spPr>
        <p:txBody>
          <a:bodyPr lIns="0" tIns="0" rIns="0" bIns="0">
            <a:normAutofit fontScale="100000" lnSpcReduction="0"/>
          </a:bodyPr>
          <a:lstStyle/>
          <a:p>
            <a:pPr/>
            <a:r>
              <a:t>Slide title, Ericsson Hilda Light 40pt, Ericsson Black, max 2-lines</a:t>
            </a:r>
          </a:p>
        </p:txBody>
      </p:sp>
      <p:sp>
        <p:nvSpPr>
          <p:cNvPr id="24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Only">
    <p:spTree>
      <p:nvGrpSpPr>
        <p:cNvPr id="1" name=""/>
        <p:cNvGrpSpPr/>
        <p:nvPr/>
      </p:nvGrpSpPr>
      <p:grpSpPr>
        <a:xfrm>
          <a:off x="0" y="0"/>
          <a:ext cx="0" cy="0"/>
          <a:chOff x="0" y="0"/>
          <a:chExt cx="0" cy="0"/>
        </a:xfrm>
      </p:grpSpPr>
      <p:pic>
        <p:nvPicPr>
          <p:cNvPr id="249" name="Logo" descr="Logo"/>
          <p:cNvPicPr>
            <a:picLocks noChangeAspect="1"/>
          </p:cNvPicPr>
          <p:nvPr/>
        </p:nvPicPr>
        <p:blipFill>
          <a:blip r:embed="rId2">
            <a:extLst/>
          </a:blip>
          <a:stretch>
            <a:fillRect/>
          </a:stretch>
        </p:blipFill>
        <p:spPr>
          <a:xfrm>
            <a:off x="11379841" y="429420"/>
            <a:ext cx="482229" cy="482440"/>
          </a:xfrm>
          <a:prstGeom prst="rect">
            <a:avLst/>
          </a:prstGeom>
          <a:ln w="12700">
            <a:miter lim="400000"/>
          </a:ln>
        </p:spPr>
      </p:pic>
      <p:sp>
        <p:nvSpPr>
          <p:cNvPr id="250" name="Slide title, Ericsson Hilda Light 40pt, Ericsson Black, max 2-lines"/>
          <p:cNvSpPr txBox="1"/>
          <p:nvPr>
            <p:ph type="title" hasCustomPrompt="1"/>
          </p:nvPr>
        </p:nvSpPr>
        <p:spPr>
          <a:xfrm>
            <a:off x="479423" y="476250"/>
            <a:ext cx="8353426" cy="1081088"/>
          </a:xfrm>
          <a:prstGeom prst="rect">
            <a:avLst/>
          </a:prstGeom>
        </p:spPr>
        <p:txBody>
          <a:bodyPr lIns="0" tIns="0" rIns="0" bIns="0">
            <a:normAutofit fontScale="100000" lnSpcReduction="0"/>
          </a:bodyPr>
          <a:lstStyle/>
          <a:p>
            <a:pPr/>
            <a:r>
              <a:t>Slide title, Ericsson Hilda Light 40pt, Ericsson Black, max 2-lines</a:t>
            </a:r>
          </a:p>
        </p:txBody>
      </p:sp>
      <p:sp>
        <p:nvSpPr>
          <p:cNvPr id="25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Keynote Cover Page">
    <p:spTree>
      <p:nvGrpSpPr>
        <p:cNvPr id="1" name=""/>
        <p:cNvGrpSpPr/>
        <p:nvPr/>
      </p:nvGrpSpPr>
      <p:grpSpPr>
        <a:xfrm>
          <a:off x="0" y="0"/>
          <a:ext cx="0" cy="0"/>
          <a:chOff x="0" y="0"/>
          <a:chExt cx="0" cy="0"/>
        </a:xfrm>
      </p:grpSpPr>
      <p:pic>
        <p:nvPicPr>
          <p:cNvPr id="258" name="Picture 7" descr="Picture 7"/>
          <p:cNvPicPr>
            <a:picLocks noChangeAspect="1"/>
          </p:cNvPicPr>
          <p:nvPr/>
        </p:nvPicPr>
        <p:blipFill>
          <a:blip r:embed="rId2">
            <a:extLst/>
          </a:blip>
          <a:stretch>
            <a:fillRect/>
          </a:stretch>
        </p:blipFill>
        <p:spPr>
          <a:xfrm>
            <a:off x="11522512" y="6268592"/>
            <a:ext cx="190063" cy="256034"/>
          </a:xfrm>
          <a:prstGeom prst="rect">
            <a:avLst/>
          </a:prstGeom>
          <a:ln w="12700">
            <a:miter lim="400000"/>
          </a:ln>
        </p:spPr>
      </p:pic>
      <p:sp>
        <p:nvSpPr>
          <p:cNvPr id="259" name="Title Text"/>
          <p:cNvSpPr txBox="1"/>
          <p:nvPr>
            <p:ph type="title"/>
          </p:nvPr>
        </p:nvSpPr>
        <p:spPr>
          <a:xfrm>
            <a:off x="479425" y="476250"/>
            <a:ext cx="8353426" cy="3457575"/>
          </a:xfrm>
          <a:prstGeom prst="rect">
            <a:avLst/>
          </a:prstGeom>
        </p:spPr>
        <p:txBody>
          <a:bodyPr lIns="0" tIns="0" rIns="0" bIns="0">
            <a:normAutofit fontScale="100000" lnSpcReduction="0"/>
          </a:bodyPr>
          <a:lstStyle>
            <a:lvl1pPr>
              <a:defRPr spc="-160" sz="6000">
                <a:latin typeface="Ericsson Hilda Regular"/>
                <a:ea typeface="Ericsson Hilda Regular"/>
                <a:cs typeface="Ericsson Hilda Regular"/>
                <a:sym typeface="Ericsson Hilda Regular"/>
              </a:defRPr>
            </a:lvl1pPr>
          </a:lstStyle>
          <a:p>
            <a:pPr/>
            <a:r>
              <a:t>Title Text</a:t>
            </a:r>
          </a:p>
        </p:txBody>
      </p:sp>
      <p:sp>
        <p:nvSpPr>
          <p:cNvPr id="260" name="Body Level One…"/>
          <p:cNvSpPr txBox="1"/>
          <p:nvPr>
            <p:ph type="body" sz="quarter" idx="1"/>
          </p:nvPr>
        </p:nvSpPr>
        <p:spPr>
          <a:xfrm>
            <a:off x="479425" y="4149726"/>
            <a:ext cx="5472113" cy="2087564"/>
          </a:xfrm>
          <a:prstGeom prst="rect">
            <a:avLst/>
          </a:prstGeom>
        </p:spPr>
        <p:txBody>
          <a:bodyPr lIns="0" tIns="0" rIns="0" bIns="0" anchor="ctr">
            <a:normAutofit fontScale="100000" lnSpcReduction="0"/>
          </a:bodyPr>
          <a:lstStyle>
            <a:lvl1pPr marL="0" indent="0">
              <a:spcBef>
                <a:spcPts val="0"/>
              </a:spcBef>
              <a:buSzTx/>
              <a:buFontTx/>
              <a:buNone/>
            </a:lvl1pPr>
            <a:lvl2pPr marL="342900" indent="-342900">
              <a:spcBef>
                <a:spcPts val="0"/>
              </a:spcBef>
              <a:buFontTx/>
              <a:buChar char="—"/>
            </a:lvl2pPr>
            <a:lvl3pPr marL="685800" indent="-342900">
              <a:spcBef>
                <a:spcPts val="0"/>
              </a:spcBef>
              <a:buFontTx/>
              <a:buChar char="—"/>
            </a:lvl3pPr>
            <a:lvl4pPr marL="1028700" indent="-342900">
              <a:spcBef>
                <a:spcPts val="0"/>
              </a:spcBef>
              <a:buFontTx/>
              <a:buChar char="—"/>
            </a:lvl4pPr>
            <a:lvl5pPr marL="1371600" indent="-342900">
              <a:spcBef>
                <a:spcPts val="0"/>
              </a:spcBef>
              <a:buFontTx/>
              <a:buChar char="—"/>
            </a:lvl5pPr>
          </a:lstStyle>
          <a:p>
            <a:pPr/>
            <a:r>
              <a:t>Body Level One</a:t>
            </a:r>
          </a:p>
          <a:p>
            <a:pPr lvl="1"/>
            <a:r>
              <a:t>Body Level Two</a:t>
            </a:r>
          </a:p>
          <a:p>
            <a:pPr lvl="2"/>
            <a:r>
              <a:t>Body Level Three</a:t>
            </a:r>
          </a:p>
          <a:p>
            <a:pPr lvl="3"/>
            <a:r>
              <a:t>Body Level Four</a:t>
            </a:r>
          </a:p>
          <a:p>
            <a:pPr lvl="4"/>
            <a:r>
              <a:t>Body Level Five</a:t>
            </a:r>
          </a:p>
        </p:txBody>
      </p:sp>
      <p:sp>
        <p:nvSpPr>
          <p:cNvPr id="261" name="Slide Number"/>
          <p:cNvSpPr txBox="1"/>
          <p:nvPr>
            <p:ph type="sldNum" sz="quarter" idx="2"/>
          </p:nvPr>
        </p:nvSpPr>
        <p:spPr>
          <a:xfrm>
            <a:off x="8462774" y="6221731"/>
            <a:ext cx="274827" cy="269239"/>
          </a:xfrm>
          <a:prstGeom prst="rect">
            <a:avLst/>
          </a:prstGeom>
        </p:spPr>
        <p:txBody>
          <a:bodyPr lIns="45718" tIns="45718" rIns="45718" bIns="45718" anchor="ctr"/>
          <a:lstStyle>
            <a:lvl1pPr algn="r">
              <a:defRPr sz="1200">
                <a:solidFill>
                  <a:srgbClr val="181818"/>
                </a:solidFill>
                <a:latin typeface="Ericsson Hilda Regular"/>
                <a:ea typeface="Ericsson Hilda Regular"/>
                <a:cs typeface="Ericsson Hilda Regular"/>
                <a:sym typeface="Ericsson Hilda Regular"/>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Title Only">
    <p:spTree>
      <p:nvGrpSpPr>
        <p:cNvPr id="1" name=""/>
        <p:cNvGrpSpPr/>
        <p:nvPr/>
      </p:nvGrpSpPr>
      <p:grpSpPr>
        <a:xfrm>
          <a:off x="0" y="0"/>
          <a:ext cx="0" cy="0"/>
          <a:chOff x="0" y="0"/>
          <a:chExt cx="0" cy="0"/>
        </a:xfrm>
      </p:grpSpPr>
      <p:sp>
        <p:nvSpPr>
          <p:cNvPr id="268" name="Slide title, Ericsson Hilda Light 40pt, Ericsson Black, max 2-lines"/>
          <p:cNvSpPr txBox="1"/>
          <p:nvPr>
            <p:ph type="title" hasCustomPrompt="1"/>
          </p:nvPr>
        </p:nvSpPr>
        <p:spPr>
          <a:xfrm>
            <a:off x="479423" y="476250"/>
            <a:ext cx="8353426" cy="1081088"/>
          </a:xfrm>
          <a:prstGeom prst="rect">
            <a:avLst/>
          </a:prstGeom>
        </p:spPr>
        <p:txBody>
          <a:bodyPr lIns="0" tIns="0" rIns="0" bIns="0">
            <a:normAutofit fontScale="100000" lnSpcReduction="0"/>
          </a:bodyPr>
          <a:lstStyle>
            <a:lvl1pPr>
              <a:defRPr spc="-159"/>
            </a:lvl1pPr>
          </a:lstStyle>
          <a:p>
            <a:pPr/>
            <a:r>
              <a:t>Slide title, Ericsson Hilda Light 40pt, Ericsson Black, max 2-lines</a:t>
            </a:r>
          </a:p>
        </p:txBody>
      </p:sp>
      <p:sp>
        <p:nvSpPr>
          <p:cNvPr id="26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Only">
    <p:spTree>
      <p:nvGrpSpPr>
        <p:cNvPr id="1" name=""/>
        <p:cNvGrpSpPr/>
        <p:nvPr/>
      </p:nvGrpSpPr>
      <p:grpSpPr>
        <a:xfrm>
          <a:off x="0" y="0"/>
          <a:ext cx="0" cy="0"/>
          <a:chOff x="0" y="0"/>
          <a:chExt cx="0" cy="0"/>
        </a:xfrm>
      </p:grpSpPr>
      <p:pic>
        <p:nvPicPr>
          <p:cNvPr id="276" name="Logo" descr="Logo"/>
          <p:cNvPicPr>
            <a:picLocks noChangeAspect="1"/>
          </p:cNvPicPr>
          <p:nvPr/>
        </p:nvPicPr>
        <p:blipFill>
          <a:blip r:embed="rId2">
            <a:extLst/>
          </a:blip>
          <a:stretch>
            <a:fillRect/>
          </a:stretch>
        </p:blipFill>
        <p:spPr>
          <a:xfrm>
            <a:off x="11379841" y="429420"/>
            <a:ext cx="482229" cy="482440"/>
          </a:xfrm>
          <a:prstGeom prst="rect">
            <a:avLst/>
          </a:prstGeom>
          <a:ln w="12700">
            <a:miter lim="400000"/>
          </a:ln>
        </p:spPr>
      </p:pic>
      <p:sp>
        <p:nvSpPr>
          <p:cNvPr id="277" name="Slide title, Ericsson Hilda Light 40pt, Ericsson Black, max 2-lines"/>
          <p:cNvSpPr txBox="1"/>
          <p:nvPr>
            <p:ph type="title" hasCustomPrompt="1"/>
          </p:nvPr>
        </p:nvSpPr>
        <p:spPr>
          <a:xfrm>
            <a:off x="479423" y="476250"/>
            <a:ext cx="8353426" cy="1081088"/>
          </a:xfrm>
          <a:prstGeom prst="rect">
            <a:avLst/>
          </a:prstGeom>
        </p:spPr>
        <p:txBody>
          <a:bodyPr lIns="0" tIns="0" rIns="0" bIns="0">
            <a:normAutofit fontScale="100000" lnSpcReduction="0"/>
          </a:bodyPr>
          <a:lstStyle/>
          <a:p>
            <a:pPr/>
            <a:r>
              <a:t>Slide title, Ericsson Hilda Light 40pt, Ericsson Black, max 2-lines</a:t>
            </a:r>
          </a:p>
        </p:txBody>
      </p:sp>
      <p:sp>
        <p:nvSpPr>
          <p:cNvPr id="27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Relationship Id="rId15" Type="http://schemas.openxmlformats.org/officeDocument/2006/relationships/slideLayout" Target="../slideLayouts/slideLayout13.xml"/><Relationship Id="rId16" Type="http://schemas.openxmlformats.org/officeDocument/2006/relationships/slideLayout" Target="../slideLayouts/slideLayout14.xml"/><Relationship Id="rId17" Type="http://schemas.openxmlformats.org/officeDocument/2006/relationships/slideLayout" Target="../slideLayouts/slideLayout15.xml"/><Relationship Id="rId18" Type="http://schemas.openxmlformats.org/officeDocument/2006/relationships/slideLayout" Target="../slideLayouts/slideLayout16.xml"/><Relationship Id="rId19" Type="http://schemas.openxmlformats.org/officeDocument/2006/relationships/slideLayout" Target="../slideLayouts/slideLayout17.xml"/><Relationship Id="rId20" Type="http://schemas.openxmlformats.org/officeDocument/2006/relationships/slideLayout" Target="../slideLayouts/slideLayout18.xml"/><Relationship Id="rId21" Type="http://schemas.openxmlformats.org/officeDocument/2006/relationships/slideLayout" Target="../slideLayouts/slideLayout19.xml"/><Relationship Id="rId22" Type="http://schemas.openxmlformats.org/officeDocument/2006/relationships/slideLayout" Target="../slideLayouts/slideLayout20.xml"/><Relationship Id="rId23" Type="http://schemas.openxmlformats.org/officeDocument/2006/relationships/slideLayout" Target="../slideLayouts/slideLayout21.xml"/><Relationship Id="rId24" Type="http://schemas.openxmlformats.org/officeDocument/2006/relationships/slideLayout" Target="../slideLayouts/slideLayout22.xml"/><Relationship Id="rId25" Type="http://schemas.openxmlformats.org/officeDocument/2006/relationships/slideLayout" Target="../slideLayouts/slideLayout23.xml"/><Relationship Id="rId26" Type="http://schemas.openxmlformats.org/officeDocument/2006/relationships/slideLayout" Target="../slideLayouts/slideLayout24.xml"/><Relationship Id="rId27" Type="http://schemas.openxmlformats.org/officeDocument/2006/relationships/slideLayout" Target="../slideLayouts/slideLayout25.xml"/><Relationship Id="rId28" Type="http://schemas.openxmlformats.org/officeDocument/2006/relationships/slideLayout" Target="../slideLayouts/slideLayout26.xml"/><Relationship Id="rId29" Type="http://schemas.openxmlformats.org/officeDocument/2006/relationships/slideLayout" Target="../slideLayouts/slideLayout27.xml"/><Relationship Id="rId30"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pic>
        <p:nvPicPr>
          <p:cNvPr id="2" name="Logo" descr="Logo"/>
          <p:cNvPicPr>
            <a:picLocks noChangeAspect="1"/>
          </p:cNvPicPr>
          <p:nvPr/>
        </p:nvPicPr>
        <p:blipFill>
          <a:blip r:embed="rId2">
            <a:extLst/>
          </a:blip>
          <a:stretch>
            <a:fillRect/>
          </a:stretch>
        </p:blipFill>
        <p:spPr>
          <a:xfrm>
            <a:off x="11379841" y="429420"/>
            <a:ext cx="482229" cy="482440"/>
          </a:xfrm>
          <a:prstGeom prst="rect">
            <a:avLst/>
          </a:prstGeom>
          <a:ln w="12700">
            <a:miter lim="400000"/>
          </a:ln>
        </p:spPr>
      </p:pic>
      <p:sp>
        <p:nvSpPr>
          <p:cNvPr id="3" name="Slide Number"/>
          <p:cNvSpPr txBox="1"/>
          <p:nvPr>
            <p:ph type="sldNum" sz="quarter" idx="2"/>
          </p:nvPr>
        </p:nvSpPr>
        <p:spPr>
          <a:xfrm>
            <a:off x="421638" y="6524625"/>
            <a:ext cx="266973" cy="279400"/>
          </a:xfrm>
          <a:prstGeom prst="rect">
            <a:avLst/>
          </a:prstGeom>
          <a:ln w="12700">
            <a:miter lim="400000"/>
          </a:ln>
        </p:spPr>
        <p:txBody>
          <a:bodyPr wrap="none" lIns="0" tIns="0" rIns="0" bIns="0">
            <a:spAutoFit/>
          </a:bodyPr>
          <a:lstStyle>
            <a:lvl1pPr>
              <a:defRPr>
                <a:solidFill>
                  <a:srgbClr val="000000"/>
                </a:solidFill>
                <a:latin typeface="+mj-lt"/>
                <a:ea typeface="+mj-ea"/>
                <a:cs typeface="+mj-cs"/>
                <a:sym typeface="Helvetica"/>
              </a:defRPr>
            </a:lvl1pPr>
          </a:lstStyle>
          <a:p>
            <a:pPr/>
            <a:fld id="{86CB4B4D-7CA3-9044-876B-883B54F8677D}" type="slidenum"/>
          </a:p>
        </p:txBody>
      </p:sp>
      <p:sp>
        <p:nvSpPr>
          <p:cNvPr id="4" name="Title Text"/>
          <p:cNvSpPr txBox="1"/>
          <p:nvPr>
            <p:ph type="title"/>
          </p:nvPr>
        </p:nvSpPr>
        <p:spPr>
          <a:xfrm>
            <a:off x="609600" y="274637"/>
            <a:ext cx="10972800" cy="1325563"/>
          </a:xfrm>
          <a:prstGeom prst="rect">
            <a:avLst/>
          </a:prstGeom>
          <a:ln w="12700">
            <a:miter lim="400000"/>
          </a:ln>
          <a:extLst>
            <a:ext uri="{C572A759-6A51-4108-AA02-DFA0A04FC94B}">
              <ma14:wrappingTextBoxFlag xmlns:ma14="http://schemas.microsoft.com/office/mac/drawingml/2011/main" val="1"/>
            </a:ext>
          </a:extLst>
        </p:spPr>
        <p:txBody>
          <a:bodyPr lIns="36000" tIns="36000" rIns="36000" bIns="36000"/>
          <a:lstStyle/>
          <a:p>
            <a:pPr/>
            <a:r>
              <a:t>Title Text</a:t>
            </a:r>
          </a:p>
        </p:txBody>
      </p:sp>
      <p:sp>
        <p:nvSpPr>
          <p:cNvPr id="5"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36000" tIns="36000" rIns="36000" bIns="36000"/>
          <a:lstStyle/>
          <a:p>
            <a:pPr/>
            <a:r>
              <a:t>Body Level One</a:t>
            </a:r>
          </a:p>
          <a:p>
            <a:pPr lvl="1"/>
            <a:r>
              <a:t>Body Level Two</a:t>
            </a:r>
          </a:p>
          <a:p>
            <a:pPr lvl="2"/>
            <a:r>
              <a:t>Body Level Three</a:t>
            </a:r>
          </a:p>
          <a:p>
            <a:pPr lvl="3"/>
            <a:r>
              <a:t>Body Level Four</a:t>
            </a:r>
          </a:p>
          <a:p>
            <a:pPr lvl="4"/>
            <a:r>
              <a:t>Body Level Five</a:t>
            </a:r>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Lst>
  <p:transition xmlns:p14="http://schemas.microsoft.com/office/powerpoint/2010/main" spd="med" advClick="1"/>
  <p:txStyles>
    <p:titleStyle>
      <a:lvl1pPr marL="0" marR="0" indent="0" algn="l" defTabSz="914400" rtl="0" latinLnBrk="0">
        <a:lnSpc>
          <a:spcPct val="85000"/>
        </a:lnSpc>
        <a:spcBef>
          <a:spcPts val="300"/>
        </a:spcBef>
        <a:spcAft>
          <a:spcPts val="0"/>
        </a:spcAft>
        <a:buClrTx/>
        <a:buSzTx/>
        <a:buFontTx/>
        <a:buNone/>
        <a:tabLst/>
        <a:defRPr b="0" baseline="0" cap="none" i="0" spc="-159" strike="noStrike" sz="4000" u="none">
          <a:solidFill>
            <a:srgbClr val="181818"/>
          </a:solidFill>
          <a:uFillTx/>
          <a:latin typeface="+mn-lt"/>
          <a:ea typeface="+mn-ea"/>
          <a:cs typeface="+mn-cs"/>
          <a:sym typeface="Ericsson Hilda Light"/>
        </a:defRPr>
      </a:lvl1pPr>
      <a:lvl2pPr marL="0" marR="0" indent="0" algn="l" defTabSz="914400" rtl="0" latinLnBrk="0">
        <a:lnSpc>
          <a:spcPct val="85000"/>
        </a:lnSpc>
        <a:spcBef>
          <a:spcPts val="300"/>
        </a:spcBef>
        <a:spcAft>
          <a:spcPts val="0"/>
        </a:spcAft>
        <a:buClrTx/>
        <a:buSzTx/>
        <a:buFontTx/>
        <a:buNone/>
        <a:tabLst/>
        <a:defRPr b="0" baseline="0" cap="none" i="0" spc="-159" strike="noStrike" sz="4000" u="none">
          <a:solidFill>
            <a:srgbClr val="181818"/>
          </a:solidFill>
          <a:uFillTx/>
          <a:latin typeface="+mn-lt"/>
          <a:ea typeface="+mn-ea"/>
          <a:cs typeface="+mn-cs"/>
          <a:sym typeface="Ericsson Hilda Light"/>
        </a:defRPr>
      </a:lvl2pPr>
      <a:lvl3pPr marL="0" marR="0" indent="0" algn="l" defTabSz="914400" rtl="0" latinLnBrk="0">
        <a:lnSpc>
          <a:spcPct val="85000"/>
        </a:lnSpc>
        <a:spcBef>
          <a:spcPts val="300"/>
        </a:spcBef>
        <a:spcAft>
          <a:spcPts val="0"/>
        </a:spcAft>
        <a:buClrTx/>
        <a:buSzTx/>
        <a:buFontTx/>
        <a:buNone/>
        <a:tabLst/>
        <a:defRPr b="0" baseline="0" cap="none" i="0" spc="-159" strike="noStrike" sz="4000" u="none">
          <a:solidFill>
            <a:srgbClr val="181818"/>
          </a:solidFill>
          <a:uFillTx/>
          <a:latin typeface="+mn-lt"/>
          <a:ea typeface="+mn-ea"/>
          <a:cs typeface="+mn-cs"/>
          <a:sym typeface="Ericsson Hilda Light"/>
        </a:defRPr>
      </a:lvl3pPr>
      <a:lvl4pPr marL="0" marR="0" indent="0" algn="l" defTabSz="914400" rtl="0" latinLnBrk="0">
        <a:lnSpc>
          <a:spcPct val="85000"/>
        </a:lnSpc>
        <a:spcBef>
          <a:spcPts val="300"/>
        </a:spcBef>
        <a:spcAft>
          <a:spcPts val="0"/>
        </a:spcAft>
        <a:buClrTx/>
        <a:buSzTx/>
        <a:buFontTx/>
        <a:buNone/>
        <a:tabLst/>
        <a:defRPr b="0" baseline="0" cap="none" i="0" spc="-159" strike="noStrike" sz="4000" u="none">
          <a:solidFill>
            <a:srgbClr val="181818"/>
          </a:solidFill>
          <a:uFillTx/>
          <a:latin typeface="+mn-lt"/>
          <a:ea typeface="+mn-ea"/>
          <a:cs typeface="+mn-cs"/>
          <a:sym typeface="Ericsson Hilda Light"/>
        </a:defRPr>
      </a:lvl4pPr>
      <a:lvl5pPr marL="0" marR="0" indent="0" algn="l" defTabSz="914400" rtl="0" latinLnBrk="0">
        <a:lnSpc>
          <a:spcPct val="85000"/>
        </a:lnSpc>
        <a:spcBef>
          <a:spcPts val="300"/>
        </a:spcBef>
        <a:spcAft>
          <a:spcPts val="0"/>
        </a:spcAft>
        <a:buClrTx/>
        <a:buSzTx/>
        <a:buFontTx/>
        <a:buNone/>
        <a:tabLst/>
        <a:defRPr b="0" baseline="0" cap="none" i="0" spc="-159" strike="noStrike" sz="4000" u="none">
          <a:solidFill>
            <a:srgbClr val="181818"/>
          </a:solidFill>
          <a:uFillTx/>
          <a:latin typeface="+mn-lt"/>
          <a:ea typeface="+mn-ea"/>
          <a:cs typeface="+mn-cs"/>
          <a:sym typeface="Ericsson Hilda Light"/>
        </a:defRPr>
      </a:lvl5pPr>
      <a:lvl6pPr marL="0" marR="0" indent="457200" algn="l" defTabSz="914400" rtl="0" latinLnBrk="0">
        <a:lnSpc>
          <a:spcPct val="85000"/>
        </a:lnSpc>
        <a:spcBef>
          <a:spcPts val="300"/>
        </a:spcBef>
        <a:spcAft>
          <a:spcPts val="0"/>
        </a:spcAft>
        <a:buClrTx/>
        <a:buSzTx/>
        <a:buFontTx/>
        <a:buNone/>
        <a:tabLst/>
        <a:defRPr b="0" baseline="0" cap="none" i="0" spc="-159" strike="noStrike" sz="4000" u="none">
          <a:solidFill>
            <a:srgbClr val="181818"/>
          </a:solidFill>
          <a:uFillTx/>
          <a:latin typeface="+mn-lt"/>
          <a:ea typeface="+mn-ea"/>
          <a:cs typeface="+mn-cs"/>
          <a:sym typeface="Ericsson Hilda Light"/>
        </a:defRPr>
      </a:lvl6pPr>
      <a:lvl7pPr marL="0" marR="0" indent="914400" algn="l" defTabSz="914400" rtl="0" latinLnBrk="0">
        <a:lnSpc>
          <a:spcPct val="85000"/>
        </a:lnSpc>
        <a:spcBef>
          <a:spcPts val="300"/>
        </a:spcBef>
        <a:spcAft>
          <a:spcPts val="0"/>
        </a:spcAft>
        <a:buClrTx/>
        <a:buSzTx/>
        <a:buFontTx/>
        <a:buNone/>
        <a:tabLst/>
        <a:defRPr b="0" baseline="0" cap="none" i="0" spc="-159" strike="noStrike" sz="4000" u="none">
          <a:solidFill>
            <a:srgbClr val="181818"/>
          </a:solidFill>
          <a:uFillTx/>
          <a:latin typeface="+mn-lt"/>
          <a:ea typeface="+mn-ea"/>
          <a:cs typeface="+mn-cs"/>
          <a:sym typeface="Ericsson Hilda Light"/>
        </a:defRPr>
      </a:lvl7pPr>
      <a:lvl8pPr marL="0" marR="0" indent="1371600" algn="l" defTabSz="914400" rtl="0" latinLnBrk="0">
        <a:lnSpc>
          <a:spcPct val="85000"/>
        </a:lnSpc>
        <a:spcBef>
          <a:spcPts val="300"/>
        </a:spcBef>
        <a:spcAft>
          <a:spcPts val="0"/>
        </a:spcAft>
        <a:buClrTx/>
        <a:buSzTx/>
        <a:buFontTx/>
        <a:buNone/>
        <a:tabLst/>
        <a:defRPr b="0" baseline="0" cap="none" i="0" spc="-159" strike="noStrike" sz="4000" u="none">
          <a:solidFill>
            <a:srgbClr val="181818"/>
          </a:solidFill>
          <a:uFillTx/>
          <a:latin typeface="+mn-lt"/>
          <a:ea typeface="+mn-ea"/>
          <a:cs typeface="+mn-cs"/>
          <a:sym typeface="Ericsson Hilda Light"/>
        </a:defRPr>
      </a:lvl8pPr>
      <a:lvl9pPr marL="0" marR="0" indent="1828800" algn="l" defTabSz="914400" rtl="0" latinLnBrk="0">
        <a:lnSpc>
          <a:spcPct val="85000"/>
        </a:lnSpc>
        <a:spcBef>
          <a:spcPts val="300"/>
        </a:spcBef>
        <a:spcAft>
          <a:spcPts val="0"/>
        </a:spcAft>
        <a:buClrTx/>
        <a:buSzTx/>
        <a:buFontTx/>
        <a:buNone/>
        <a:tabLst/>
        <a:defRPr b="0" baseline="0" cap="none" i="0" spc="-159" strike="noStrike" sz="4000" u="none">
          <a:solidFill>
            <a:srgbClr val="181818"/>
          </a:solidFill>
          <a:uFillTx/>
          <a:latin typeface="+mn-lt"/>
          <a:ea typeface="+mn-ea"/>
          <a:cs typeface="+mn-cs"/>
          <a:sym typeface="Ericsson Hilda Light"/>
        </a:defRPr>
      </a:lvl9pPr>
    </p:titleStyle>
    <p:bodyStyle>
      <a:lvl1pPr marL="265112" marR="0" indent="-265112" algn="l" defTabSz="914400" rtl="0" latinLnBrk="0">
        <a:lnSpc>
          <a:spcPct val="100000"/>
        </a:lnSpc>
        <a:spcBef>
          <a:spcPts val="800"/>
        </a:spcBef>
        <a:spcAft>
          <a:spcPts val="0"/>
        </a:spcAft>
        <a:buClrTx/>
        <a:buSzPct val="100000"/>
        <a:buFont typeface="Ericsson Hilda Regular"/>
        <a:buChar char="●"/>
        <a:tabLst/>
        <a:defRPr b="0" baseline="0" cap="none" i="0" spc="-30" strike="noStrike" sz="2000" u="none">
          <a:solidFill>
            <a:srgbClr val="181818"/>
          </a:solidFill>
          <a:uFillTx/>
          <a:latin typeface="Ericsson Hilda Regular"/>
          <a:ea typeface="Ericsson Hilda Regular"/>
          <a:cs typeface="Ericsson Hilda Regular"/>
          <a:sym typeface="Ericsson Hilda Regular"/>
        </a:defRPr>
      </a:lvl1pPr>
      <a:lvl2pPr marL="538162" marR="0" indent="-273050" algn="l" defTabSz="914400" rtl="0" latinLnBrk="0">
        <a:lnSpc>
          <a:spcPct val="100000"/>
        </a:lnSpc>
        <a:spcBef>
          <a:spcPts val="800"/>
        </a:spcBef>
        <a:spcAft>
          <a:spcPts val="0"/>
        </a:spcAft>
        <a:buClrTx/>
        <a:buSzPct val="100000"/>
        <a:buFont typeface="Ericsson Hilda Regular"/>
        <a:buChar char="–"/>
        <a:tabLst/>
        <a:defRPr b="0" baseline="0" cap="none" i="0" spc="-30" strike="noStrike" sz="2000" u="none">
          <a:solidFill>
            <a:srgbClr val="181818"/>
          </a:solidFill>
          <a:uFillTx/>
          <a:latin typeface="Ericsson Hilda Regular"/>
          <a:ea typeface="Ericsson Hilda Regular"/>
          <a:cs typeface="Ericsson Hilda Regular"/>
          <a:sym typeface="Ericsson Hilda Regular"/>
        </a:defRPr>
      </a:lvl2pPr>
      <a:lvl3pPr marL="803275" marR="0" indent="-265112" algn="l" defTabSz="914400" rtl="0" latinLnBrk="0">
        <a:lnSpc>
          <a:spcPct val="100000"/>
        </a:lnSpc>
        <a:spcBef>
          <a:spcPts val="800"/>
        </a:spcBef>
        <a:spcAft>
          <a:spcPts val="0"/>
        </a:spcAft>
        <a:buClrTx/>
        <a:buSzPct val="100000"/>
        <a:buFont typeface="Ericsson Hilda Regular"/>
        <a:buChar char="●"/>
        <a:tabLst/>
        <a:defRPr b="0" baseline="0" cap="none" i="0" spc="-30" strike="noStrike" sz="2000" u="none">
          <a:solidFill>
            <a:srgbClr val="181818"/>
          </a:solidFill>
          <a:uFillTx/>
          <a:latin typeface="Ericsson Hilda Regular"/>
          <a:ea typeface="Ericsson Hilda Regular"/>
          <a:cs typeface="Ericsson Hilda Regular"/>
          <a:sym typeface="Ericsson Hilda Regular"/>
        </a:defRPr>
      </a:lvl3pPr>
      <a:lvl4pPr marL="1076325" marR="0" indent="-273050" algn="l" defTabSz="914400" rtl="0" latinLnBrk="0">
        <a:lnSpc>
          <a:spcPct val="100000"/>
        </a:lnSpc>
        <a:spcBef>
          <a:spcPts val="800"/>
        </a:spcBef>
        <a:spcAft>
          <a:spcPts val="0"/>
        </a:spcAft>
        <a:buClrTx/>
        <a:buSzPct val="100000"/>
        <a:buFont typeface="Ericsson Hilda Regular"/>
        <a:buChar char="–"/>
        <a:tabLst/>
        <a:defRPr b="0" baseline="0" cap="none" i="0" spc="-30" strike="noStrike" sz="2000" u="none">
          <a:solidFill>
            <a:srgbClr val="181818"/>
          </a:solidFill>
          <a:uFillTx/>
          <a:latin typeface="Ericsson Hilda Regular"/>
          <a:ea typeface="Ericsson Hilda Regular"/>
          <a:cs typeface="Ericsson Hilda Regular"/>
          <a:sym typeface="Ericsson Hilda Regular"/>
        </a:defRPr>
      </a:lvl4pPr>
      <a:lvl5pPr marL="1341437" marR="0" indent="-265112" algn="l" defTabSz="914400" rtl="0" latinLnBrk="0">
        <a:lnSpc>
          <a:spcPct val="100000"/>
        </a:lnSpc>
        <a:spcBef>
          <a:spcPts val="800"/>
        </a:spcBef>
        <a:spcAft>
          <a:spcPts val="0"/>
        </a:spcAft>
        <a:buClrTx/>
        <a:buSzPct val="100000"/>
        <a:buFont typeface="Ericsson Hilda Regular"/>
        <a:buChar char="●"/>
        <a:tabLst/>
        <a:defRPr b="0" baseline="0" cap="none" i="0" spc="-30" strike="noStrike" sz="2000" u="none">
          <a:solidFill>
            <a:srgbClr val="181818"/>
          </a:solidFill>
          <a:uFillTx/>
          <a:latin typeface="Ericsson Hilda Regular"/>
          <a:ea typeface="Ericsson Hilda Regular"/>
          <a:cs typeface="Ericsson Hilda Regular"/>
          <a:sym typeface="Ericsson Hilda Regular"/>
        </a:defRPr>
      </a:lvl5pPr>
      <a:lvl6pPr marL="1341437" marR="0" indent="-265112" algn="l" defTabSz="914400" rtl="0" latinLnBrk="0">
        <a:lnSpc>
          <a:spcPct val="100000"/>
        </a:lnSpc>
        <a:spcBef>
          <a:spcPts val="800"/>
        </a:spcBef>
        <a:spcAft>
          <a:spcPts val="0"/>
        </a:spcAft>
        <a:buClrTx/>
        <a:buSzPct val="100000"/>
        <a:buFont typeface="Ericsson Hilda Regular"/>
        <a:buChar char="●"/>
        <a:tabLst/>
        <a:defRPr b="0" baseline="0" cap="none" i="0" spc="-30" strike="noStrike" sz="2000" u="none">
          <a:solidFill>
            <a:srgbClr val="181818"/>
          </a:solidFill>
          <a:uFillTx/>
          <a:latin typeface="Ericsson Hilda Regular"/>
          <a:ea typeface="Ericsson Hilda Regular"/>
          <a:cs typeface="Ericsson Hilda Regular"/>
          <a:sym typeface="Ericsson Hilda Regular"/>
        </a:defRPr>
      </a:lvl6pPr>
      <a:lvl7pPr marL="1341437" marR="0" indent="-265112" algn="l" defTabSz="914400" rtl="0" latinLnBrk="0">
        <a:lnSpc>
          <a:spcPct val="100000"/>
        </a:lnSpc>
        <a:spcBef>
          <a:spcPts val="800"/>
        </a:spcBef>
        <a:spcAft>
          <a:spcPts val="0"/>
        </a:spcAft>
        <a:buClrTx/>
        <a:buSzPct val="100000"/>
        <a:buFont typeface="Ericsson Hilda Regular"/>
        <a:buChar char="●"/>
        <a:tabLst/>
        <a:defRPr b="0" baseline="0" cap="none" i="0" spc="-30" strike="noStrike" sz="2000" u="none">
          <a:solidFill>
            <a:srgbClr val="181818"/>
          </a:solidFill>
          <a:uFillTx/>
          <a:latin typeface="Ericsson Hilda Regular"/>
          <a:ea typeface="Ericsson Hilda Regular"/>
          <a:cs typeface="Ericsson Hilda Regular"/>
          <a:sym typeface="Ericsson Hilda Regular"/>
        </a:defRPr>
      </a:lvl7pPr>
      <a:lvl8pPr marL="1341437" marR="0" indent="-265112" algn="l" defTabSz="914400" rtl="0" latinLnBrk="0">
        <a:lnSpc>
          <a:spcPct val="100000"/>
        </a:lnSpc>
        <a:spcBef>
          <a:spcPts val="800"/>
        </a:spcBef>
        <a:spcAft>
          <a:spcPts val="0"/>
        </a:spcAft>
        <a:buClrTx/>
        <a:buSzPct val="100000"/>
        <a:buFont typeface="Ericsson Hilda Regular"/>
        <a:buChar char="●"/>
        <a:tabLst/>
        <a:defRPr b="0" baseline="0" cap="none" i="0" spc="-30" strike="noStrike" sz="2000" u="none">
          <a:solidFill>
            <a:srgbClr val="181818"/>
          </a:solidFill>
          <a:uFillTx/>
          <a:latin typeface="Ericsson Hilda Regular"/>
          <a:ea typeface="Ericsson Hilda Regular"/>
          <a:cs typeface="Ericsson Hilda Regular"/>
          <a:sym typeface="Ericsson Hilda Regular"/>
        </a:defRPr>
      </a:lvl8pPr>
      <a:lvl9pPr marL="1341437" marR="0" indent="-265112" algn="l" defTabSz="914400" rtl="0" latinLnBrk="0">
        <a:lnSpc>
          <a:spcPct val="100000"/>
        </a:lnSpc>
        <a:spcBef>
          <a:spcPts val="800"/>
        </a:spcBef>
        <a:spcAft>
          <a:spcPts val="0"/>
        </a:spcAft>
        <a:buClrTx/>
        <a:buSzPct val="100000"/>
        <a:buFont typeface="Ericsson Hilda Regular"/>
        <a:buChar char="●"/>
        <a:tabLst/>
        <a:defRPr b="0" baseline="0" cap="none" i="0" spc="-30" strike="noStrike" sz="2000" u="none">
          <a:solidFill>
            <a:srgbClr val="181818"/>
          </a:solidFill>
          <a:uFillTx/>
          <a:latin typeface="Ericsson Hilda Regular"/>
          <a:ea typeface="Ericsson Hilda Regular"/>
          <a:cs typeface="Ericsson Hilda Regular"/>
          <a:sym typeface="Ericsson Hilda Regular"/>
        </a:defRPr>
      </a:lvl9pPr>
    </p:bodyStyle>
    <p:otherStyle>
      <a:lvl1pPr marL="0" marR="0" indent="0" algn="l"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1pPr>
      <a:lvl2pPr marL="0" marR="0" indent="0" algn="l"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2pPr>
      <a:lvl3pPr marL="0" marR="0" indent="0" algn="l"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3pPr>
      <a:lvl4pPr marL="0" marR="0" indent="0" algn="l"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4pPr>
      <a:lvl5pPr marL="0" marR="0" indent="0" algn="l"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5pPr>
      <a:lvl6pPr marL="0" marR="0" indent="0" algn="l"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6pPr>
      <a:lvl7pPr marL="0" marR="0" indent="0" algn="l"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7pPr>
      <a:lvl8pPr marL="0" marR="0" indent="0" algn="l"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8pPr>
      <a:lvl9pPr marL="0" marR="0" indent="0" algn="l"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15.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0.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8.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9.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tif"/></Relationships>

</file>

<file path=ppt/slides/_rels/slide14.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31.png"/><Relationship Id="rId4" Type="http://schemas.openxmlformats.org/officeDocument/2006/relationships/image" Target="../media/image32.png"/></Relationships>

</file>

<file path=ppt/slides/_rels/slide23.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33.png"/><Relationship Id="rId4" Type="http://schemas.openxmlformats.org/officeDocument/2006/relationships/image" Target="../media/image34.png"/></Relationships>

</file>

<file path=ppt/slides/_rels/slide24.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7" name="Title 1"/>
          <p:cNvSpPr txBox="1"/>
          <p:nvPr>
            <p:ph type="title"/>
          </p:nvPr>
        </p:nvSpPr>
        <p:spPr>
          <a:xfrm>
            <a:off x="479425" y="476249"/>
            <a:ext cx="8353426" cy="2781529"/>
          </a:xfrm>
          <a:prstGeom prst="rect">
            <a:avLst/>
          </a:prstGeom>
        </p:spPr>
        <p:txBody>
          <a:bodyPr/>
          <a:lstStyle/>
          <a:p>
            <a:pPr>
              <a:defRPr spc="-372" sz="8200">
                <a:solidFill>
                  <a:srgbClr val="000000"/>
                </a:solidFill>
              </a:defRPr>
            </a:pPr>
            <a:r>
              <a:t>EdgeVision</a:t>
            </a:r>
          </a:p>
          <a:p>
            <a:pPr>
              <a:defRPr spc="-136" sz="3000">
                <a:solidFill>
                  <a:srgbClr val="000000"/>
                </a:solidFill>
              </a:defRPr>
            </a:pPr>
            <a:r>
              <a:t>- A real-world offloading demo in the LTH 5G Lab</a:t>
            </a:r>
          </a:p>
          <a:p>
            <a:pPr>
              <a:defRPr spc="-136" sz="3000">
                <a:solidFill>
                  <a:srgbClr val="000000"/>
                </a:solidFill>
              </a:defRPr>
            </a:pPr>
          </a:p>
        </p:txBody>
      </p:sp>
      <p:sp>
        <p:nvSpPr>
          <p:cNvPr id="288" name="Subtitle 2"/>
          <p:cNvSpPr txBox="1"/>
          <p:nvPr>
            <p:ph type="body" sz="half" idx="1"/>
          </p:nvPr>
        </p:nvSpPr>
        <p:spPr>
          <a:xfrm>
            <a:off x="521875" y="4700521"/>
            <a:ext cx="9198915" cy="1920748"/>
          </a:xfrm>
          <a:prstGeom prst="rect">
            <a:avLst/>
          </a:prstGeom>
        </p:spPr>
        <p:txBody>
          <a:bodyPr/>
          <a:lstStyle/>
          <a:p>
            <a:pPr>
              <a:defRPr spc="-144" sz="2600">
                <a:solidFill>
                  <a:srgbClr val="242424"/>
                </a:solidFill>
              </a:defRPr>
            </a:pPr>
            <a:r>
              <a:t>Johan Eker, Ericsson</a:t>
            </a:r>
          </a:p>
          <a:p>
            <a:pPr>
              <a:defRPr spc="-144" sz="2600">
                <a:solidFill>
                  <a:srgbClr val="242424"/>
                </a:solidFill>
              </a:defRPr>
            </a:pPr>
          </a:p>
          <a:p>
            <a:pPr>
              <a:defRPr spc="-144" sz="2600">
                <a:solidFill>
                  <a:srgbClr val="242424"/>
                </a:solidFill>
              </a:defRPr>
            </a:pPr>
          </a:p>
          <a:p>
            <a:pPr>
              <a:defRPr spc="-116" sz="2100">
                <a:solidFill>
                  <a:srgbClr val="242424"/>
                </a:solidFill>
              </a:defRPr>
            </a:pPr>
            <a:r>
              <a:t>Work is part of the NextG2Com Competence Center, Vinnova projects AORTA &amp; 6G-FOX </a:t>
            </a:r>
          </a:p>
          <a:p>
            <a:pPr>
              <a:defRPr spc="-116" sz="2100">
                <a:solidFill>
                  <a:srgbClr val="242424"/>
                </a:solidFill>
              </a:defRPr>
            </a:pPr>
            <a:r>
              <a:t>and the WASP research arena WARA-Ops</a:t>
            </a:r>
          </a:p>
        </p:txBody>
      </p:sp>
      <p:pic>
        <p:nvPicPr>
          <p:cNvPr id="289" name="pasted-movie.png" descr="pasted-movie.png"/>
          <p:cNvPicPr>
            <a:picLocks noChangeAspect="1"/>
          </p:cNvPicPr>
          <p:nvPr/>
        </p:nvPicPr>
        <p:blipFill>
          <a:blip r:embed="rId3">
            <a:extLst/>
          </a:blip>
          <a:srcRect l="1920" t="0" r="1920" b="10882"/>
          <a:stretch>
            <a:fillRect/>
          </a:stretch>
        </p:blipFill>
        <p:spPr>
          <a:xfrm>
            <a:off x="477299" y="2505583"/>
            <a:ext cx="9287905" cy="1453958"/>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3" name="Title 1"/>
          <p:cNvSpPr txBox="1"/>
          <p:nvPr>
            <p:ph type="title"/>
          </p:nvPr>
        </p:nvSpPr>
        <p:spPr>
          <a:xfrm>
            <a:off x="479423" y="476251"/>
            <a:ext cx="10352466" cy="1081089"/>
          </a:xfrm>
          <a:prstGeom prst="rect">
            <a:avLst/>
          </a:prstGeom>
        </p:spPr>
        <p:txBody>
          <a:bodyPr/>
          <a:lstStyle>
            <a:lvl1pPr>
              <a:defRPr spc="-240" sz="4800"/>
            </a:lvl1pPr>
          </a:lstStyle>
          <a:p>
            <a:pPr/>
            <a:r>
              <a:t>6G is a network platform</a:t>
            </a:r>
          </a:p>
        </p:txBody>
      </p:sp>
      <p:grpSp>
        <p:nvGrpSpPr>
          <p:cNvPr id="296" name="TextBox 6"/>
          <p:cNvGrpSpPr/>
          <p:nvPr/>
        </p:nvGrpSpPr>
        <p:grpSpPr>
          <a:xfrm>
            <a:off x="1436914" y="4496344"/>
            <a:ext cx="4165234" cy="991275"/>
            <a:chOff x="0" y="0"/>
            <a:chExt cx="4165232" cy="991273"/>
          </a:xfrm>
        </p:grpSpPr>
        <p:sp>
          <p:nvSpPr>
            <p:cNvPr id="294" name="Rectangle"/>
            <p:cNvSpPr/>
            <p:nvPr/>
          </p:nvSpPr>
          <p:spPr>
            <a:xfrm>
              <a:off x="-1" y="0"/>
              <a:ext cx="4165234" cy="991274"/>
            </a:xfrm>
            <a:prstGeom prst="rect">
              <a:avLst/>
            </a:prstGeom>
            <a:gradFill flip="none" rotWithShape="1">
              <a:gsLst>
                <a:gs pos="48000">
                  <a:schemeClr val="accent5"/>
                </a:gs>
                <a:gs pos="74000">
                  <a:schemeClr val="accent3"/>
                </a:gs>
                <a:gs pos="100000">
                  <a:schemeClr val="accent3"/>
                </a:gs>
              </a:gsLst>
              <a:lin ang="0" scaled="0"/>
            </a:gradFill>
            <a:ln w="12700" cap="flat">
              <a:noFill/>
              <a:miter lim="400000"/>
            </a:ln>
            <a:effectLst/>
          </p:spPr>
          <p:txBody>
            <a:bodyPr wrap="square" lIns="45719" tIns="45719" rIns="45719" bIns="45719" numCol="1" anchor="ctr">
              <a:noAutofit/>
            </a:bodyPr>
            <a:lstStyle/>
            <a:p>
              <a:pPr defTabSz="914377">
                <a:spcBef>
                  <a:spcPts val="800"/>
                </a:spcBef>
                <a:defRPr>
                  <a:solidFill>
                    <a:srgbClr val="000000"/>
                  </a:solidFill>
                </a:defRPr>
              </a:pPr>
            </a:p>
          </p:txBody>
        </p:sp>
        <p:sp>
          <p:nvSpPr>
            <p:cNvPr id="295" name="Transport data for anything, anywhere"/>
            <p:cNvSpPr txBox="1"/>
            <p:nvPr/>
          </p:nvSpPr>
          <p:spPr>
            <a:xfrm>
              <a:off x="179999" y="154836"/>
              <a:ext cx="3949234" cy="681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6000" tIns="36000" rIns="36000" bIns="36000" numCol="1" anchor="ctr">
              <a:spAutoFit/>
            </a:bodyPr>
            <a:lstStyle>
              <a:lvl1pPr defTabSz="914377">
                <a:spcBef>
                  <a:spcPts val="800"/>
                </a:spcBef>
                <a:defRPr spc="-31" sz="2000">
                  <a:solidFill>
                    <a:srgbClr val="FFFFFF"/>
                  </a:solidFill>
                </a:defRPr>
              </a:lvl1pPr>
            </a:lstStyle>
            <a:p>
              <a:pPr/>
              <a:r>
                <a:t>Transport data for anything, anywhere</a:t>
              </a:r>
            </a:p>
          </p:txBody>
        </p:sp>
      </p:grpSp>
      <p:sp>
        <p:nvSpPr>
          <p:cNvPr id="297" name="TextBox 10"/>
          <p:cNvSpPr txBox="1"/>
          <p:nvPr/>
        </p:nvSpPr>
        <p:spPr>
          <a:xfrm>
            <a:off x="1642036" y="3227302"/>
            <a:ext cx="3423531" cy="681601"/>
          </a:xfrm>
          <a:prstGeom prst="rect">
            <a:avLst/>
          </a:prstGeom>
          <a:ln w="12700">
            <a:miter lim="400000"/>
          </a:ln>
          <a:extLst>
            <a:ext uri="{C572A759-6A51-4108-AA02-DFA0A04FC94B}">
              <ma14:wrappingTextBoxFlag xmlns:ma14="http://schemas.microsoft.com/office/mac/drawingml/2011/main" val="1"/>
            </a:ext>
          </a:extLst>
        </p:spPr>
        <p:txBody>
          <a:bodyPr wrap="none" lIns="36000" tIns="36000" rIns="36000" bIns="36000">
            <a:spAutoFit/>
          </a:bodyPr>
          <a:lstStyle/>
          <a:p>
            <a:pPr algn="ctr" defTabSz="914377">
              <a:spcBef>
                <a:spcPts val="800"/>
              </a:spcBef>
              <a:defRPr spc="-31" sz="2000"/>
            </a:pPr>
            <a:r>
              <a:t>Network APIs for differentiated </a:t>
            </a:r>
            <a:br/>
            <a:r>
              <a:t>communication services</a:t>
            </a:r>
          </a:p>
        </p:txBody>
      </p:sp>
      <p:sp>
        <p:nvSpPr>
          <p:cNvPr id="298" name="Arrow: Right 10"/>
          <p:cNvSpPr/>
          <p:nvPr/>
        </p:nvSpPr>
        <p:spPr>
          <a:xfrm rot="16200000">
            <a:off x="2721632" y="4019596"/>
            <a:ext cx="275493" cy="205156"/>
          </a:xfrm>
          <a:prstGeom prst="rightArrow">
            <a:avLst>
              <a:gd name="adj1" fmla="val 50000"/>
              <a:gd name="adj2" fmla="val 50000"/>
            </a:avLst>
          </a:prstGeom>
          <a:solidFill>
            <a:schemeClr val="accent5"/>
          </a:solidFill>
          <a:ln w="12700">
            <a:miter lim="400000"/>
          </a:ln>
        </p:spPr>
        <p:txBody>
          <a:bodyPr lIns="45719" rIns="45719"/>
          <a:lstStyle/>
          <a:p>
            <a:pPr defTabSz="914377">
              <a:spcBef>
                <a:spcPts val="800"/>
              </a:spcBef>
              <a:defRPr>
                <a:solidFill>
                  <a:srgbClr val="FFFFFF"/>
                </a:solidFill>
              </a:defRPr>
            </a:pPr>
          </a:p>
        </p:txBody>
      </p:sp>
      <p:sp>
        <p:nvSpPr>
          <p:cNvPr id="299" name="Arrow: Right 11"/>
          <p:cNvSpPr/>
          <p:nvPr/>
        </p:nvSpPr>
        <p:spPr>
          <a:xfrm rot="16200000">
            <a:off x="2962517" y="4019596"/>
            <a:ext cx="275493" cy="205156"/>
          </a:xfrm>
          <a:prstGeom prst="rightArrow">
            <a:avLst>
              <a:gd name="adj1" fmla="val 50000"/>
              <a:gd name="adj2" fmla="val 50000"/>
            </a:avLst>
          </a:prstGeom>
          <a:solidFill>
            <a:schemeClr val="accent5"/>
          </a:solidFill>
          <a:ln w="12700">
            <a:miter lim="400000"/>
          </a:ln>
        </p:spPr>
        <p:txBody>
          <a:bodyPr lIns="45719" rIns="45719"/>
          <a:lstStyle/>
          <a:p>
            <a:pPr defTabSz="914377">
              <a:spcBef>
                <a:spcPts val="800"/>
              </a:spcBef>
              <a:defRPr>
                <a:solidFill>
                  <a:srgbClr val="FFFFFF"/>
                </a:solidFill>
              </a:defRPr>
            </a:pPr>
          </a:p>
        </p:txBody>
      </p:sp>
      <p:sp>
        <p:nvSpPr>
          <p:cNvPr id="300" name="Arrow: Right 12"/>
          <p:cNvSpPr/>
          <p:nvPr/>
        </p:nvSpPr>
        <p:spPr>
          <a:xfrm rot="16200000">
            <a:off x="3216055" y="4018007"/>
            <a:ext cx="275493" cy="205156"/>
          </a:xfrm>
          <a:prstGeom prst="rightArrow">
            <a:avLst>
              <a:gd name="adj1" fmla="val 50000"/>
              <a:gd name="adj2" fmla="val 50000"/>
            </a:avLst>
          </a:prstGeom>
          <a:solidFill>
            <a:schemeClr val="accent5"/>
          </a:solidFill>
          <a:ln w="12700">
            <a:miter lim="400000"/>
          </a:ln>
        </p:spPr>
        <p:txBody>
          <a:bodyPr lIns="45719" rIns="45719"/>
          <a:lstStyle/>
          <a:p>
            <a:pPr defTabSz="914377">
              <a:spcBef>
                <a:spcPts val="800"/>
              </a:spcBef>
              <a:defRPr>
                <a:solidFill>
                  <a:srgbClr val="FFFFFF"/>
                </a:solidFill>
              </a:defRPr>
            </a:pPr>
          </a:p>
        </p:txBody>
      </p:sp>
      <p:sp>
        <p:nvSpPr>
          <p:cNvPr id="301" name="Arrow: Right 13"/>
          <p:cNvSpPr/>
          <p:nvPr/>
        </p:nvSpPr>
        <p:spPr>
          <a:xfrm rot="16200000">
            <a:off x="3473663" y="4018007"/>
            <a:ext cx="275493" cy="205156"/>
          </a:xfrm>
          <a:prstGeom prst="rightArrow">
            <a:avLst>
              <a:gd name="adj1" fmla="val 50000"/>
              <a:gd name="adj2" fmla="val 50000"/>
            </a:avLst>
          </a:prstGeom>
          <a:solidFill>
            <a:schemeClr val="accent3"/>
          </a:solidFill>
          <a:ln w="12700">
            <a:miter lim="400000"/>
          </a:ln>
        </p:spPr>
        <p:txBody>
          <a:bodyPr lIns="45719" rIns="45719"/>
          <a:lstStyle/>
          <a:p>
            <a:pPr defTabSz="914377">
              <a:spcBef>
                <a:spcPts val="800"/>
              </a:spcBef>
              <a:defRPr>
                <a:solidFill>
                  <a:srgbClr val="FFFFFF"/>
                </a:solidFill>
              </a:defRPr>
            </a:pPr>
          </a:p>
        </p:txBody>
      </p:sp>
      <p:sp>
        <p:nvSpPr>
          <p:cNvPr id="302" name="Arrow: Right 13"/>
          <p:cNvSpPr/>
          <p:nvPr/>
        </p:nvSpPr>
        <p:spPr>
          <a:xfrm rot="16200000">
            <a:off x="3717228" y="4017076"/>
            <a:ext cx="275493" cy="205156"/>
          </a:xfrm>
          <a:prstGeom prst="rightArrow">
            <a:avLst>
              <a:gd name="adj1" fmla="val 50000"/>
              <a:gd name="adj2" fmla="val 50000"/>
            </a:avLst>
          </a:prstGeom>
          <a:solidFill>
            <a:schemeClr val="accent3"/>
          </a:solidFill>
          <a:ln w="12700">
            <a:miter lim="400000"/>
          </a:ln>
        </p:spPr>
        <p:txBody>
          <a:bodyPr lIns="45719" rIns="45719"/>
          <a:lstStyle/>
          <a:p>
            <a:pPr defTabSz="914377">
              <a:spcBef>
                <a:spcPts val="800"/>
              </a:spcBef>
              <a:defRPr>
                <a:solidFill>
                  <a:srgbClr val="FFFFFF"/>
                </a:solidFill>
              </a:defRPr>
            </a:pPr>
          </a:p>
        </p:txBody>
      </p:sp>
      <p:grpSp>
        <p:nvGrpSpPr>
          <p:cNvPr id="316" name="Group"/>
          <p:cNvGrpSpPr/>
          <p:nvPr/>
        </p:nvGrpSpPr>
        <p:grpSpPr>
          <a:xfrm>
            <a:off x="5339862" y="3227302"/>
            <a:ext cx="4450477" cy="2260977"/>
            <a:chOff x="0" y="0"/>
            <a:chExt cx="4450476" cy="2260976"/>
          </a:xfrm>
        </p:grpSpPr>
        <p:sp>
          <p:nvSpPr>
            <p:cNvPr id="303" name="TextBox 2"/>
            <p:cNvSpPr/>
            <p:nvPr/>
          </p:nvSpPr>
          <p:spPr>
            <a:xfrm>
              <a:off x="0" y="1269702"/>
              <a:ext cx="4450477" cy="991275"/>
            </a:xfrm>
            <a:prstGeom prst="rect">
              <a:avLst/>
            </a:prstGeom>
            <a:solidFill>
              <a:schemeClr val="accent3"/>
            </a:solidFill>
            <a:ln w="12700" cap="flat">
              <a:noFill/>
              <a:miter lim="400000"/>
            </a:ln>
            <a:effectLst/>
          </p:spPr>
          <p:txBody>
            <a:bodyPr wrap="square" lIns="45719" tIns="45719" rIns="45719" bIns="45719" numCol="1" anchor="t">
              <a:noAutofit/>
            </a:bodyPr>
            <a:lstStyle/>
            <a:p>
              <a:pPr defTabSz="914377">
                <a:spcBef>
                  <a:spcPts val="800"/>
                </a:spcBef>
                <a:defRPr spc="-31" sz="2000">
                  <a:solidFill>
                    <a:srgbClr val="FFFFFF"/>
                  </a:solidFill>
                </a:defRPr>
              </a:pPr>
            </a:p>
          </p:txBody>
        </p:sp>
        <p:grpSp>
          <p:nvGrpSpPr>
            <p:cNvPr id="306" name="TextBox 7"/>
            <p:cNvGrpSpPr/>
            <p:nvPr/>
          </p:nvGrpSpPr>
          <p:grpSpPr>
            <a:xfrm>
              <a:off x="861216" y="1342601"/>
              <a:ext cx="3482748" cy="398836"/>
              <a:chOff x="0" y="0"/>
              <a:chExt cx="3482747" cy="398835"/>
            </a:xfrm>
          </p:grpSpPr>
          <p:sp>
            <p:nvSpPr>
              <p:cNvPr id="304" name="Rectangle"/>
              <p:cNvSpPr/>
              <p:nvPr/>
            </p:nvSpPr>
            <p:spPr>
              <a:xfrm>
                <a:off x="0" y="-1"/>
                <a:ext cx="3482748" cy="398837"/>
              </a:xfrm>
              <a:prstGeom prst="rect">
                <a:avLst/>
              </a:prstGeom>
              <a:solidFill>
                <a:srgbClr val="EAE2FD"/>
              </a:solidFill>
              <a:ln w="12700" cap="flat">
                <a:noFill/>
                <a:miter lim="400000"/>
              </a:ln>
              <a:effectLst/>
            </p:spPr>
            <p:txBody>
              <a:bodyPr wrap="square" lIns="45719" tIns="45719" rIns="45719" bIns="45719" numCol="1" anchor="ctr">
                <a:noAutofit/>
              </a:bodyPr>
              <a:lstStyle/>
              <a:p>
                <a:pPr algn="ctr" defTabSz="914377">
                  <a:spcBef>
                    <a:spcPts val="800"/>
                  </a:spcBef>
                  <a:defRPr>
                    <a:solidFill>
                      <a:srgbClr val="000000"/>
                    </a:solidFill>
                  </a:defRPr>
                </a:pPr>
              </a:p>
            </p:txBody>
          </p:sp>
          <p:sp>
            <p:nvSpPr>
              <p:cNvPr id="305" name="Process &amp; store data"/>
              <p:cNvSpPr txBox="1"/>
              <p:nvPr/>
            </p:nvSpPr>
            <p:spPr>
              <a:xfrm>
                <a:off x="108000" y="11017"/>
                <a:ext cx="3338748" cy="376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6000" tIns="36000" rIns="36000" bIns="36000" numCol="1" anchor="ctr">
                <a:spAutoFit/>
              </a:bodyPr>
              <a:lstStyle>
                <a:lvl1pPr algn="ctr" defTabSz="914377">
                  <a:spcBef>
                    <a:spcPts val="800"/>
                  </a:spcBef>
                  <a:defRPr spc="-31" sz="2000">
                    <a:solidFill>
                      <a:srgbClr val="5C297C"/>
                    </a:solidFill>
                  </a:defRPr>
                </a:lvl1pPr>
              </a:lstStyle>
              <a:p>
                <a:pPr/>
                <a:r>
                  <a:t>Process &amp; store data</a:t>
                </a:r>
              </a:p>
            </p:txBody>
          </p:sp>
        </p:grpSp>
        <p:grpSp>
          <p:nvGrpSpPr>
            <p:cNvPr id="309" name="TextBox 8"/>
            <p:cNvGrpSpPr/>
            <p:nvPr/>
          </p:nvGrpSpPr>
          <p:grpSpPr>
            <a:xfrm>
              <a:off x="861215" y="1811962"/>
              <a:ext cx="3482750" cy="398836"/>
              <a:chOff x="0" y="0"/>
              <a:chExt cx="3482749" cy="398835"/>
            </a:xfrm>
          </p:grpSpPr>
          <p:sp>
            <p:nvSpPr>
              <p:cNvPr id="307" name="Rectangle"/>
              <p:cNvSpPr/>
              <p:nvPr/>
            </p:nvSpPr>
            <p:spPr>
              <a:xfrm>
                <a:off x="-1" y="-1"/>
                <a:ext cx="3482751" cy="398837"/>
              </a:xfrm>
              <a:prstGeom prst="rect">
                <a:avLst/>
              </a:prstGeom>
              <a:solidFill>
                <a:srgbClr val="EAE2FD"/>
              </a:solidFill>
              <a:ln w="12700" cap="flat">
                <a:noFill/>
                <a:miter lim="400000"/>
              </a:ln>
              <a:effectLst/>
            </p:spPr>
            <p:txBody>
              <a:bodyPr wrap="square" lIns="45719" tIns="45719" rIns="45719" bIns="45719" numCol="1" anchor="ctr">
                <a:noAutofit/>
              </a:bodyPr>
              <a:lstStyle/>
              <a:p>
                <a:pPr algn="ctr" defTabSz="914377">
                  <a:spcBef>
                    <a:spcPts val="800"/>
                  </a:spcBef>
                  <a:defRPr>
                    <a:solidFill>
                      <a:srgbClr val="000000"/>
                    </a:solidFill>
                  </a:defRPr>
                </a:pPr>
              </a:p>
            </p:txBody>
          </p:sp>
          <p:sp>
            <p:nvSpPr>
              <p:cNvPr id="308" name="Be a source of data"/>
              <p:cNvSpPr txBox="1"/>
              <p:nvPr/>
            </p:nvSpPr>
            <p:spPr>
              <a:xfrm>
                <a:off x="107999" y="11017"/>
                <a:ext cx="3338750" cy="376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6000" tIns="36000" rIns="36000" bIns="36000" numCol="1" anchor="ctr">
                <a:spAutoFit/>
              </a:bodyPr>
              <a:lstStyle>
                <a:lvl1pPr algn="ctr" defTabSz="914377">
                  <a:spcBef>
                    <a:spcPts val="800"/>
                  </a:spcBef>
                  <a:defRPr spc="-31" sz="2000">
                    <a:solidFill>
                      <a:srgbClr val="5C297C"/>
                    </a:solidFill>
                  </a:defRPr>
                </a:lvl1pPr>
              </a:lstStyle>
              <a:p>
                <a:pPr/>
                <a:r>
                  <a:t>Be a source of data</a:t>
                </a:r>
              </a:p>
            </p:txBody>
          </p:sp>
        </p:grpSp>
        <p:sp>
          <p:nvSpPr>
            <p:cNvPr id="310" name="TextBox 9"/>
            <p:cNvSpPr txBox="1"/>
            <p:nvPr/>
          </p:nvSpPr>
          <p:spPr>
            <a:xfrm>
              <a:off x="832582" y="0"/>
              <a:ext cx="3281545" cy="681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36000" tIns="36000" rIns="36000" bIns="36000" numCol="1" anchor="t">
              <a:spAutoFit/>
            </a:bodyPr>
            <a:lstStyle/>
            <a:p>
              <a:pPr algn="ctr" defTabSz="914377">
                <a:spcBef>
                  <a:spcPts val="800"/>
                </a:spcBef>
                <a:defRPr spc="-31" sz="2000"/>
              </a:pPr>
              <a:r>
                <a:t>Network APIs for information, </a:t>
              </a:r>
              <a:br/>
              <a:r>
                <a:t>compute &amp; AI services</a:t>
              </a:r>
            </a:p>
          </p:txBody>
        </p:sp>
        <p:sp>
          <p:nvSpPr>
            <p:cNvPr id="311" name="Arrow: Right 14"/>
            <p:cNvSpPr/>
            <p:nvPr/>
          </p:nvSpPr>
          <p:spPr>
            <a:xfrm rot="16200000">
              <a:off x="1959252" y="791365"/>
              <a:ext cx="275493" cy="205156"/>
            </a:xfrm>
            <a:prstGeom prst="rightArrow">
              <a:avLst>
                <a:gd name="adj1" fmla="val 50000"/>
                <a:gd name="adj2" fmla="val 50000"/>
              </a:avLst>
            </a:prstGeom>
            <a:solidFill>
              <a:schemeClr val="accent3"/>
            </a:solidFill>
            <a:ln w="12700" cap="flat">
              <a:noFill/>
              <a:miter lim="400000"/>
            </a:ln>
            <a:effectLst/>
          </p:spPr>
          <p:txBody>
            <a:bodyPr wrap="square" lIns="45719" tIns="45719" rIns="45719" bIns="45719" numCol="1" anchor="t">
              <a:noAutofit/>
            </a:bodyPr>
            <a:lstStyle/>
            <a:p>
              <a:pPr defTabSz="914377">
                <a:spcBef>
                  <a:spcPts val="800"/>
                </a:spcBef>
                <a:defRPr>
                  <a:solidFill>
                    <a:srgbClr val="FFFFFF"/>
                  </a:solidFill>
                </a:defRPr>
              </a:pPr>
            </a:p>
          </p:txBody>
        </p:sp>
        <p:sp>
          <p:nvSpPr>
            <p:cNvPr id="312" name="Arrow: Right 15"/>
            <p:cNvSpPr/>
            <p:nvPr/>
          </p:nvSpPr>
          <p:spPr>
            <a:xfrm rot="16200000">
              <a:off x="2200135" y="791365"/>
              <a:ext cx="275493" cy="205156"/>
            </a:xfrm>
            <a:prstGeom prst="rightArrow">
              <a:avLst>
                <a:gd name="adj1" fmla="val 50000"/>
                <a:gd name="adj2" fmla="val 50000"/>
              </a:avLst>
            </a:prstGeom>
            <a:solidFill>
              <a:schemeClr val="accent3"/>
            </a:solidFill>
            <a:ln w="12700" cap="flat">
              <a:noFill/>
              <a:miter lim="400000"/>
            </a:ln>
            <a:effectLst/>
          </p:spPr>
          <p:txBody>
            <a:bodyPr wrap="square" lIns="45719" tIns="45719" rIns="45719" bIns="45719" numCol="1" anchor="t">
              <a:noAutofit/>
            </a:bodyPr>
            <a:lstStyle/>
            <a:p>
              <a:pPr defTabSz="914377">
                <a:spcBef>
                  <a:spcPts val="800"/>
                </a:spcBef>
                <a:defRPr>
                  <a:solidFill>
                    <a:srgbClr val="FFFFFF"/>
                  </a:solidFill>
                </a:defRPr>
              </a:pPr>
            </a:p>
          </p:txBody>
        </p:sp>
        <p:sp>
          <p:nvSpPr>
            <p:cNvPr id="313" name="Arrow: Right 16"/>
            <p:cNvSpPr/>
            <p:nvPr/>
          </p:nvSpPr>
          <p:spPr>
            <a:xfrm rot="16200000">
              <a:off x="2453675" y="789774"/>
              <a:ext cx="275493" cy="205156"/>
            </a:xfrm>
            <a:prstGeom prst="rightArrow">
              <a:avLst>
                <a:gd name="adj1" fmla="val 50000"/>
                <a:gd name="adj2" fmla="val 50000"/>
              </a:avLst>
            </a:prstGeom>
            <a:solidFill>
              <a:schemeClr val="accent3"/>
            </a:solidFill>
            <a:ln w="12700" cap="flat">
              <a:noFill/>
              <a:miter lim="400000"/>
            </a:ln>
            <a:effectLst/>
          </p:spPr>
          <p:txBody>
            <a:bodyPr wrap="square" lIns="45719" tIns="45719" rIns="45719" bIns="45719" numCol="1" anchor="t">
              <a:noAutofit/>
            </a:bodyPr>
            <a:lstStyle/>
            <a:p>
              <a:pPr defTabSz="914377">
                <a:spcBef>
                  <a:spcPts val="800"/>
                </a:spcBef>
                <a:defRPr>
                  <a:solidFill>
                    <a:srgbClr val="FFFFFF"/>
                  </a:solidFill>
                </a:defRPr>
              </a:pPr>
            </a:p>
          </p:txBody>
        </p:sp>
        <p:sp>
          <p:nvSpPr>
            <p:cNvPr id="314" name="Arrow: Right 17"/>
            <p:cNvSpPr/>
            <p:nvPr/>
          </p:nvSpPr>
          <p:spPr>
            <a:xfrm rot="16200000">
              <a:off x="2711282" y="789774"/>
              <a:ext cx="275493" cy="205156"/>
            </a:xfrm>
            <a:prstGeom prst="rightArrow">
              <a:avLst>
                <a:gd name="adj1" fmla="val 50000"/>
                <a:gd name="adj2" fmla="val 50000"/>
              </a:avLst>
            </a:prstGeom>
            <a:solidFill>
              <a:schemeClr val="accent3"/>
            </a:solidFill>
            <a:ln w="12700" cap="flat">
              <a:noFill/>
              <a:miter lim="400000"/>
            </a:ln>
            <a:effectLst/>
          </p:spPr>
          <p:txBody>
            <a:bodyPr wrap="square" lIns="45719" tIns="45719" rIns="45719" bIns="45719" numCol="1" anchor="t">
              <a:noAutofit/>
            </a:bodyPr>
            <a:lstStyle/>
            <a:p>
              <a:pPr defTabSz="914377">
                <a:spcBef>
                  <a:spcPts val="800"/>
                </a:spcBef>
                <a:defRPr>
                  <a:solidFill>
                    <a:srgbClr val="FFFFFF"/>
                  </a:solidFill>
                </a:defRPr>
              </a:pPr>
            </a:p>
          </p:txBody>
        </p:sp>
        <p:sp>
          <p:nvSpPr>
            <p:cNvPr id="315" name="Arrow: Right 13"/>
            <p:cNvSpPr/>
            <p:nvPr/>
          </p:nvSpPr>
          <p:spPr>
            <a:xfrm rot="16200000">
              <a:off x="2968891" y="789774"/>
              <a:ext cx="275493" cy="205156"/>
            </a:xfrm>
            <a:prstGeom prst="rightArrow">
              <a:avLst>
                <a:gd name="adj1" fmla="val 50000"/>
                <a:gd name="adj2" fmla="val 50000"/>
              </a:avLst>
            </a:prstGeom>
            <a:solidFill>
              <a:schemeClr val="accent3"/>
            </a:solidFill>
            <a:ln w="12700" cap="flat">
              <a:noFill/>
              <a:miter lim="400000"/>
            </a:ln>
            <a:effectLst/>
          </p:spPr>
          <p:txBody>
            <a:bodyPr wrap="square" lIns="45719" tIns="45719" rIns="45719" bIns="45719" numCol="1" anchor="t">
              <a:noAutofit/>
            </a:bodyPr>
            <a:lstStyle/>
            <a:p>
              <a:pPr defTabSz="914377">
                <a:spcBef>
                  <a:spcPts val="800"/>
                </a:spcBef>
                <a:defRPr>
                  <a:solidFill>
                    <a:srgbClr val="FFFFFF"/>
                  </a:solidFill>
                </a:defRPr>
              </a:pPr>
            </a:p>
          </p:txBody>
        </p:sp>
      </p:grpSp>
      <p:pic>
        <p:nvPicPr>
          <p:cNvPr id="317" name="Picture 4" descr="Picture 4"/>
          <p:cNvPicPr>
            <a:picLocks noChangeAspect="1"/>
          </p:cNvPicPr>
          <p:nvPr/>
        </p:nvPicPr>
        <p:blipFill>
          <a:blip r:embed="rId3">
            <a:extLst/>
          </a:blip>
          <a:srcRect l="0" t="0" r="12642" b="0"/>
          <a:stretch>
            <a:fillRect/>
          </a:stretch>
        </p:blipFill>
        <p:spPr>
          <a:xfrm>
            <a:off x="1587845" y="1843088"/>
            <a:ext cx="8202495" cy="1173001"/>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3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16" grpId="1"/>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1" name="Title 2"/>
          <p:cNvSpPr txBox="1"/>
          <p:nvPr>
            <p:ph type="title"/>
          </p:nvPr>
        </p:nvSpPr>
        <p:spPr>
          <a:xfrm>
            <a:off x="762283" y="841059"/>
            <a:ext cx="10667434" cy="1081153"/>
          </a:xfrm>
          <a:prstGeom prst="rect">
            <a:avLst/>
          </a:prstGeom>
        </p:spPr>
        <p:txBody>
          <a:bodyPr/>
          <a:lstStyle>
            <a:lvl1pPr>
              <a:defRPr spc="-143" sz="4800">
                <a:latin typeface="+mn-lt"/>
                <a:ea typeface="+mn-ea"/>
                <a:cs typeface="+mn-cs"/>
                <a:sym typeface="Ericsson Hilda Light"/>
              </a:defRPr>
            </a:lvl1pPr>
          </a:lstStyle>
          <a:p>
            <a:pPr/>
            <a:r>
              <a:t>Why offload to 6G compute services?</a:t>
            </a:r>
          </a:p>
        </p:txBody>
      </p:sp>
      <p:pic>
        <p:nvPicPr>
          <p:cNvPr id="322" name="Picture Placeholder 27" descr="Picture Placeholder 27"/>
          <p:cNvPicPr>
            <a:picLocks noChangeAspect="1"/>
          </p:cNvPicPr>
          <p:nvPr/>
        </p:nvPicPr>
        <p:blipFill>
          <a:blip r:embed="rId3">
            <a:extLst/>
          </a:blip>
          <a:stretch>
            <a:fillRect/>
          </a:stretch>
        </p:blipFill>
        <p:spPr>
          <a:xfrm>
            <a:off x="6420829" y="2882445"/>
            <a:ext cx="1880029" cy="1880030"/>
          </a:xfrm>
          <a:prstGeom prst="rect">
            <a:avLst/>
          </a:prstGeom>
          <a:ln w="12700">
            <a:miter lim="400000"/>
          </a:ln>
        </p:spPr>
      </p:pic>
      <p:pic>
        <p:nvPicPr>
          <p:cNvPr id="323" name="Picture Placeholder 26" descr="Picture Placeholder 26"/>
          <p:cNvPicPr>
            <a:picLocks noChangeAspect="1"/>
          </p:cNvPicPr>
          <p:nvPr/>
        </p:nvPicPr>
        <p:blipFill>
          <a:blip r:embed="rId4">
            <a:extLst/>
          </a:blip>
          <a:srcRect l="0" t="73" r="0" b="73"/>
          <a:stretch>
            <a:fillRect/>
          </a:stretch>
        </p:blipFill>
        <p:spPr>
          <a:xfrm>
            <a:off x="3408755" y="3054784"/>
            <a:ext cx="1880029" cy="1880030"/>
          </a:xfrm>
          <a:prstGeom prst="rect">
            <a:avLst/>
          </a:prstGeom>
          <a:ln w="12700">
            <a:miter lim="400000"/>
          </a:ln>
        </p:spPr>
      </p:pic>
      <p:pic>
        <p:nvPicPr>
          <p:cNvPr id="324" name="Picture Placeholder 33" descr="Picture Placeholder 33"/>
          <p:cNvPicPr>
            <a:picLocks noChangeAspect="1"/>
          </p:cNvPicPr>
          <p:nvPr/>
        </p:nvPicPr>
        <p:blipFill>
          <a:blip r:embed="rId5">
            <a:extLst/>
          </a:blip>
          <a:srcRect l="0" t="110" r="0" b="109"/>
          <a:stretch>
            <a:fillRect/>
          </a:stretch>
        </p:blipFill>
        <p:spPr>
          <a:xfrm>
            <a:off x="1150763" y="3368116"/>
            <a:ext cx="1253530" cy="1253530"/>
          </a:xfrm>
          <a:prstGeom prst="rect">
            <a:avLst/>
          </a:prstGeom>
          <a:ln w="12700">
            <a:miter lim="400000"/>
          </a:ln>
        </p:spPr>
      </p:pic>
      <p:pic>
        <p:nvPicPr>
          <p:cNvPr id="325" name="Picture Placeholder 37" descr="Picture Placeholder 37"/>
          <p:cNvPicPr>
            <a:picLocks noChangeAspect="1"/>
          </p:cNvPicPr>
          <p:nvPr/>
        </p:nvPicPr>
        <p:blipFill>
          <a:blip r:embed="rId6">
            <a:extLst/>
          </a:blip>
          <a:stretch>
            <a:fillRect/>
          </a:stretch>
        </p:blipFill>
        <p:spPr>
          <a:xfrm>
            <a:off x="9298023" y="2882445"/>
            <a:ext cx="1880029" cy="1880030"/>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3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3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Class="entr" nodeType="clickEffect" presetSubtype="0" presetID="1" grpId="3" fill="hold">
                                  <p:stCondLst>
                                    <p:cond delay="0"/>
                                  </p:stCondLst>
                                  <p:iterate type="el" backwards="0">
                                    <p:tmAbs val="0"/>
                                  </p:iterate>
                                  <p:childTnLst>
                                    <p:set>
                                      <p:cBhvr>
                                        <p:cTn id="14" fill="hold"/>
                                        <p:tgtEl>
                                          <p:spTgt spid="3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Class="entr" nodeType="clickEffect" presetSubtype="0" presetID="1" grpId="4" fill="hold">
                                  <p:stCondLst>
                                    <p:cond delay="0"/>
                                  </p:stCondLst>
                                  <p:iterate type="el" backwards="0">
                                    <p:tmAbs val="0"/>
                                  </p:iterate>
                                  <p:childTnLst>
                                    <p:set>
                                      <p:cBhvr>
                                        <p:cTn id="18" fill="hold"/>
                                        <p:tgtEl>
                                          <p:spTgt spid="3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24" grpId="1"/>
      <p:bldP build="whole" bldLvl="1" animBg="1" rev="0" advAuto="0" spid="323" grpId="2"/>
      <p:bldP build="whole" bldLvl="1" animBg="1" rev="0" advAuto="0" spid="322" grpId="3"/>
      <p:bldP build="whole" bldLvl="1" animBg="1" rev="0" advAuto="0" spid="325" grpId="4"/>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9" name="Rectangle 100"/>
          <p:cNvSpPr/>
          <p:nvPr/>
        </p:nvSpPr>
        <p:spPr>
          <a:xfrm>
            <a:off x="2511205" y="1538631"/>
            <a:ext cx="2520002" cy="4273285"/>
          </a:xfrm>
          <a:prstGeom prst="rect">
            <a:avLst/>
          </a:prstGeom>
          <a:solidFill>
            <a:srgbClr val="E8E8E8"/>
          </a:solidFill>
          <a:ln w="12700">
            <a:miter lim="400000"/>
          </a:ln>
        </p:spPr>
        <p:txBody>
          <a:bodyPr lIns="45718" tIns="45718" rIns="45718" bIns="45718"/>
          <a:lstStyle/>
          <a:p>
            <a:pPr>
              <a:spcBef>
                <a:spcPts val="800"/>
              </a:spcBef>
              <a:defRPr>
                <a:solidFill>
                  <a:srgbClr val="FFFFFF"/>
                </a:solidFill>
              </a:defRPr>
            </a:pPr>
          </a:p>
        </p:txBody>
      </p:sp>
      <p:grpSp>
        <p:nvGrpSpPr>
          <p:cNvPr id="345" name="Group 53"/>
          <p:cNvGrpSpPr/>
          <p:nvPr/>
        </p:nvGrpSpPr>
        <p:grpSpPr>
          <a:xfrm>
            <a:off x="5758615" y="2804647"/>
            <a:ext cx="727204" cy="1637362"/>
            <a:chOff x="0" y="-1"/>
            <a:chExt cx="727202" cy="1637361"/>
          </a:xfrm>
        </p:grpSpPr>
        <p:grpSp>
          <p:nvGrpSpPr>
            <p:cNvPr id="332" name="Rectangle 63"/>
            <p:cNvGrpSpPr/>
            <p:nvPr/>
          </p:nvGrpSpPr>
          <p:grpSpPr>
            <a:xfrm>
              <a:off x="-1" y="197358"/>
              <a:ext cx="727204" cy="1440003"/>
              <a:chOff x="0" y="0"/>
              <a:chExt cx="727202" cy="1440002"/>
            </a:xfrm>
          </p:grpSpPr>
          <p:sp>
            <p:nvSpPr>
              <p:cNvPr id="330" name="Rectangle"/>
              <p:cNvSpPr/>
              <p:nvPr/>
            </p:nvSpPr>
            <p:spPr>
              <a:xfrm>
                <a:off x="-1" y="0"/>
                <a:ext cx="727204" cy="1440003"/>
              </a:xfrm>
              <a:prstGeom prst="rect">
                <a:avLst/>
              </a:prstGeom>
              <a:solidFill>
                <a:srgbClr val="90F6C9"/>
              </a:solidFill>
              <a:ln w="12700" cap="flat">
                <a:noFill/>
                <a:miter lim="400000"/>
              </a:ln>
              <a:effectLst/>
            </p:spPr>
            <p:txBody>
              <a:bodyPr wrap="square" lIns="45718" tIns="45718" rIns="45718" bIns="45718" numCol="1" anchor="b">
                <a:noAutofit/>
              </a:bodyPr>
              <a:lstStyle/>
              <a:p>
                <a:pPr algn="ctr">
                  <a:spcBef>
                    <a:spcPts val="800"/>
                  </a:spcBef>
                  <a:defRPr>
                    <a:solidFill>
                      <a:srgbClr val="000000"/>
                    </a:solidFill>
                  </a:defRPr>
                </a:pPr>
              </a:p>
            </p:txBody>
          </p:sp>
          <p:sp>
            <p:nvSpPr>
              <p:cNvPr id="331" name="Application"/>
              <p:cNvSpPr txBox="1"/>
              <p:nvPr/>
            </p:nvSpPr>
            <p:spPr>
              <a:xfrm rot="5400000">
                <a:off x="-557948" y="594525"/>
                <a:ext cx="1366851" cy="249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6000" tIns="36000" rIns="36000" bIns="36000" numCol="1" anchor="b">
                <a:spAutoFit/>
              </a:bodyPr>
              <a:lstStyle>
                <a:lvl1pPr algn="ctr">
                  <a:spcBef>
                    <a:spcPts val="800"/>
                  </a:spcBef>
                  <a:defRPr sz="1200"/>
                </a:lvl1pPr>
              </a:lstStyle>
              <a:p>
                <a:pPr/>
                <a:r>
                  <a:t>Application</a:t>
                </a:r>
              </a:p>
            </p:txBody>
          </p:sp>
        </p:grpSp>
        <p:grpSp>
          <p:nvGrpSpPr>
            <p:cNvPr id="335" name="TextBox 64"/>
            <p:cNvGrpSpPr/>
            <p:nvPr/>
          </p:nvGrpSpPr>
          <p:grpSpPr>
            <a:xfrm>
              <a:off x="34931" y="233000"/>
              <a:ext cx="670374" cy="249801"/>
              <a:chOff x="0" y="0"/>
              <a:chExt cx="670373" cy="249800"/>
            </a:xfrm>
          </p:grpSpPr>
          <p:sp>
            <p:nvSpPr>
              <p:cNvPr id="333" name="Rectangle"/>
              <p:cNvSpPr/>
              <p:nvPr/>
            </p:nvSpPr>
            <p:spPr>
              <a:xfrm>
                <a:off x="17572" y="34900"/>
                <a:ext cx="635233" cy="180002"/>
              </a:xfrm>
              <a:prstGeom prst="rect">
                <a:avLst/>
              </a:prstGeom>
              <a:solidFill>
                <a:srgbClr val="0FC373"/>
              </a:solidFill>
              <a:ln w="12700" cap="flat">
                <a:noFill/>
                <a:miter lim="400000"/>
              </a:ln>
              <a:effectLst/>
            </p:spPr>
            <p:txBody>
              <a:bodyPr wrap="square" lIns="45718" tIns="45718" rIns="45718" bIns="45718" numCol="1" anchor="ctr">
                <a:noAutofit/>
              </a:bodyPr>
              <a:lstStyle/>
              <a:p>
                <a:pPr algn="ctr">
                  <a:spcBef>
                    <a:spcPts val="800"/>
                  </a:spcBef>
                  <a:defRPr>
                    <a:solidFill>
                      <a:srgbClr val="000000"/>
                    </a:solidFill>
                  </a:defRPr>
                </a:pPr>
              </a:p>
            </p:txBody>
          </p:sp>
          <p:sp>
            <p:nvSpPr>
              <p:cNvPr id="334" name="Module A"/>
              <p:cNvSpPr txBox="1"/>
              <p:nvPr/>
            </p:nvSpPr>
            <p:spPr>
              <a:xfrm>
                <a:off x="0" y="0"/>
                <a:ext cx="670374" cy="249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36000" tIns="36000" rIns="36000" bIns="36000" numCol="1" anchor="ctr">
                <a:spAutoFit/>
              </a:bodyPr>
              <a:lstStyle>
                <a:lvl1pPr algn="ctr">
                  <a:spcBef>
                    <a:spcPts val="800"/>
                  </a:spcBef>
                  <a:defRPr spc="-30" sz="1200">
                    <a:solidFill>
                      <a:srgbClr val="FFFFFF"/>
                    </a:solidFill>
                  </a:defRPr>
                </a:lvl1pPr>
              </a:lstStyle>
              <a:p>
                <a:pPr/>
                <a:r>
                  <a:t>Module A</a:t>
                </a:r>
              </a:p>
            </p:txBody>
          </p:sp>
        </p:grpSp>
        <p:grpSp>
          <p:nvGrpSpPr>
            <p:cNvPr id="338" name="TextBox 65"/>
            <p:cNvGrpSpPr/>
            <p:nvPr/>
          </p:nvGrpSpPr>
          <p:grpSpPr>
            <a:xfrm>
              <a:off x="270694" y="593000"/>
              <a:ext cx="180003" cy="249801"/>
              <a:chOff x="0" y="0"/>
              <a:chExt cx="180001" cy="249800"/>
            </a:xfrm>
          </p:grpSpPr>
          <p:sp>
            <p:nvSpPr>
              <p:cNvPr id="336" name="Square"/>
              <p:cNvSpPr/>
              <p:nvPr/>
            </p:nvSpPr>
            <p:spPr>
              <a:xfrm>
                <a:off x="0" y="34900"/>
                <a:ext cx="180002" cy="180002"/>
              </a:xfrm>
              <a:prstGeom prst="rect">
                <a:avLst/>
              </a:prstGeom>
              <a:solidFill>
                <a:srgbClr val="0FC373"/>
              </a:solidFill>
              <a:ln w="12700" cap="flat">
                <a:noFill/>
                <a:miter lim="400000"/>
              </a:ln>
              <a:effectLst/>
            </p:spPr>
            <p:txBody>
              <a:bodyPr wrap="square" lIns="45718" tIns="45718" rIns="45718" bIns="45718" numCol="1" anchor="ctr">
                <a:noAutofit/>
              </a:bodyPr>
              <a:lstStyle/>
              <a:p>
                <a:pPr algn="ctr">
                  <a:spcBef>
                    <a:spcPts val="800"/>
                  </a:spcBef>
                  <a:defRPr>
                    <a:solidFill>
                      <a:srgbClr val="000000"/>
                    </a:solidFill>
                  </a:defRPr>
                </a:pPr>
              </a:p>
            </p:txBody>
          </p:sp>
          <p:sp>
            <p:nvSpPr>
              <p:cNvPr id="337" name="B"/>
              <p:cNvSpPr txBox="1"/>
              <p:nvPr/>
            </p:nvSpPr>
            <p:spPr>
              <a:xfrm>
                <a:off x="786" y="0"/>
                <a:ext cx="178427" cy="249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36000" tIns="36000" rIns="36000" bIns="36000" numCol="1" anchor="ctr">
                <a:spAutoFit/>
              </a:bodyPr>
              <a:lstStyle>
                <a:lvl1pPr algn="ctr">
                  <a:spcBef>
                    <a:spcPts val="800"/>
                  </a:spcBef>
                  <a:defRPr spc="-30" sz="1200">
                    <a:solidFill>
                      <a:srgbClr val="FFFFFF"/>
                    </a:solidFill>
                  </a:defRPr>
                </a:lvl1pPr>
              </a:lstStyle>
              <a:p>
                <a:pPr/>
                <a:r>
                  <a:t>B</a:t>
                </a:r>
              </a:p>
            </p:txBody>
          </p:sp>
        </p:grpSp>
        <p:grpSp>
          <p:nvGrpSpPr>
            <p:cNvPr id="341" name="TextBox 66"/>
            <p:cNvGrpSpPr/>
            <p:nvPr/>
          </p:nvGrpSpPr>
          <p:grpSpPr>
            <a:xfrm>
              <a:off x="277267" y="953001"/>
              <a:ext cx="180003" cy="249801"/>
              <a:chOff x="0" y="0"/>
              <a:chExt cx="180001" cy="249800"/>
            </a:xfrm>
          </p:grpSpPr>
          <p:sp>
            <p:nvSpPr>
              <p:cNvPr id="339" name="Square"/>
              <p:cNvSpPr/>
              <p:nvPr/>
            </p:nvSpPr>
            <p:spPr>
              <a:xfrm>
                <a:off x="0" y="34900"/>
                <a:ext cx="180002" cy="180002"/>
              </a:xfrm>
              <a:prstGeom prst="rect">
                <a:avLst/>
              </a:prstGeom>
              <a:solidFill>
                <a:srgbClr val="0FC373"/>
              </a:solidFill>
              <a:ln w="12700" cap="flat">
                <a:noFill/>
                <a:miter lim="400000"/>
              </a:ln>
              <a:effectLst/>
            </p:spPr>
            <p:txBody>
              <a:bodyPr wrap="square" lIns="45718" tIns="45718" rIns="45718" bIns="45718" numCol="1" anchor="ctr">
                <a:noAutofit/>
              </a:bodyPr>
              <a:lstStyle/>
              <a:p>
                <a:pPr algn="ctr">
                  <a:spcBef>
                    <a:spcPts val="800"/>
                  </a:spcBef>
                  <a:defRPr>
                    <a:solidFill>
                      <a:srgbClr val="000000"/>
                    </a:solidFill>
                  </a:defRPr>
                </a:pPr>
              </a:p>
            </p:txBody>
          </p:sp>
          <p:sp>
            <p:nvSpPr>
              <p:cNvPr id="340" name="C"/>
              <p:cNvSpPr txBox="1"/>
              <p:nvPr/>
            </p:nvSpPr>
            <p:spPr>
              <a:xfrm>
                <a:off x="4063" y="0"/>
                <a:ext cx="171873" cy="249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36000" tIns="36000" rIns="36000" bIns="36000" numCol="1" anchor="ctr">
                <a:spAutoFit/>
              </a:bodyPr>
              <a:lstStyle>
                <a:lvl1pPr algn="ctr">
                  <a:spcBef>
                    <a:spcPts val="800"/>
                  </a:spcBef>
                  <a:defRPr spc="-30" sz="1200">
                    <a:solidFill>
                      <a:srgbClr val="FFFFFF"/>
                    </a:solidFill>
                  </a:defRPr>
                </a:lvl1pPr>
              </a:lstStyle>
              <a:p>
                <a:pPr/>
                <a:r>
                  <a:t>C</a:t>
                </a:r>
              </a:p>
            </p:txBody>
          </p:sp>
        </p:grpSp>
        <p:sp>
          <p:nvSpPr>
            <p:cNvPr id="342" name="Straight Arrow Connector 67"/>
            <p:cNvSpPr/>
            <p:nvPr/>
          </p:nvSpPr>
          <p:spPr>
            <a:xfrm flipH="1">
              <a:off x="363600" y="447900"/>
              <a:ext cx="1" cy="180002"/>
            </a:xfrm>
            <a:prstGeom prst="line">
              <a:avLst/>
            </a:prstGeom>
            <a:noFill/>
            <a:ln w="25400" cap="flat">
              <a:solidFill>
                <a:srgbClr val="0082F0"/>
              </a:solidFill>
              <a:prstDash val="solid"/>
              <a:round/>
              <a:tailEnd type="triangle" w="med" len="med"/>
            </a:ln>
            <a:effectLst/>
          </p:spPr>
          <p:txBody>
            <a:bodyPr wrap="square" lIns="45718" tIns="45718" rIns="45718" bIns="45718" numCol="1" anchor="t">
              <a:noAutofit/>
            </a:bodyPr>
            <a:lstStyle/>
            <a:p>
              <a:pPr>
                <a:defRPr>
                  <a:latin typeface="+mj-lt"/>
                  <a:ea typeface="+mj-ea"/>
                  <a:cs typeface="+mj-cs"/>
                  <a:sym typeface="Helvetica"/>
                </a:defRPr>
              </a:pPr>
            </a:p>
          </p:txBody>
        </p:sp>
        <p:sp>
          <p:nvSpPr>
            <p:cNvPr id="343" name="Straight Arrow Connector 68"/>
            <p:cNvSpPr/>
            <p:nvPr/>
          </p:nvSpPr>
          <p:spPr>
            <a:xfrm flipH="1">
              <a:off x="363600" y="807901"/>
              <a:ext cx="1" cy="180002"/>
            </a:xfrm>
            <a:prstGeom prst="line">
              <a:avLst/>
            </a:prstGeom>
            <a:noFill/>
            <a:ln w="25400" cap="flat">
              <a:solidFill>
                <a:srgbClr val="0082F0"/>
              </a:solidFill>
              <a:prstDash val="solid"/>
              <a:round/>
              <a:tailEnd type="triangle" w="med" len="med"/>
            </a:ln>
            <a:effectLst/>
          </p:spPr>
          <p:txBody>
            <a:bodyPr wrap="square" lIns="45718" tIns="45718" rIns="45718" bIns="45718" numCol="1" anchor="t">
              <a:noAutofit/>
            </a:bodyPr>
            <a:lstStyle/>
            <a:p>
              <a:pPr>
                <a:defRPr>
                  <a:latin typeface="+mj-lt"/>
                  <a:ea typeface="+mj-ea"/>
                  <a:cs typeface="+mj-cs"/>
                  <a:sym typeface="Helvetica"/>
                </a:defRPr>
              </a:pPr>
            </a:p>
          </p:txBody>
        </p:sp>
        <p:sp>
          <p:nvSpPr>
            <p:cNvPr id="344" name="Straight Arrow Connector 73"/>
            <p:cNvSpPr/>
            <p:nvPr/>
          </p:nvSpPr>
          <p:spPr>
            <a:xfrm>
              <a:off x="362894" y="-2"/>
              <a:ext cx="1415" cy="267904"/>
            </a:xfrm>
            <a:prstGeom prst="line">
              <a:avLst/>
            </a:prstGeom>
            <a:noFill/>
            <a:ln w="25400" cap="flat">
              <a:solidFill>
                <a:srgbClr val="0082F0"/>
              </a:solidFill>
              <a:prstDash val="solid"/>
              <a:round/>
              <a:tailEnd type="triangle" w="med" len="med"/>
            </a:ln>
            <a:effectLst/>
          </p:spPr>
          <p:txBody>
            <a:bodyPr wrap="square" lIns="45718" tIns="45718" rIns="45718" bIns="45718" numCol="1" anchor="t">
              <a:noAutofit/>
            </a:bodyPr>
            <a:lstStyle/>
            <a:p>
              <a:pPr>
                <a:defRPr>
                  <a:latin typeface="+mj-lt"/>
                  <a:ea typeface="+mj-ea"/>
                  <a:cs typeface="+mj-cs"/>
                  <a:sym typeface="Helvetica"/>
                </a:defRPr>
              </a:pPr>
            </a:p>
          </p:txBody>
        </p:sp>
      </p:grpSp>
      <p:sp>
        <p:nvSpPr>
          <p:cNvPr id="346" name="TextBox 78"/>
          <p:cNvSpPr txBox="1"/>
          <p:nvPr/>
        </p:nvSpPr>
        <p:spPr>
          <a:xfrm>
            <a:off x="757060" y="4216150"/>
            <a:ext cx="269867" cy="249801"/>
          </a:xfrm>
          <a:prstGeom prst="rect">
            <a:avLst/>
          </a:prstGeom>
          <a:ln w="12700">
            <a:miter lim="400000"/>
          </a:ln>
          <a:extLst>
            <a:ext uri="{C572A759-6A51-4108-AA02-DFA0A04FC94B}">
              <ma14:wrappingTextBoxFlag xmlns:ma14="http://schemas.microsoft.com/office/mac/drawingml/2011/main" val="1"/>
            </a:ext>
          </a:extLst>
        </p:spPr>
        <p:txBody>
          <a:bodyPr wrap="none" lIns="36000" tIns="36000" rIns="36000" bIns="36000" anchor="ctr">
            <a:spAutoFit/>
          </a:bodyPr>
          <a:lstStyle>
            <a:lvl1pPr algn="ctr">
              <a:spcBef>
                <a:spcPts val="800"/>
              </a:spcBef>
              <a:defRPr spc="-30" sz="1200"/>
            </a:lvl1pPr>
          </a:lstStyle>
          <a:p>
            <a:pPr/>
            <a:r>
              <a:t>UE</a:t>
            </a:r>
          </a:p>
        </p:txBody>
      </p:sp>
      <p:sp>
        <p:nvSpPr>
          <p:cNvPr id="347" name="Rectangle 79"/>
          <p:cNvSpPr/>
          <p:nvPr/>
        </p:nvSpPr>
        <p:spPr>
          <a:xfrm>
            <a:off x="720665" y="4195817"/>
            <a:ext cx="1250540" cy="1620002"/>
          </a:xfrm>
          <a:prstGeom prst="rect">
            <a:avLst/>
          </a:prstGeom>
          <a:ln w="12700">
            <a:solidFill>
              <a:srgbClr val="A8A8A8"/>
            </a:solidFill>
          </a:ln>
        </p:spPr>
        <p:txBody>
          <a:bodyPr lIns="45718" tIns="45718" rIns="45718" bIns="45718"/>
          <a:lstStyle/>
          <a:p>
            <a:pPr>
              <a:spcBef>
                <a:spcPts val="800"/>
              </a:spcBef>
              <a:defRPr>
                <a:solidFill>
                  <a:srgbClr val="FFFFFF"/>
                </a:solidFill>
              </a:defRPr>
            </a:pPr>
          </a:p>
        </p:txBody>
      </p:sp>
      <p:grpSp>
        <p:nvGrpSpPr>
          <p:cNvPr id="350" name="Group 80"/>
          <p:cNvGrpSpPr/>
          <p:nvPr/>
        </p:nvGrpSpPr>
        <p:grpSpPr>
          <a:xfrm>
            <a:off x="779982" y="5365845"/>
            <a:ext cx="252004" cy="252003"/>
            <a:chOff x="0" y="0"/>
            <a:chExt cx="252003" cy="252002"/>
          </a:xfrm>
        </p:grpSpPr>
        <p:pic>
          <p:nvPicPr>
            <p:cNvPr id="348" name="Picture Placeholder 35" descr="Picture Placeholder 35"/>
            <p:cNvPicPr>
              <a:picLocks noChangeAspect="1"/>
            </p:cNvPicPr>
            <p:nvPr/>
          </p:nvPicPr>
          <p:blipFill>
            <a:blip r:embed="rId3">
              <a:extLst/>
            </a:blip>
            <a:srcRect l="0" t="110" r="0" b="108"/>
            <a:stretch>
              <a:fillRect/>
            </a:stretch>
          </p:blipFill>
          <p:spPr>
            <a:xfrm rot="16200000">
              <a:off x="-1" y="-2"/>
              <a:ext cx="252004" cy="252004"/>
            </a:xfrm>
            <a:prstGeom prst="rect">
              <a:avLst/>
            </a:prstGeom>
            <a:ln w="12700" cap="flat">
              <a:noFill/>
              <a:miter lim="400000"/>
            </a:ln>
            <a:effectLst/>
          </p:spPr>
        </p:pic>
        <p:sp>
          <p:nvSpPr>
            <p:cNvPr id="349" name="Rectangle 84"/>
            <p:cNvSpPr/>
            <p:nvPr/>
          </p:nvSpPr>
          <p:spPr>
            <a:xfrm rot="16200000">
              <a:off x="57599" y="115573"/>
              <a:ext cx="136803" cy="81859"/>
            </a:xfrm>
            <a:prstGeom prst="rect">
              <a:avLst/>
            </a:prstGeom>
            <a:solidFill>
              <a:srgbClr val="0FC373"/>
            </a:solidFill>
            <a:ln w="12700" cap="flat">
              <a:noFill/>
              <a:miter lim="400000"/>
            </a:ln>
            <a:effectLst/>
          </p:spPr>
          <p:txBody>
            <a:bodyPr wrap="square" lIns="45718" tIns="45718" rIns="45718" bIns="45718" numCol="1" anchor="t">
              <a:noAutofit/>
            </a:bodyPr>
            <a:lstStyle/>
            <a:p>
              <a:pPr>
                <a:spcBef>
                  <a:spcPts val="800"/>
                </a:spcBef>
                <a:defRPr>
                  <a:solidFill>
                    <a:srgbClr val="FFFFFF"/>
                  </a:solidFill>
                </a:defRPr>
              </a:pPr>
            </a:p>
          </p:txBody>
        </p:sp>
      </p:grpSp>
      <p:pic>
        <p:nvPicPr>
          <p:cNvPr id="351" name="Picture Placeholder 35" descr="Picture Placeholder 35"/>
          <p:cNvPicPr>
            <a:picLocks noChangeAspect="1"/>
          </p:cNvPicPr>
          <p:nvPr/>
        </p:nvPicPr>
        <p:blipFill>
          <a:blip r:embed="rId4">
            <a:extLst/>
          </a:blip>
          <a:stretch>
            <a:fillRect/>
          </a:stretch>
        </p:blipFill>
        <p:spPr>
          <a:xfrm>
            <a:off x="1151820" y="3691218"/>
            <a:ext cx="540000" cy="540002"/>
          </a:xfrm>
          <a:prstGeom prst="rect">
            <a:avLst/>
          </a:prstGeom>
          <a:ln w="12700">
            <a:miter lim="400000"/>
          </a:ln>
        </p:spPr>
      </p:pic>
      <p:grpSp>
        <p:nvGrpSpPr>
          <p:cNvPr id="368" name="Group 90"/>
          <p:cNvGrpSpPr/>
          <p:nvPr/>
        </p:nvGrpSpPr>
        <p:grpSpPr>
          <a:xfrm>
            <a:off x="1071201" y="4153557"/>
            <a:ext cx="727418" cy="1592274"/>
            <a:chOff x="-2" y="-1"/>
            <a:chExt cx="727417" cy="1592273"/>
          </a:xfrm>
        </p:grpSpPr>
        <p:grpSp>
          <p:nvGrpSpPr>
            <p:cNvPr id="354" name="Rectangle 91"/>
            <p:cNvGrpSpPr/>
            <p:nvPr/>
          </p:nvGrpSpPr>
          <p:grpSpPr>
            <a:xfrm>
              <a:off x="-3" y="152269"/>
              <a:ext cx="727419" cy="1440004"/>
              <a:chOff x="-1" y="0"/>
              <a:chExt cx="727417" cy="1440002"/>
            </a:xfrm>
          </p:grpSpPr>
          <p:sp>
            <p:nvSpPr>
              <p:cNvPr id="352" name="Rectangle"/>
              <p:cNvSpPr/>
              <p:nvPr/>
            </p:nvSpPr>
            <p:spPr>
              <a:xfrm>
                <a:off x="-2" y="0"/>
                <a:ext cx="727419" cy="1440004"/>
              </a:xfrm>
              <a:prstGeom prst="rect">
                <a:avLst/>
              </a:prstGeom>
              <a:solidFill>
                <a:srgbClr val="90F6C9"/>
              </a:solidFill>
              <a:ln w="12700" cap="flat">
                <a:noFill/>
                <a:miter lim="400000"/>
              </a:ln>
              <a:effectLst/>
            </p:spPr>
            <p:txBody>
              <a:bodyPr wrap="square" lIns="45718" tIns="45718" rIns="45718" bIns="45718" numCol="1" anchor="b">
                <a:noAutofit/>
              </a:bodyPr>
              <a:lstStyle/>
              <a:p>
                <a:pPr algn="ctr">
                  <a:spcBef>
                    <a:spcPts val="800"/>
                  </a:spcBef>
                  <a:defRPr>
                    <a:solidFill>
                      <a:srgbClr val="000000"/>
                    </a:solidFill>
                  </a:defRPr>
                </a:pPr>
              </a:p>
            </p:txBody>
          </p:sp>
          <p:sp>
            <p:nvSpPr>
              <p:cNvPr id="353" name="Application"/>
              <p:cNvSpPr txBox="1"/>
              <p:nvPr/>
            </p:nvSpPr>
            <p:spPr>
              <a:xfrm rot="5400000">
                <a:off x="-557950" y="594526"/>
                <a:ext cx="1366854" cy="249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6000" tIns="36000" rIns="36000" bIns="36000" numCol="1" anchor="b">
                <a:spAutoFit/>
              </a:bodyPr>
              <a:lstStyle>
                <a:lvl1pPr algn="ctr">
                  <a:spcBef>
                    <a:spcPts val="800"/>
                  </a:spcBef>
                  <a:defRPr sz="1200"/>
                </a:lvl1pPr>
              </a:lstStyle>
              <a:p>
                <a:pPr/>
                <a:r>
                  <a:t>   Application</a:t>
                </a:r>
              </a:p>
            </p:txBody>
          </p:sp>
        </p:grpSp>
        <p:grpSp>
          <p:nvGrpSpPr>
            <p:cNvPr id="357" name="TextBox 92"/>
            <p:cNvGrpSpPr/>
            <p:nvPr/>
          </p:nvGrpSpPr>
          <p:grpSpPr>
            <a:xfrm>
              <a:off x="28517" y="228208"/>
              <a:ext cx="670374" cy="249801"/>
              <a:chOff x="-1" y="0"/>
              <a:chExt cx="670373" cy="249800"/>
            </a:xfrm>
          </p:grpSpPr>
          <p:sp>
            <p:nvSpPr>
              <p:cNvPr id="355" name="Rectangle"/>
              <p:cNvSpPr/>
              <p:nvPr/>
            </p:nvSpPr>
            <p:spPr>
              <a:xfrm>
                <a:off x="10699" y="34900"/>
                <a:ext cx="648978" cy="180002"/>
              </a:xfrm>
              <a:prstGeom prst="rect">
                <a:avLst/>
              </a:prstGeom>
              <a:solidFill>
                <a:srgbClr val="0FC373"/>
              </a:solidFill>
              <a:ln w="12700" cap="flat">
                <a:noFill/>
                <a:miter lim="400000"/>
              </a:ln>
              <a:effectLst/>
            </p:spPr>
            <p:txBody>
              <a:bodyPr wrap="square" lIns="45718" tIns="45718" rIns="45718" bIns="45718" numCol="1" anchor="ctr">
                <a:noAutofit/>
              </a:bodyPr>
              <a:lstStyle/>
              <a:p>
                <a:pPr algn="ctr">
                  <a:spcBef>
                    <a:spcPts val="800"/>
                  </a:spcBef>
                  <a:defRPr>
                    <a:solidFill>
                      <a:srgbClr val="000000"/>
                    </a:solidFill>
                  </a:defRPr>
                </a:pPr>
              </a:p>
            </p:txBody>
          </p:sp>
          <p:sp>
            <p:nvSpPr>
              <p:cNvPr id="356" name="Module A"/>
              <p:cNvSpPr txBox="1"/>
              <p:nvPr/>
            </p:nvSpPr>
            <p:spPr>
              <a:xfrm>
                <a:off x="-2" y="0"/>
                <a:ext cx="670375" cy="249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36000" tIns="36000" rIns="36000" bIns="36000" numCol="1" anchor="ctr">
                <a:spAutoFit/>
              </a:bodyPr>
              <a:lstStyle>
                <a:lvl1pPr algn="ctr">
                  <a:spcBef>
                    <a:spcPts val="800"/>
                  </a:spcBef>
                  <a:defRPr spc="-30" sz="1200">
                    <a:solidFill>
                      <a:srgbClr val="FFFFFF"/>
                    </a:solidFill>
                  </a:defRPr>
                </a:lvl1pPr>
              </a:lstStyle>
              <a:p>
                <a:pPr/>
                <a:r>
                  <a:t>Module A</a:t>
                </a:r>
              </a:p>
            </p:txBody>
          </p:sp>
        </p:grpSp>
        <p:grpSp>
          <p:nvGrpSpPr>
            <p:cNvPr id="360" name="TextBox 93"/>
            <p:cNvGrpSpPr/>
            <p:nvPr/>
          </p:nvGrpSpPr>
          <p:grpSpPr>
            <a:xfrm>
              <a:off x="272568" y="588208"/>
              <a:ext cx="180003" cy="249801"/>
              <a:chOff x="0" y="0"/>
              <a:chExt cx="180001" cy="249800"/>
            </a:xfrm>
          </p:grpSpPr>
          <p:sp>
            <p:nvSpPr>
              <p:cNvPr id="358" name="Square"/>
              <p:cNvSpPr/>
              <p:nvPr/>
            </p:nvSpPr>
            <p:spPr>
              <a:xfrm>
                <a:off x="0" y="34900"/>
                <a:ext cx="180002" cy="180002"/>
              </a:xfrm>
              <a:prstGeom prst="rect">
                <a:avLst/>
              </a:prstGeom>
              <a:solidFill>
                <a:srgbClr val="0FC373"/>
              </a:solidFill>
              <a:ln w="12700" cap="flat">
                <a:noFill/>
                <a:miter lim="400000"/>
              </a:ln>
              <a:effectLst/>
            </p:spPr>
            <p:txBody>
              <a:bodyPr wrap="square" lIns="45718" tIns="45718" rIns="45718" bIns="45718" numCol="1" anchor="ctr">
                <a:noAutofit/>
              </a:bodyPr>
              <a:lstStyle/>
              <a:p>
                <a:pPr algn="ctr">
                  <a:spcBef>
                    <a:spcPts val="800"/>
                  </a:spcBef>
                  <a:defRPr>
                    <a:solidFill>
                      <a:srgbClr val="000000"/>
                    </a:solidFill>
                  </a:defRPr>
                </a:pPr>
              </a:p>
            </p:txBody>
          </p:sp>
          <p:sp>
            <p:nvSpPr>
              <p:cNvPr id="359" name="B"/>
              <p:cNvSpPr txBox="1"/>
              <p:nvPr/>
            </p:nvSpPr>
            <p:spPr>
              <a:xfrm>
                <a:off x="786" y="0"/>
                <a:ext cx="178427" cy="249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36000" tIns="36000" rIns="36000" bIns="36000" numCol="1" anchor="ctr">
                <a:spAutoFit/>
              </a:bodyPr>
              <a:lstStyle>
                <a:lvl1pPr algn="ctr">
                  <a:spcBef>
                    <a:spcPts val="800"/>
                  </a:spcBef>
                  <a:defRPr spc="-30" sz="1200">
                    <a:solidFill>
                      <a:srgbClr val="FFFFFF"/>
                    </a:solidFill>
                  </a:defRPr>
                </a:lvl1pPr>
              </a:lstStyle>
              <a:p>
                <a:pPr/>
                <a:r>
                  <a:t>B</a:t>
                </a:r>
              </a:p>
            </p:txBody>
          </p:sp>
        </p:grpSp>
        <p:grpSp>
          <p:nvGrpSpPr>
            <p:cNvPr id="363" name="TextBox 94"/>
            <p:cNvGrpSpPr/>
            <p:nvPr/>
          </p:nvGrpSpPr>
          <p:grpSpPr>
            <a:xfrm>
              <a:off x="274954" y="948209"/>
              <a:ext cx="180003" cy="249801"/>
              <a:chOff x="0" y="0"/>
              <a:chExt cx="180001" cy="249800"/>
            </a:xfrm>
          </p:grpSpPr>
          <p:sp>
            <p:nvSpPr>
              <p:cNvPr id="361" name="Square"/>
              <p:cNvSpPr/>
              <p:nvPr/>
            </p:nvSpPr>
            <p:spPr>
              <a:xfrm>
                <a:off x="0" y="34900"/>
                <a:ext cx="180002" cy="180002"/>
              </a:xfrm>
              <a:prstGeom prst="rect">
                <a:avLst/>
              </a:prstGeom>
              <a:solidFill>
                <a:srgbClr val="0FC373"/>
              </a:solidFill>
              <a:ln w="12700" cap="flat">
                <a:noFill/>
                <a:miter lim="400000"/>
              </a:ln>
              <a:effectLst/>
            </p:spPr>
            <p:txBody>
              <a:bodyPr wrap="square" lIns="45718" tIns="45718" rIns="45718" bIns="45718" numCol="1" anchor="ctr">
                <a:noAutofit/>
              </a:bodyPr>
              <a:lstStyle/>
              <a:p>
                <a:pPr algn="ctr">
                  <a:spcBef>
                    <a:spcPts val="800"/>
                  </a:spcBef>
                  <a:defRPr>
                    <a:solidFill>
                      <a:srgbClr val="000000"/>
                    </a:solidFill>
                  </a:defRPr>
                </a:pPr>
              </a:p>
            </p:txBody>
          </p:sp>
          <p:sp>
            <p:nvSpPr>
              <p:cNvPr id="362" name="C"/>
              <p:cNvSpPr txBox="1"/>
              <p:nvPr/>
            </p:nvSpPr>
            <p:spPr>
              <a:xfrm>
                <a:off x="4063" y="0"/>
                <a:ext cx="171873" cy="249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36000" tIns="36000" rIns="36000" bIns="36000" numCol="1" anchor="ctr">
                <a:spAutoFit/>
              </a:bodyPr>
              <a:lstStyle>
                <a:lvl1pPr algn="ctr">
                  <a:spcBef>
                    <a:spcPts val="800"/>
                  </a:spcBef>
                  <a:defRPr spc="-30" sz="1200">
                    <a:solidFill>
                      <a:srgbClr val="FFFFFF"/>
                    </a:solidFill>
                  </a:defRPr>
                </a:lvl1pPr>
              </a:lstStyle>
              <a:p>
                <a:pPr/>
                <a:r>
                  <a:t>C</a:t>
                </a:r>
              </a:p>
            </p:txBody>
          </p:sp>
        </p:grpSp>
        <p:sp>
          <p:nvSpPr>
            <p:cNvPr id="364" name="Straight Arrow Connector 95"/>
            <p:cNvSpPr/>
            <p:nvPr/>
          </p:nvSpPr>
          <p:spPr>
            <a:xfrm flipH="1">
              <a:off x="362569" y="443108"/>
              <a:ext cx="1138" cy="180002"/>
            </a:xfrm>
            <a:prstGeom prst="line">
              <a:avLst/>
            </a:prstGeom>
            <a:noFill/>
            <a:ln w="25400" cap="flat">
              <a:solidFill>
                <a:srgbClr val="0082F0"/>
              </a:solidFill>
              <a:prstDash val="solid"/>
              <a:round/>
              <a:tailEnd type="triangle" w="med" len="med"/>
            </a:ln>
            <a:effectLst/>
          </p:spPr>
          <p:txBody>
            <a:bodyPr wrap="square" lIns="45718" tIns="45718" rIns="45718" bIns="45718" numCol="1" anchor="t">
              <a:noAutofit/>
            </a:bodyPr>
            <a:lstStyle/>
            <a:p>
              <a:pPr>
                <a:defRPr>
                  <a:latin typeface="+mj-lt"/>
                  <a:ea typeface="+mj-ea"/>
                  <a:cs typeface="+mj-cs"/>
                  <a:sym typeface="Helvetica"/>
                </a:defRPr>
              </a:pPr>
            </a:p>
          </p:txBody>
        </p:sp>
        <p:sp>
          <p:nvSpPr>
            <p:cNvPr id="365" name="Straight Arrow Connector 96"/>
            <p:cNvSpPr/>
            <p:nvPr/>
          </p:nvSpPr>
          <p:spPr>
            <a:xfrm>
              <a:off x="362569" y="803109"/>
              <a:ext cx="2387" cy="180002"/>
            </a:xfrm>
            <a:prstGeom prst="line">
              <a:avLst/>
            </a:prstGeom>
            <a:noFill/>
            <a:ln w="25400" cap="flat">
              <a:solidFill>
                <a:srgbClr val="0082F0"/>
              </a:solidFill>
              <a:prstDash val="solid"/>
              <a:round/>
              <a:tailEnd type="triangle" w="med" len="med"/>
            </a:ln>
            <a:effectLst/>
          </p:spPr>
          <p:txBody>
            <a:bodyPr wrap="square" lIns="45718" tIns="45718" rIns="45718" bIns="45718" numCol="1" anchor="t">
              <a:noAutofit/>
            </a:bodyPr>
            <a:lstStyle/>
            <a:p>
              <a:pPr>
                <a:defRPr>
                  <a:latin typeface="+mj-lt"/>
                  <a:ea typeface="+mj-ea"/>
                  <a:cs typeface="+mj-cs"/>
                  <a:sym typeface="Helvetica"/>
                </a:defRPr>
              </a:pPr>
            </a:p>
          </p:txBody>
        </p:sp>
        <p:sp>
          <p:nvSpPr>
            <p:cNvPr id="366" name="Straight Arrow Connector 97"/>
            <p:cNvSpPr/>
            <p:nvPr/>
          </p:nvSpPr>
          <p:spPr>
            <a:xfrm flipH="1">
              <a:off x="362874" y="-2"/>
              <a:ext cx="2" cy="267903"/>
            </a:xfrm>
            <a:prstGeom prst="line">
              <a:avLst/>
            </a:prstGeom>
            <a:noFill/>
            <a:ln w="25400" cap="flat">
              <a:solidFill>
                <a:srgbClr val="0082F0"/>
              </a:solidFill>
              <a:prstDash val="solid"/>
              <a:round/>
              <a:tailEnd type="triangle" w="med" len="med"/>
            </a:ln>
            <a:effectLst/>
          </p:spPr>
          <p:txBody>
            <a:bodyPr wrap="square" lIns="45718" tIns="45718" rIns="45718" bIns="45718" numCol="1" anchor="t">
              <a:noAutofit/>
            </a:bodyPr>
            <a:lstStyle/>
            <a:p>
              <a:pPr>
                <a:defRPr>
                  <a:latin typeface="+mj-lt"/>
                  <a:ea typeface="+mj-ea"/>
                  <a:cs typeface="+mj-cs"/>
                  <a:sym typeface="Helvetica"/>
                </a:defRPr>
              </a:pPr>
            </a:p>
          </p:txBody>
        </p:sp>
        <p:sp>
          <p:nvSpPr>
            <p:cNvPr id="367" name="Straight Arrow Connector 96"/>
            <p:cNvSpPr/>
            <p:nvPr/>
          </p:nvSpPr>
          <p:spPr>
            <a:xfrm>
              <a:off x="362025" y="1163109"/>
              <a:ext cx="2387" cy="180002"/>
            </a:xfrm>
            <a:prstGeom prst="line">
              <a:avLst/>
            </a:prstGeom>
            <a:noFill/>
            <a:ln w="25400" cap="flat">
              <a:solidFill>
                <a:srgbClr val="0082F0"/>
              </a:solidFill>
              <a:prstDash val="solid"/>
              <a:round/>
              <a:tailEnd type="triangle" w="med" len="med"/>
            </a:ln>
            <a:effectLst/>
          </p:spPr>
          <p:txBody>
            <a:bodyPr wrap="square" lIns="45718" tIns="45718" rIns="45718" bIns="45718" numCol="1" anchor="t">
              <a:noAutofit/>
            </a:bodyPr>
            <a:lstStyle/>
            <a:p>
              <a:pPr>
                <a:defRPr>
                  <a:latin typeface="+mj-lt"/>
                  <a:ea typeface="+mj-ea"/>
                  <a:cs typeface="+mj-cs"/>
                  <a:sym typeface="Helvetica"/>
                </a:defRPr>
              </a:pPr>
            </a:p>
          </p:txBody>
        </p:sp>
      </p:grpSp>
      <p:sp>
        <p:nvSpPr>
          <p:cNvPr id="369" name="TextBox 102"/>
          <p:cNvSpPr txBox="1"/>
          <p:nvPr/>
        </p:nvSpPr>
        <p:spPr>
          <a:xfrm>
            <a:off x="759974" y="1537087"/>
            <a:ext cx="269867" cy="249801"/>
          </a:xfrm>
          <a:prstGeom prst="rect">
            <a:avLst/>
          </a:prstGeom>
          <a:ln w="12700">
            <a:miter lim="400000"/>
          </a:ln>
          <a:extLst>
            <a:ext uri="{C572A759-6A51-4108-AA02-DFA0A04FC94B}">
              <ma14:wrappingTextBoxFlag xmlns:ma14="http://schemas.microsoft.com/office/mac/drawingml/2011/main" val="1"/>
            </a:ext>
          </a:extLst>
        </p:spPr>
        <p:txBody>
          <a:bodyPr wrap="none" lIns="36000" tIns="36000" rIns="36000" bIns="36000" anchor="ctr">
            <a:spAutoFit/>
          </a:bodyPr>
          <a:lstStyle>
            <a:lvl1pPr algn="ctr">
              <a:spcBef>
                <a:spcPts val="800"/>
              </a:spcBef>
              <a:defRPr spc="-30" sz="1200"/>
            </a:lvl1pPr>
          </a:lstStyle>
          <a:p>
            <a:pPr/>
            <a:r>
              <a:t>UE</a:t>
            </a:r>
          </a:p>
        </p:txBody>
      </p:sp>
      <p:sp>
        <p:nvSpPr>
          <p:cNvPr id="370" name="Rectangle 103"/>
          <p:cNvSpPr/>
          <p:nvPr/>
        </p:nvSpPr>
        <p:spPr>
          <a:xfrm>
            <a:off x="720665" y="1534731"/>
            <a:ext cx="1250540" cy="1620003"/>
          </a:xfrm>
          <a:prstGeom prst="rect">
            <a:avLst/>
          </a:prstGeom>
          <a:ln w="12700">
            <a:solidFill>
              <a:srgbClr val="A8A8A8"/>
            </a:solidFill>
          </a:ln>
        </p:spPr>
        <p:txBody>
          <a:bodyPr lIns="45718" tIns="45718" rIns="45718" bIns="45718"/>
          <a:lstStyle/>
          <a:p>
            <a:pPr>
              <a:spcBef>
                <a:spcPts val="800"/>
              </a:spcBef>
              <a:defRPr>
                <a:solidFill>
                  <a:srgbClr val="FFFFFF"/>
                </a:solidFill>
              </a:defRPr>
            </a:pPr>
          </a:p>
        </p:txBody>
      </p:sp>
      <p:grpSp>
        <p:nvGrpSpPr>
          <p:cNvPr id="373" name="Group 105"/>
          <p:cNvGrpSpPr/>
          <p:nvPr/>
        </p:nvGrpSpPr>
        <p:grpSpPr>
          <a:xfrm>
            <a:off x="783202" y="2730004"/>
            <a:ext cx="252004" cy="252003"/>
            <a:chOff x="0" y="0"/>
            <a:chExt cx="252003" cy="252002"/>
          </a:xfrm>
        </p:grpSpPr>
        <p:pic>
          <p:nvPicPr>
            <p:cNvPr id="371" name="Picture Placeholder 35" descr="Picture Placeholder 35"/>
            <p:cNvPicPr>
              <a:picLocks noChangeAspect="1"/>
            </p:cNvPicPr>
            <p:nvPr/>
          </p:nvPicPr>
          <p:blipFill>
            <a:blip r:embed="rId3">
              <a:extLst/>
            </a:blip>
            <a:srcRect l="0" t="110" r="0" b="108"/>
            <a:stretch>
              <a:fillRect/>
            </a:stretch>
          </p:blipFill>
          <p:spPr>
            <a:xfrm rot="16200000">
              <a:off x="-1" y="-2"/>
              <a:ext cx="252004" cy="252004"/>
            </a:xfrm>
            <a:prstGeom prst="rect">
              <a:avLst/>
            </a:prstGeom>
            <a:ln w="12700" cap="flat">
              <a:noFill/>
              <a:miter lim="400000"/>
            </a:ln>
            <a:effectLst/>
          </p:spPr>
        </p:pic>
        <p:sp>
          <p:nvSpPr>
            <p:cNvPr id="372" name="Rectangle 108"/>
            <p:cNvSpPr/>
            <p:nvPr/>
          </p:nvSpPr>
          <p:spPr>
            <a:xfrm rot="16200000">
              <a:off x="84599" y="142573"/>
              <a:ext cx="82802" cy="81859"/>
            </a:xfrm>
            <a:prstGeom prst="rect">
              <a:avLst/>
            </a:prstGeom>
            <a:solidFill>
              <a:srgbClr val="FF8C0A"/>
            </a:solidFill>
            <a:ln w="12700" cap="flat">
              <a:noFill/>
              <a:miter lim="400000"/>
            </a:ln>
            <a:effectLst/>
          </p:spPr>
          <p:txBody>
            <a:bodyPr wrap="square" lIns="45718" tIns="45718" rIns="45718" bIns="45718" numCol="1" anchor="t">
              <a:noAutofit/>
            </a:bodyPr>
            <a:lstStyle/>
            <a:p>
              <a:pPr>
                <a:spcBef>
                  <a:spcPts val="800"/>
                </a:spcBef>
                <a:defRPr>
                  <a:solidFill>
                    <a:srgbClr val="FFFFFF"/>
                  </a:solidFill>
                </a:defRPr>
              </a:pPr>
            </a:p>
          </p:txBody>
        </p:sp>
      </p:grpSp>
      <p:pic>
        <p:nvPicPr>
          <p:cNvPr id="374" name="Picture Placeholder 35" descr="Picture Placeholder 35"/>
          <p:cNvPicPr>
            <a:picLocks noChangeAspect="1"/>
          </p:cNvPicPr>
          <p:nvPr/>
        </p:nvPicPr>
        <p:blipFill>
          <a:blip r:embed="rId4">
            <a:extLst/>
          </a:blip>
          <a:stretch>
            <a:fillRect/>
          </a:stretch>
        </p:blipFill>
        <p:spPr>
          <a:xfrm>
            <a:off x="1150616" y="1021897"/>
            <a:ext cx="540000" cy="540002"/>
          </a:xfrm>
          <a:prstGeom prst="rect">
            <a:avLst/>
          </a:prstGeom>
          <a:ln w="12700">
            <a:miter lim="400000"/>
          </a:ln>
        </p:spPr>
      </p:pic>
      <p:grpSp>
        <p:nvGrpSpPr>
          <p:cNvPr id="386" name="Group 110"/>
          <p:cNvGrpSpPr/>
          <p:nvPr/>
        </p:nvGrpSpPr>
        <p:grpSpPr>
          <a:xfrm>
            <a:off x="1071201" y="1459360"/>
            <a:ext cx="727418" cy="1632068"/>
            <a:chOff x="-2" y="-1"/>
            <a:chExt cx="727417" cy="1632067"/>
          </a:xfrm>
        </p:grpSpPr>
        <p:grpSp>
          <p:nvGrpSpPr>
            <p:cNvPr id="377" name="Rectangle 111"/>
            <p:cNvGrpSpPr/>
            <p:nvPr/>
          </p:nvGrpSpPr>
          <p:grpSpPr>
            <a:xfrm>
              <a:off x="-3" y="168576"/>
              <a:ext cx="727419" cy="1463491"/>
              <a:chOff x="-1" y="-1"/>
              <a:chExt cx="727417" cy="1463490"/>
            </a:xfrm>
          </p:grpSpPr>
          <p:sp>
            <p:nvSpPr>
              <p:cNvPr id="375" name="Rectangle"/>
              <p:cNvSpPr/>
              <p:nvPr/>
            </p:nvSpPr>
            <p:spPr>
              <a:xfrm>
                <a:off x="-2" y="-2"/>
                <a:ext cx="727419" cy="1463491"/>
              </a:xfrm>
              <a:prstGeom prst="rect">
                <a:avLst/>
              </a:prstGeom>
              <a:solidFill>
                <a:srgbClr val="90F6C9"/>
              </a:solidFill>
              <a:ln w="12700" cap="flat">
                <a:noFill/>
                <a:miter lim="400000"/>
              </a:ln>
              <a:effectLst/>
            </p:spPr>
            <p:txBody>
              <a:bodyPr wrap="square" lIns="45718" tIns="45718" rIns="45718" bIns="45718" numCol="1" anchor="b">
                <a:noAutofit/>
              </a:bodyPr>
              <a:lstStyle/>
              <a:p>
                <a:pPr algn="ctr">
                  <a:spcBef>
                    <a:spcPts val="800"/>
                  </a:spcBef>
                  <a:defRPr>
                    <a:solidFill>
                      <a:srgbClr val="000000"/>
                    </a:solidFill>
                  </a:defRPr>
                </a:pPr>
              </a:p>
            </p:txBody>
          </p:sp>
          <p:sp>
            <p:nvSpPr>
              <p:cNvPr id="376" name="Application"/>
              <p:cNvSpPr txBox="1"/>
              <p:nvPr/>
            </p:nvSpPr>
            <p:spPr>
              <a:xfrm rot="5400000">
                <a:off x="-569691" y="606268"/>
                <a:ext cx="1390338" cy="249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6000" tIns="36000" rIns="36000" bIns="36000" numCol="1" anchor="b">
                <a:spAutoFit/>
              </a:bodyPr>
              <a:lstStyle>
                <a:lvl1pPr algn="ctr">
                  <a:spcBef>
                    <a:spcPts val="800"/>
                  </a:spcBef>
                  <a:defRPr sz="1200"/>
                </a:lvl1pPr>
              </a:lstStyle>
              <a:p>
                <a:pPr/>
                <a:r>
                  <a:t>Application</a:t>
                </a:r>
              </a:p>
            </p:txBody>
          </p:sp>
        </p:grpSp>
        <p:grpSp>
          <p:nvGrpSpPr>
            <p:cNvPr id="380" name="TextBox 112"/>
            <p:cNvGrpSpPr/>
            <p:nvPr/>
          </p:nvGrpSpPr>
          <p:grpSpPr>
            <a:xfrm>
              <a:off x="28517" y="207890"/>
              <a:ext cx="670374" cy="249801"/>
              <a:chOff x="-1" y="-1"/>
              <a:chExt cx="670373" cy="249800"/>
            </a:xfrm>
          </p:grpSpPr>
          <p:sp>
            <p:nvSpPr>
              <p:cNvPr id="378" name="Rectangle"/>
              <p:cNvSpPr/>
              <p:nvPr/>
            </p:nvSpPr>
            <p:spPr>
              <a:xfrm>
                <a:off x="10699" y="30463"/>
                <a:ext cx="648978" cy="188875"/>
              </a:xfrm>
              <a:prstGeom prst="rect">
                <a:avLst/>
              </a:prstGeom>
              <a:solidFill>
                <a:srgbClr val="0FC373"/>
              </a:solidFill>
              <a:ln w="12700" cap="flat">
                <a:noFill/>
                <a:miter lim="400000"/>
              </a:ln>
              <a:effectLst/>
            </p:spPr>
            <p:txBody>
              <a:bodyPr wrap="square" lIns="45718" tIns="45718" rIns="45718" bIns="45718" numCol="1" anchor="ctr">
                <a:noAutofit/>
              </a:bodyPr>
              <a:lstStyle/>
              <a:p>
                <a:pPr algn="ctr">
                  <a:spcBef>
                    <a:spcPts val="800"/>
                  </a:spcBef>
                  <a:defRPr>
                    <a:solidFill>
                      <a:srgbClr val="000000"/>
                    </a:solidFill>
                  </a:defRPr>
                </a:pPr>
              </a:p>
            </p:txBody>
          </p:sp>
          <p:sp>
            <p:nvSpPr>
              <p:cNvPr id="379" name="Module A"/>
              <p:cNvSpPr txBox="1"/>
              <p:nvPr/>
            </p:nvSpPr>
            <p:spPr>
              <a:xfrm>
                <a:off x="-2" y="-2"/>
                <a:ext cx="670375" cy="249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36000" tIns="36000" rIns="36000" bIns="36000" numCol="1" anchor="ctr">
                <a:spAutoFit/>
              </a:bodyPr>
              <a:lstStyle>
                <a:lvl1pPr algn="ctr">
                  <a:spcBef>
                    <a:spcPts val="800"/>
                  </a:spcBef>
                  <a:defRPr spc="-30" sz="1200">
                    <a:solidFill>
                      <a:srgbClr val="FFFFFF"/>
                    </a:solidFill>
                  </a:defRPr>
                </a:lvl1pPr>
              </a:lstStyle>
              <a:p>
                <a:pPr/>
                <a:r>
                  <a:t>Module A</a:t>
                </a:r>
              </a:p>
            </p:txBody>
          </p:sp>
        </p:grpSp>
        <p:grpSp>
          <p:nvGrpSpPr>
            <p:cNvPr id="383" name="TextBox 113"/>
            <p:cNvGrpSpPr/>
            <p:nvPr/>
          </p:nvGrpSpPr>
          <p:grpSpPr>
            <a:xfrm>
              <a:off x="272570" y="995318"/>
              <a:ext cx="180003" cy="249801"/>
              <a:chOff x="0" y="0"/>
              <a:chExt cx="180001" cy="249800"/>
            </a:xfrm>
          </p:grpSpPr>
          <p:sp>
            <p:nvSpPr>
              <p:cNvPr id="381" name="Rectangle"/>
              <p:cNvSpPr/>
              <p:nvPr/>
            </p:nvSpPr>
            <p:spPr>
              <a:xfrm>
                <a:off x="0" y="31148"/>
                <a:ext cx="180002" cy="187506"/>
              </a:xfrm>
              <a:prstGeom prst="rect">
                <a:avLst/>
              </a:prstGeom>
              <a:solidFill>
                <a:srgbClr val="0FC373"/>
              </a:solidFill>
              <a:ln w="12700" cap="flat">
                <a:noFill/>
                <a:miter lim="400000"/>
              </a:ln>
              <a:effectLst/>
            </p:spPr>
            <p:txBody>
              <a:bodyPr wrap="square" lIns="45718" tIns="45718" rIns="45718" bIns="45718" numCol="1" anchor="ctr">
                <a:noAutofit/>
              </a:bodyPr>
              <a:lstStyle/>
              <a:p>
                <a:pPr algn="ctr">
                  <a:spcBef>
                    <a:spcPts val="800"/>
                  </a:spcBef>
                  <a:defRPr>
                    <a:solidFill>
                      <a:srgbClr val="000000"/>
                    </a:solidFill>
                  </a:defRPr>
                </a:pPr>
              </a:p>
            </p:txBody>
          </p:sp>
          <p:sp>
            <p:nvSpPr>
              <p:cNvPr id="382" name="C"/>
              <p:cNvSpPr txBox="1"/>
              <p:nvPr/>
            </p:nvSpPr>
            <p:spPr>
              <a:xfrm>
                <a:off x="4063" y="0"/>
                <a:ext cx="171873" cy="249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36000" tIns="36000" rIns="36000" bIns="36000" numCol="1" anchor="ctr">
                <a:spAutoFit/>
              </a:bodyPr>
              <a:lstStyle>
                <a:lvl1pPr algn="ctr">
                  <a:spcBef>
                    <a:spcPts val="800"/>
                  </a:spcBef>
                  <a:defRPr spc="-30" sz="1200">
                    <a:solidFill>
                      <a:srgbClr val="FFFFFF"/>
                    </a:solidFill>
                  </a:defRPr>
                </a:lvl1pPr>
              </a:lstStyle>
              <a:p>
                <a:pPr/>
                <a:r>
                  <a:t>C</a:t>
                </a:r>
              </a:p>
            </p:txBody>
          </p:sp>
        </p:grpSp>
        <p:sp>
          <p:nvSpPr>
            <p:cNvPr id="384" name="Straight Arrow Connector 114"/>
            <p:cNvSpPr/>
            <p:nvPr/>
          </p:nvSpPr>
          <p:spPr>
            <a:xfrm flipH="1">
              <a:off x="363706" y="-2"/>
              <a:ext cx="2" cy="238356"/>
            </a:xfrm>
            <a:prstGeom prst="line">
              <a:avLst/>
            </a:prstGeom>
            <a:noFill/>
            <a:ln w="25400" cap="flat">
              <a:solidFill>
                <a:srgbClr val="0082F0"/>
              </a:solidFill>
              <a:prstDash val="solid"/>
              <a:round/>
              <a:tailEnd type="triangle" w="med" len="med"/>
            </a:ln>
            <a:effectLst/>
          </p:spPr>
          <p:txBody>
            <a:bodyPr wrap="square" lIns="45718" tIns="45718" rIns="45718" bIns="45718" numCol="1" anchor="t">
              <a:noAutofit/>
            </a:bodyPr>
            <a:lstStyle/>
            <a:p>
              <a:pPr>
                <a:defRPr>
                  <a:latin typeface="+mj-lt"/>
                  <a:ea typeface="+mj-ea"/>
                  <a:cs typeface="+mj-cs"/>
                  <a:sym typeface="Helvetica"/>
                </a:defRPr>
              </a:pPr>
            </a:p>
          </p:txBody>
        </p:sp>
        <p:sp>
          <p:nvSpPr>
            <p:cNvPr id="385" name="Straight Arrow Connector 114"/>
            <p:cNvSpPr/>
            <p:nvPr/>
          </p:nvSpPr>
          <p:spPr>
            <a:xfrm flipH="1">
              <a:off x="363706" y="423333"/>
              <a:ext cx="2" cy="238355"/>
            </a:xfrm>
            <a:prstGeom prst="line">
              <a:avLst/>
            </a:prstGeom>
            <a:noFill/>
            <a:ln w="25400" cap="flat">
              <a:solidFill>
                <a:srgbClr val="0082F0"/>
              </a:solidFill>
              <a:prstDash val="solid"/>
              <a:round/>
              <a:tailEnd type="triangle" w="med" len="med"/>
            </a:ln>
            <a:effectLst/>
          </p:spPr>
          <p:txBody>
            <a:bodyPr wrap="square" lIns="45718" tIns="45718" rIns="45718" bIns="45718" numCol="1" anchor="t">
              <a:noAutofit/>
            </a:bodyPr>
            <a:lstStyle/>
            <a:p>
              <a:pPr>
                <a:defRPr>
                  <a:latin typeface="+mj-lt"/>
                  <a:ea typeface="+mj-ea"/>
                  <a:cs typeface="+mj-cs"/>
                  <a:sym typeface="Helvetica"/>
                </a:defRPr>
              </a:pPr>
            </a:p>
          </p:txBody>
        </p:sp>
      </p:grpSp>
      <p:sp>
        <p:nvSpPr>
          <p:cNvPr id="387" name="TextBox 116"/>
          <p:cNvSpPr txBox="1"/>
          <p:nvPr/>
        </p:nvSpPr>
        <p:spPr>
          <a:xfrm>
            <a:off x="6497440" y="2853190"/>
            <a:ext cx="269867" cy="249801"/>
          </a:xfrm>
          <a:prstGeom prst="rect">
            <a:avLst/>
          </a:prstGeom>
          <a:ln w="12700">
            <a:miter lim="400000"/>
          </a:ln>
          <a:extLst>
            <a:ext uri="{C572A759-6A51-4108-AA02-DFA0A04FC94B}">
              <ma14:wrappingTextBoxFlag xmlns:ma14="http://schemas.microsoft.com/office/mac/drawingml/2011/main" val="1"/>
            </a:ext>
          </a:extLst>
        </p:spPr>
        <p:txBody>
          <a:bodyPr wrap="none" lIns="36000" tIns="36000" rIns="36000" bIns="36000" anchor="ctr">
            <a:spAutoFit/>
          </a:bodyPr>
          <a:lstStyle>
            <a:lvl1pPr algn="ctr">
              <a:spcBef>
                <a:spcPts val="800"/>
              </a:spcBef>
              <a:defRPr spc="-30" sz="1200"/>
            </a:lvl1pPr>
          </a:lstStyle>
          <a:p>
            <a:pPr/>
            <a:r>
              <a:t>UE</a:t>
            </a:r>
          </a:p>
        </p:txBody>
      </p:sp>
      <p:sp>
        <p:nvSpPr>
          <p:cNvPr id="388" name="Rectangle 117"/>
          <p:cNvSpPr/>
          <p:nvPr/>
        </p:nvSpPr>
        <p:spPr>
          <a:xfrm>
            <a:off x="5542710" y="2865272"/>
            <a:ext cx="1249202" cy="1620002"/>
          </a:xfrm>
          <a:prstGeom prst="rect">
            <a:avLst/>
          </a:prstGeom>
          <a:ln w="12700">
            <a:solidFill>
              <a:srgbClr val="A8A8A8"/>
            </a:solidFill>
          </a:ln>
        </p:spPr>
        <p:txBody>
          <a:bodyPr lIns="45718" tIns="45718" rIns="45718" bIns="45718"/>
          <a:lstStyle/>
          <a:p>
            <a:pPr>
              <a:spcBef>
                <a:spcPts val="800"/>
              </a:spcBef>
              <a:defRPr>
                <a:solidFill>
                  <a:srgbClr val="FFFFFF"/>
                </a:solidFill>
              </a:defRPr>
            </a:pPr>
          </a:p>
        </p:txBody>
      </p:sp>
      <p:grpSp>
        <p:nvGrpSpPr>
          <p:cNvPr id="391" name="Group 118"/>
          <p:cNvGrpSpPr/>
          <p:nvPr/>
        </p:nvGrpSpPr>
        <p:grpSpPr>
          <a:xfrm>
            <a:off x="6488368" y="4094156"/>
            <a:ext cx="252004" cy="252003"/>
            <a:chOff x="0" y="0"/>
            <a:chExt cx="252003" cy="252002"/>
          </a:xfrm>
        </p:grpSpPr>
        <p:pic>
          <p:nvPicPr>
            <p:cNvPr id="389" name="Picture Placeholder 35" descr="Picture Placeholder 35"/>
            <p:cNvPicPr>
              <a:picLocks noChangeAspect="1"/>
            </p:cNvPicPr>
            <p:nvPr/>
          </p:nvPicPr>
          <p:blipFill>
            <a:blip r:embed="rId3">
              <a:extLst/>
            </a:blip>
            <a:srcRect l="0" t="110" r="0" b="108"/>
            <a:stretch>
              <a:fillRect/>
            </a:stretch>
          </p:blipFill>
          <p:spPr>
            <a:xfrm rot="16200000">
              <a:off x="-1" y="-2"/>
              <a:ext cx="252004" cy="252004"/>
            </a:xfrm>
            <a:prstGeom prst="rect">
              <a:avLst/>
            </a:prstGeom>
            <a:ln w="12700" cap="flat">
              <a:noFill/>
              <a:miter lim="400000"/>
            </a:ln>
            <a:effectLst/>
          </p:spPr>
        </p:pic>
        <p:sp>
          <p:nvSpPr>
            <p:cNvPr id="390" name="Rectangle 120"/>
            <p:cNvSpPr/>
            <p:nvPr/>
          </p:nvSpPr>
          <p:spPr>
            <a:xfrm rot="16200000">
              <a:off x="53999" y="111972"/>
              <a:ext cx="144003" cy="81859"/>
            </a:xfrm>
            <a:prstGeom prst="rect">
              <a:avLst/>
            </a:prstGeom>
            <a:solidFill>
              <a:srgbClr val="0FC373"/>
            </a:solidFill>
            <a:ln w="12700" cap="flat">
              <a:noFill/>
              <a:miter lim="400000"/>
            </a:ln>
            <a:effectLst/>
          </p:spPr>
          <p:txBody>
            <a:bodyPr wrap="square" lIns="45718" tIns="45718" rIns="45718" bIns="45718" numCol="1" anchor="t">
              <a:noAutofit/>
            </a:bodyPr>
            <a:lstStyle/>
            <a:p>
              <a:pPr>
                <a:spcBef>
                  <a:spcPts val="800"/>
                </a:spcBef>
                <a:defRPr>
                  <a:solidFill>
                    <a:srgbClr val="FFFFFF"/>
                  </a:solidFill>
                </a:defRPr>
              </a:pPr>
            </a:p>
          </p:txBody>
        </p:sp>
      </p:grpSp>
      <p:pic>
        <p:nvPicPr>
          <p:cNvPr id="392" name="Picture Placeholder 35" descr="Picture Placeholder 35"/>
          <p:cNvPicPr>
            <a:picLocks noChangeAspect="1"/>
          </p:cNvPicPr>
          <p:nvPr/>
        </p:nvPicPr>
        <p:blipFill>
          <a:blip r:embed="rId4">
            <a:extLst/>
          </a:blip>
          <a:stretch>
            <a:fillRect/>
          </a:stretch>
        </p:blipFill>
        <p:spPr>
          <a:xfrm>
            <a:off x="5840271" y="2366123"/>
            <a:ext cx="540002" cy="540002"/>
          </a:xfrm>
          <a:prstGeom prst="rect">
            <a:avLst/>
          </a:prstGeom>
          <a:ln w="12700">
            <a:miter lim="400000"/>
          </a:ln>
        </p:spPr>
      </p:pic>
      <p:sp>
        <p:nvSpPr>
          <p:cNvPr id="393" name="TextBox 123"/>
          <p:cNvSpPr txBox="1"/>
          <p:nvPr/>
        </p:nvSpPr>
        <p:spPr>
          <a:xfrm>
            <a:off x="3220508" y="4168408"/>
            <a:ext cx="1170856" cy="249801"/>
          </a:xfrm>
          <a:prstGeom prst="rect">
            <a:avLst/>
          </a:prstGeom>
          <a:ln w="12700">
            <a:miter lim="400000"/>
          </a:ln>
          <a:extLst>
            <a:ext uri="{C572A759-6A51-4108-AA02-DFA0A04FC94B}">
              <ma14:wrappingTextBoxFlag xmlns:ma14="http://schemas.microsoft.com/office/mac/drawingml/2011/main" val="1"/>
            </a:ext>
          </a:extLst>
        </p:spPr>
        <p:txBody>
          <a:bodyPr wrap="none" lIns="36000" tIns="36000" rIns="36000" bIns="36000" anchor="ctr">
            <a:spAutoFit/>
          </a:bodyPr>
          <a:lstStyle>
            <a:lvl1pPr algn="ctr">
              <a:spcBef>
                <a:spcPts val="800"/>
              </a:spcBef>
              <a:defRPr spc="-30" sz="1200"/>
            </a:lvl1pPr>
          </a:lstStyle>
          <a:p>
            <a:pPr/>
            <a:r>
              <a:t>Remote Compute</a:t>
            </a:r>
          </a:p>
        </p:txBody>
      </p:sp>
      <p:pic>
        <p:nvPicPr>
          <p:cNvPr id="394" name="Picture Placeholder 41" descr="Picture Placeholder 41"/>
          <p:cNvPicPr>
            <a:picLocks noChangeAspect="1"/>
          </p:cNvPicPr>
          <p:nvPr/>
        </p:nvPicPr>
        <p:blipFill>
          <a:blip r:embed="rId5">
            <a:extLst/>
          </a:blip>
          <a:stretch>
            <a:fillRect/>
          </a:stretch>
        </p:blipFill>
        <p:spPr>
          <a:xfrm>
            <a:off x="3074179" y="2663669"/>
            <a:ext cx="1408875" cy="1408874"/>
          </a:xfrm>
          <a:prstGeom prst="rect">
            <a:avLst/>
          </a:prstGeom>
          <a:ln w="12700">
            <a:miter lim="400000"/>
          </a:ln>
        </p:spPr>
      </p:pic>
      <p:grpSp>
        <p:nvGrpSpPr>
          <p:cNvPr id="397" name="TextBox 128"/>
          <p:cNvGrpSpPr/>
          <p:nvPr/>
        </p:nvGrpSpPr>
        <p:grpSpPr>
          <a:xfrm>
            <a:off x="1343797" y="2096497"/>
            <a:ext cx="180003" cy="249802"/>
            <a:chOff x="0" y="0"/>
            <a:chExt cx="180001" cy="249800"/>
          </a:xfrm>
        </p:grpSpPr>
        <p:sp>
          <p:nvSpPr>
            <p:cNvPr id="395" name="Square"/>
            <p:cNvSpPr/>
            <p:nvPr/>
          </p:nvSpPr>
          <p:spPr>
            <a:xfrm>
              <a:off x="0" y="34900"/>
              <a:ext cx="180003" cy="180002"/>
            </a:xfrm>
            <a:prstGeom prst="rect">
              <a:avLst/>
            </a:prstGeom>
            <a:solidFill>
              <a:srgbClr val="0FC373"/>
            </a:solidFill>
            <a:ln w="12700" cap="flat">
              <a:noFill/>
              <a:miter lim="400000"/>
            </a:ln>
            <a:effectLst/>
          </p:spPr>
          <p:txBody>
            <a:bodyPr wrap="square" lIns="45718" tIns="45718" rIns="45718" bIns="45718" numCol="1" anchor="ctr">
              <a:noAutofit/>
            </a:bodyPr>
            <a:lstStyle/>
            <a:p>
              <a:pPr algn="ctr">
                <a:spcBef>
                  <a:spcPts val="800"/>
                </a:spcBef>
                <a:defRPr>
                  <a:solidFill>
                    <a:srgbClr val="000000"/>
                  </a:solidFill>
                </a:defRPr>
              </a:pPr>
            </a:p>
          </p:txBody>
        </p:sp>
        <p:sp>
          <p:nvSpPr>
            <p:cNvPr id="396" name="B"/>
            <p:cNvSpPr txBox="1"/>
            <p:nvPr/>
          </p:nvSpPr>
          <p:spPr>
            <a:xfrm>
              <a:off x="786" y="0"/>
              <a:ext cx="178427" cy="249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36000" tIns="36000" rIns="36000" bIns="36000" numCol="1" anchor="ctr">
              <a:spAutoFit/>
            </a:bodyPr>
            <a:lstStyle>
              <a:lvl1pPr algn="ctr">
                <a:spcBef>
                  <a:spcPts val="800"/>
                </a:spcBef>
                <a:defRPr spc="-30" sz="1200">
                  <a:solidFill>
                    <a:srgbClr val="FFFFFF"/>
                  </a:solidFill>
                </a:defRPr>
              </a:lvl1pPr>
            </a:lstStyle>
            <a:p>
              <a:pPr/>
              <a:r>
                <a:t>B</a:t>
              </a:r>
            </a:p>
          </p:txBody>
        </p:sp>
      </p:grpSp>
      <p:grpSp>
        <p:nvGrpSpPr>
          <p:cNvPr id="400" name="TextBox 131"/>
          <p:cNvGrpSpPr/>
          <p:nvPr/>
        </p:nvGrpSpPr>
        <p:grpSpPr>
          <a:xfrm>
            <a:off x="1342575" y="2807416"/>
            <a:ext cx="182390" cy="249801"/>
            <a:chOff x="-1" y="0"/>
            <a:chExt cx="182388" cy="249800"/>
          </a:xfrm>
        </p:grpSpPr>
        <p:sp>
          <p:nvSpPr>
            <p:cNvPr id="398" name="Square"/>
            <p:cNvSpPr/>
            <p:nvPr/>
          </p:nvSpPr>
          <p:spPr>
            <a:xfrm>
              <a:off x="1194" y="34900"/>
              <a:ext cx="180003" cy="180002"/>
            </a:xfrm>
            <a:prstGeom prst="rect">
              <a:avLst/>
            </a:prstGeom>
            <a:solidFill>
              <a:srgbClr val="0FC373"/>
            </a:solidFill>
            <a:ln w="12700" cap="flat">
              <a:noFill/>
              <a:miter lim="400000"/>
            </a:ln>
            <a:effectLst/>
          </p:spPr>
          <p:txBody>
            <a:bodyPr wrap="square" lIns="45718" tIns="45718" rIns="45718" bIns="45718" numCol="1" anchor="ctr">
              <a:noAutofit/>
            </a:bodyPr>
            <a:lstStyle/>
            <a:p>
              <a:pPr algn="ctr">
                <a:spcBef>
                  <a:spcPts val="800"/>
                </a:spcBef>
                <a:defRPr>
                  <a:solidFill>
                    <a:srgbClr val="000000"/>
                  </a:solidFill>
                </a:defRPr>
              </a:pPr>
            </a:p>
          </p:txBody>
        </p:sp>
        <p:sp>
          <p:nvSpPr>
            <p:cNvPr id="399" name="D"/>
            <p:cNvSpPr txBox="1"/>
            <p:nvPr/>
          </p:nvSpPr>
          <p:spPr>
            <a:xfrm>
              <a:off x="-1" y="0"/>
              <a:ext cx="182389" cy="249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36000" tIns="36000" rIns="36000" bIns="36000" numCol="1" anchor="ctr">
              <a:spAutoFit/>
            </a:bodyPr>
            <a:lstStyle>
              <a:lvl1pPr algn="ctr">
                <a:spcBef>
                  <a:spcPts val="800"/>
                </a:spcBef>
                <a:defRPr spc="-30" sz="1200">
                  <a:solidFill>
                    <a:srgbClr val="FFFFFF"/>
                  </a:solidFill>
                </a:defRPr>
              </a:lvl1pPr>
            </a:lstStyle>
            <a:p>
              <a:pPr/>
              <a:r>
                <a:t>D</a:t>
              </a:r>
            </a:p>
          </p:txBody>
        </p:sp>
      </p:grpSp>
      <p:grpSp>
        <p:nvGrpSpPr>
          <p:cNvPr id="403" name="TextBox 133"/>
          <p:cNvGrpSpPr/>
          <p:nvPr/>
        </p:nvGrpSpPr>
        <p:grpSpPr>
          <a:xfrm>
            <a:off x="1342575" y="5439595"/>
            <a:ext cx="182390" cy="249801"/>
            <a:chOff x="-1" y="0"/>
            <a:chExt cx="182388" cy="249800"/>
          </a:xfrm>
        </p:grpSpPr>
        <p:sp>
          <p:nvSpPr>
            <p:cNvPr id="401" name="Square"/>
            <p:cNvSpPr/>
            <p:nvPr/>
          </p:nvSpPr>
          <p:spPr>
            <a:xfrm>
              <a:off x="1194" y="34900"/>
              <a:ext cx="180003" cy="180002"/>
            </a:xfrm>
            <a:prstGeom prst="rect">
              <a:avLst/>
            </a:prstGeom>
            <a:solidFill>
              <a:srgbClr val="0FC373"/>
            </a:solidFill>
            <a:ln w="12700" cap="flat">
              <a:noFill/>
              <a:miter lim="400000"/>
            </a:ln>
            <a:effectLst/>
          </p:spPr>
          <p:txBody>
            <a:bodyPr wrap="square" lIns="45718" tIns="45718" rIns="45718" bIns="45718" numCol="1" anchor="ctr">
              <a:noAutofit/>
            </a:bodyPr>
            <a:lstStyle/>
            <a:p>
              <a:pPr algn="ctr">
                <a:spcBef>
                  <a:spcPts val="800"/>
                </a:spcBef>
                <a:defRPr>
                  <a:solidFill>
                    <a:srgbClr val="000000"/>
                  </a:solidFill>
                </a:defRPr>
              </a:pPr>
            </a:p>
          </p:txBody>
        </p:sp>
        <p:sp>
          <p:nvSpPr>
            <p:cNvPr id="402" name="D"/>
            <p:cNvSpPr txBox="1"/>
            <p:nvPr/>
          </p:nvSpPr>
          <p:spPr>
            <a:xfrm>
              <a:off x="-1" y="0"/>
              <a:ext cx="182389" cy="249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36000" tIns="36000" rIns="36000" bIns="36000" numCol="1" anchor="ctr">
              <a:spAutoFit/>
            </a:bodyPr>
            <a:lstStyle>
              <a:lvl1pPr algn="ctr">
                <a:spcBef>
                  <a:spcPts val="800"/>
                </a:spcBef>
                <a:defRPr spc="-30" sz="1200">
                  <a:solidFill>
                    <a:srgbClr val="FFFFFF"/>
                  </a:solidFill>
                </a:defRPr>
              </a:lvl1pPr>
            </a:lstStyle>
            <a:p>
              <a:pPr/>
              <a:r>
                <a:t>D</a:t>
              </a:r>
            </a:p>
          </p:txBody>
        </p:sp>
      </p:grpSp>
      <p:grpSp>
        <p:nvGrpSpPr>
          <p:cNvPr id="406" name="TextBox 135"/>
          <p:cNvGrpSpPr/>
          <p:nvPr/>
        </p:nvGrpSpPr>
        <p:grpSpPr>
          <a:xfrm>
            <a:off x="6034688" y="4112781"/>
            <a:ext cx="182389" cy="249801"/>
            <a:chOff x="-1" y="0"/>
            <a:chExt cx="182388" cy="249800"/>
          </a:xfrm>
        </p:grpSpPr>
        <p:sp>
          <p:nvSpPr>
            <p:cNvPr id="404" name="Square"/>
            <p:cNvSpPr/>
            <p:nvPr/>
          </p:nvSpPr>
          <p:spPr>
            <a:xfrm>
              <a:off x="1194" y="34900"/>
              <a:ext cx="180002" cy="180002"/>
            </a:xfrm>
            <a:prstGeom prst="rect">
              <a:avLst/>
            </a:prstGeom>
            <a:solidFill>
              <a:srgbClr val="0FC373"/>
            </a:solidFill>
            <a:ln w="12700" cap="flat">
              <a:noFill/>
              <a:miter lim="400000"/>
            </a:ln>
            <a:effectLst/>
          </p:spPr>
          <p:txBody>
            <a:bodyPr wrap="square" lIns="45718" tIns="45718" rIns="45718" bIns="45718" numCol="1" anchor="ctr">
              <a:noAutofit/>
            </a:bodyPr>
            <a:lstStyle/>
            <a:p>
              <a:pPr algn="ctr">
                <a:spcBef>
                  <a:spcPts val="800"/>
                </a:spcBef>
                <a:defRPr>
                  <a:solidFill>
                    <a:srgbClr val="000000"/>
                  </a:solidFill>
                </a:defRPr>
              </a:pPr>
            </a:p>
          </p:txBody>
        </p:sp>
        <p:sp>
          <p:nvSpPr>
            <p:cNvPr id="405" name="D"/>
            <p:cNvSpPr txBox="1"/>
            <p:nvPr/>
          </p:nvSpPr>
          <p:spPr>
            <a:xfrm>
              <a:off x="-1" y="0"/>
              <a:ext cx="182389" cy="249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36000" tIns="36000" rIns="36000" bIns="36000" numCol="1" anchor="ctr">
              <a:spAutoFit/>
            </a:bodyPr>
            <a:lstStyle>
              <a:lvl1pPr algn="ctr">
                <a:spcBef>
                  <a:spcPts val="800"/>
                </a:spcBef>
                <a:defRPr spc="-30" sz="1200">
                  <a:solidFill>
                    <a:srgbClr val="FFFFFF"/>
                  </a:solidFill>
                </a:defRPr>
              </a:lvl1pPr>
            </a:lstStyle>
            <a:p>
              <a:pPr/>
              <a:r>
                <a:t>D</a:t>
              </a:r>
            </a:p>
          </p:txBody>
        </p:sp>
      </p:grpSp>
      <p:grpSp>
        <p:nvGrpSpPr>
          <p:cNvPr id="409" name="Rectangle: Rounded Corners 21"/>
          <p:cNvGrpSpPr/>
          <p:nvPr/>
        </p:nvGrpSpPr>
        <p:grpSpPr>
          <a:xfrm>
            <a:off x="7816942" y="1699142"/>
            <a:ext cx="3581079" cy="795901"/>
            <a:chOff x="0" y="0"/>
            <a:chExt cx="3581077" cy="795900"/>
          </a:xfrm>
        </p:grpSpPr>
        <p:sp>
          <p:nvSpPr>
            <p:cNvPr id="407" name="Rounded Rectangle"/>
            <p:cNvSpPr/>
            <p:nvPr/>
          </p:nvSpPr>
          <p:spPr>
            <a:xfrm>
              <a:off x="0" y="9211"/>
              <a:ext cx="3581078" cy="777477"/>
            </a:xfrm>
            <a:prstGeom prst="roundRect">
              <a:avLst>
                <a:gd name="adj" fmla="val 5574"/>
              </a:avLst>
            </a:prstGeom>
            <a:noFill/>
            <a:ln w="9525" cap="flat">
              <a:solidFill>
                <a:srgbClr val="181818"/>
              </a:solidFill>
              <a:prstDash val="solid"/>
              <a:round/>
            </a:ln>
            <a:effectLst/>
          </p:spPr>
          <p:txBody>
            <a:bodyPr wrap="square" lIns="45718" tIns="45718" rIns="45718" bIns="45718" numCol="1" anchor="ctr">
              <a:noAutofit/>
            </a:bodyPr>
            <a:lstStyle/>
            <a:p>
              <a:pPr algn="ctr">
                <a:defRPr>
                  <a:solidFill>
                    <a:srgbClr val="000000"/>
                  </a:solidFill>
                </a:defRPr>
              </a:pPr>
            </a:p>
          </p:txBody>
        </p:sp>
        <p:sp>
          <p:nvSpPr>
            <p:cNvPr id="408" name="Dynamic scheduling of the offloaded modules is triggered by situational changes, during application runtime"/>
            <p:cNvSpPr txBox="1"/>
            <p:nvPr/>
          </p:nvSpPr>
          <p:spPr>
            <a:xfrm>
              <a:off x="53455" y="0"/>
              <a:ext cx="3474168" cy="79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6000" tIns="36000" rIns="36000" bIns="36000" numCol="1" anchor="ctr">
              <a:spAutoFit/>
            </a:bodyPr>
            <a:lstStyle/>
            <a:p>
              <a:pPr algn="ctr">
                <a:defRPr spc="-30" sz="1600"/>
              </a:pPr>
              <a:r>
                <a:t>Dynamic scheduling of the offloaded modules is triggered by </a:t>
              </a:r>
              <a:r>
                <a:rPr>
                  <a:solidFill>
                    <a:srgbClr val="FF0000"/>
                  </a:solidFill>
                  <a:latin typeface="Ericsson Hilda Bold"/>
                  <a:ea typeface="Ericsson Hilda Bold"/>
                  <a:cs typeface="Ericsson Hilda Bold"/>
                  <a:sym typeface="Ericsson Hilda Bold"/>
                </a:rPr>
                <a:t>situational changes</a:t>
              </a:r>
              <a:r>
                <a:t>, during application runtime</a:t>
              </a:r>
            </a:p>
          </p:txBody>
        </p:sp>
      </p:grpSp>
      <p:pic>
        <p:nvPicPr>
          <p:cNvPr id="410" name="Picture Placeholder 45" descr="Picture Placeholder 45"/>
          <p:cNvPicPr>
            <a:picLocks noChangeAspect="1"/>
          </p:cNvPicPr>
          <p:nvPr/>
        </p:nvPicPr>
        <p:blipFill>
          <a:blip r:embed="rId6">
            <a:extLst/>
          </a:blip>
          <a:stretch>
            <a:fillRect/>
          </a:stretch>
        </p:blipFill>
        <p:spPr>
          <a:xfrm>
            <a:off x="8080839" y="2765125"/>
            <a:ext cx="1081153" cy="1081153"/>
          </a:xfrm>
          <a:prstGeom prst="rect">
            <a:avLst/>
          </a:prstGeom>
          <a:ln w="12700">
            <a:miter lim="400000"/>
          </a:ln>
        </p:spPr>
      </p:pic>
      <p:sp>
        <p:nvSpPr>
          <p:cNvPr id="411" name="TextBox 2"/>
          <p:cNvSpPr txBox="1"/>
          <p:nvPr/>
        </p:nvSpPr>
        <p:spPr>
          <a:xfrm>
            <a:off x="8657414" y="3115759"/>
            <a:ext cx="284603" cy="376801"/>
          </a:xfrm>
          <a:prstGeom prst="rect">
            <a:avLst/>
          </a:prstGeom>
          <a:ln w="12700">
            <a:miter lim="400000"/>
          </a:ln>
          <a:extLst>
            <a:ext uri="{C572A759-6A51-4108-AA02-DFA0A04FC94B}">
              <ma14:wrappingTextBoxFlag xmlns:ma14="http://schemas.microsoft.com/office/mac/drawingml/2011/main" val="1"/>
            </a:ext>
          </a:extLst>
        </p:spPr>
        <p:txBody>
          <a:bodyPr lIns="36000" tIns="36000" rIns="36000" bIns="36000">
            <a:spAutoFit/>
          </a:bodyPr>
          <a:lstStyle>
            <a:lvl1pPr>
              <a:spcBef>
                <a:spcPts val="800"/>
              </a:spcBef>
              <a:defRPr spc="-30" sz="2000"/>
            </a:lvl1pPr>
          </a:lstStyle>
          <a:p>
            <a:pPr/>
            <a:r>
              <a:t>?</a:t>
            </a:r>
          </a:p>
        </p:txBody>
      </p:sp>
      <p:pic>
        <p:nvPicPr>
          <p:cNvPr id="412" name="Picture Placeholder 27" descr="Picture Placeholder 27"/>
          <p:cNvPicPr>
            <a:picLocks noChangeAspect="1"/>
          </p:cNvPicPr>
          <p:nvPr/>
        </p:nvPicPr>
        <p:blipFill>
          <a:blip r:embed="rId7">
            <a:extLst/>
          </a:blip>
          <a:srcRect l="0" t="110" r="0" b="110"/>
          <a:stretch>
            <a:fillRect/>
          </a:stretch>
        </p:blipFill>
        <p:spPr>
          <a:xfrm>
            <a:off x="10241550" y="2765126"/>
            <a:ext cx="1059463" cy="1059462"/>
          </a:xfrm>
          <a:prstGeom prst="rect">
            <a:avLst/>
          </a:prstGeom>
          <a:ln w="12700">
            <a:miter lim="400000"/>
          </a:ln>
        </p:spPr>
      </p:pic>
      <p:sp>
        <p:nvSpPr>
          <p:cNvPr id="413" name="TextBox 4"/>
          <p:cNvSpPr txBox="1"/>
          <p:nvPr/>
        </p:nvSpPr>
        <p:spPr>
          <a:xfrm>
            <a:off x="7671348" y="3786840"/>
            <a:ext cx="1900133" cy="986401"/>
          </a:xfrm>
          <a:prstGeom prst="rect">
            <a:avLst/>
          </a:prstGeom>
          <a:ln w="12700">
            <a:miter lim="400000"/>
          </a:ln>
          <a:extLst>
            <a:ext uri="{C572A759-6A51-4108-AA02-DFA0A04FC94B}">
              <ma14:wrappingTextBoxFlag xmlns:ma14="http://schemas.microsoft.com/office/mac/drawingml/2011/main" val="1"/>
            </a:ext>
          </a:extLst>
        </p:spPr>
        <p:txBody>
          <a:bodyPr lIns="36000" tIns="36000" rIns="36000" bIns="36000">
            <a:spAutoFit/>
          </a:bodyPr>
          <a:lstStyle>
            <a:lvl1pPr algn="ctr">
              <a:spcBef>
                <a:spcPts val="800"/>
              </a:spcBef>
              <a:defRPr spc="-30" sz="2000"/>
            </a:lvl1pPr>
          </a:lstStyle>
          <a:p>
            <a:pPr/>
            <a:r>
              <a:t>Deploy anywhere, anytime</a:t>
            </a:r>
          </a:p>
        </p:txBody>
      </p:sp>
      <p:sp>
        <p:nvSpPr>
          <p:cNvPr id="414" name="TextBox 5"/>
          <p:cNvSpPr txBox="1"/>
          <p:nvPr/>
        </p:nvSpPr>
        <p:spPr>
          <a:xfrm>
            <a:off x="9810368" y="3791803"/>
            <a:ext cx="1900134" cy="681601"/>
          </a:xfrm>
          <a:prstGeom prst="rect">
            <a:avLst/>
          </a:prstGeom>
          <a:ln w="12700">
            <a:miter lim="400000"/>
          </a:ln>
          <a:extLst>
            <a:ext uri="{C572A759-6A51-4108-AA02-DFA0A04FC94B}">
              <ma14:wrappingTextBoxFlag xmlns:ma14="http://schemas.microsoft.com/office/mac/drawingml/2011/main" val="1"/>
            </a:ext>
          </a:extLst>
        </p:spPr>
        <p:txBody>
          <a:bodyPr lIns="36000" tIns="36000" rIns="36000" bIns="36000">
            <a:spAutoFit/>
          </a:bodyPr>
          <a:lstStyle>
            <a:lvl1pPr algn="ctr">
              <a:spcBef>
                <a:spcPts val="800"/>
              </a:spcBef>
              <a:defRPr spc="-30" sz="2000"/>
            </a:lvl1pPr>
          </a:lstStyle>
          <a:p>
            <a:pPr/>
            <a:r>
              <a:t>Adapt dynamically</a:t>
            </a:r>
          </a:p>
        </p:txBody>
      </p:sp>
      <p:sp>
        <p:nvSpPr>
          <p:cNvPr id="415" name="Straight Arrow Connector 96"/>
          <p:cNvSpPr/>
          <p:nvPr/>
        </p:nvSpPr>
        <p:spPr>
          <a:xfrm>
            <a:off x="6133234" y="3978766"/>
            <a:ext cx="2387" cy="180002"/>
          </a:xfrm>
          <a:prstGeom prst="line">
            <a:avLst/>
          </a:prstGeom>
          <a:ln w="25400">
            <a:solidFill>
              <a:srgbClr val="0082F0"/>
            </a:solidFill>
            <a:tailEnd type="triangle"/>
          </a:ln>
        </p:spPr>
        <p:txBody>
          <a:bodyPr lIns="45718" tIns="45718" rIns="45718" bIns="45718"/>
          <a:lstStyle/>
          <a:p>
            <a:pPr>
              <a:defRPr>
                <a:latin typeface="+mj-lt"/>
                <a:ea typeface="+mj-ea"/>
                <a:cs typeface="+mj-cs"/>
                <a:sym typeface="Helvetica"/>
              </a:defRPr>
            </a:pPr>
          </a:p>
        </p:txBody>
      </p:sp>
      <p:sp>
        <p:nvSpPr>
          <p:cNvPr id="416" name="Straight Arrow Connector 96"/>
          <p:cNvSpPr/>
          <p:nvPr/>
        </p:nvSpPr>
        <p:spPr>
          <a:xfrm>
            <a:off x="1432839" y="2317259"/>
            <a:ext cx="2386" cy="180002"/>
          </a:xfrm>
          <a:prstGeom prst="line">
            <a:avLst/>
          </a:prstGeom>
          <a:ln w="25400">
            <a:solidFill>
              <a:srgbClr val="0082F0"/>
            </a:solidFill>
            <a:tailEnd type="triangle"/>
          </a:ln>
        </p:spPr>
        <p:txBody>
          <a:bodyPr lIns="45718" tIns="45718" rIns="45718" bIns="45718"/>
          <a:lstStyle/>
          <a:p>
            <a:pPr>
              <a:defRPr>
                <a:latin typeface="+mj-lt"/>
                <a:ea typeface="+mj-ea"/>
                <a:cs typeface="+mj-cs"/>
                <a:sym typeface="Helvetica"/>
              </a:defRPr>
            </a:pPr>
          </a:p>
        </p:txBody>
      </p:sp>
      <p:sp>
        <p:nvSpPr>
          <p:cNvPr id="417" name="Straight Arrow Connector 96"/>
          <p:cNvSpPr/>
          <p:nvPr/>
        </p:nvSpPr>
        <p:spPr>
          <a:xfrm>
            <a:off x="1433228" y="2679132"/>
            <a:ext cx="2387" cy="180002"/>
          </a:xfrm>
          <a:prstGeom prst="line">
            <a:avLst/>
          </a:prstGeom>
          <a:ln w="25400">
            <a:solidFill>
              <a:srgbClr val="0082F0"/>
            </a:solidFill>
            <a:tailEnd type="triangle"/>
          </a:ln>
        </p:spPr>
        <p:txBody>
          <a:bodyPr lIns="45718" tIns="45718" rIns="45718" bIns="45718"/>
          <a:lstStyle/>
          <a:p>
            <a:pPr>
              <a:defRPr>
                <a:latin typeface="+mj-lt"/>
                <a:ea typeface="+mj-ea"/>
                <a:cs typeface="+mj-cs"/>
                <a:sym typeface="Helvetica"/>
              </a:defRPr>
            </a:pPr>
          </a:p>
        </p:txBody>
      </p:sp>
      <p:sp>
        <p:nvSpPr>
          <p:cNvPr id="418" name="Compute off-loading"/>
          <p:cNvSpPr txBox="1"/>
          <p:nvPr>
            <p:ph type="title"/>
          </p:nvPr>
        </p:nvSpPr>
        <p:spPr>
          <a:xfrm>
            <a:off x="330172" y="171058"/>
            <a:ext cx="8773852" cy="1324803"/>
          </a:xfrm>
          <a:prstGeom prst="rect">
            <a:avLst/>
          </a:prstGeom>
        </p:spPr>
        <p:txBody>
          <a:bodyPr lIns="36000" tIns="36000" rIns="36000" bIns="36000"/>
          <a:lstStyle/>
          <a:p>
            <a:pPr defTabSz="859536">
              <a:spcBef>
                <a:spcPts val="200"/>
              </a:spcBef>
              <a:defRPr spc="-334" sz="4800">
                <a:solidFill>
                  <a:srgbClr val="000000"/>
                </a:solidFill>
              </a:defRPr>
            </a:pPr>
            <a:r>
              <a:t>Compute offloading</a:t>
            </a:r>
            <a:r>
              <a:rPr>
                <a:solidFill>
                  <a:srgbClr val="FFFFFF"/>
                </a:solidFill>
              </a:rPr>
              <a:t> </a:t>
            </a:r>
          </a:p>
        </p:txBody>
      </p:sp>
      <p:sp>
        <p:nvSpPr>
          <p:cNvPr id="419" name="TextBox 30"/>
          <p:cNvSpPr txBox="1"/>
          <p:nvPr/>
        </p:nvSpPr>
        <p:spPr>
          <a:xfrm>
            <a:off x="1011056" y="6395865"/>
            <a:ext cx="685806" cy="402201"/>
          </a:xfrm>
          <a:prstGeom prst="rect">
            <a:avLst/>
          </a:prstGeom>
          <a:ln w="12700">
            <a:miter lim="400000"/>
          </a:ln>
          <a:extLst>
            <a:ext uri="{C572A759-6A51-4108-AA02-DFA0A04FC94B}">
              <ma14:wrappingTextBoxFlag xmlns:ma14="http://schemas.microsoft.com/office/mac/drawingml/2011/main" val="1"/>
            </a:ext>
          </a:extLst>
        </p:spPr>
        <p:txBody>
          <a:bodyPr lIns="36000" tIns="36000" rIns="36000" bIns="36000">
            <a:spAutoFit/>
          </a:bodyPr>
          <a:lstStyle/>
          <a:p>
            <a:pPr>
              <a:spcBef>
                <a:spcPts val="800"/>
              </a:spcBef>
              <a:defRPr spc="-30" sz="1100">
                <a:solidFill>
                  <a:schemeClr val="accent1"/>
                </a:solidFill>
              </a:defRPr>
            </a:pPr>
            <a:r>
              <a:t>Bring your </a:t>
            </a:r>
            <a:br/>
            <a:r>
              <a:t>own code</a:t>
            </a:r>
          </a:p>
        </p:txBody>
      </p:sp>
      <p:pic>
        <p:nvPicPr>
          <p:cNvPr id="420" name="Picture Placeholder 29" descr="Picture Placeholder 29"/>
          <p:cNvPicPr>
            <a:picLocks noChangeAspect="1"/>
          </p:cNvPicPr>
          <p:nvPr/>
        </p:nvPicPr>
        <p:blipFill>
          <a:blip r:embed="rId8">
            <a:extLst/>
          </a:blip>
          <a:stretch>
            <a:fillRect/>
          </a:stretch>
        </p:blipFill>
        <p:spPr>
          <a:xfrm>
            <a:off x="1014850" y="5865904"/>
            <a:ext cx="660709" cy="660709"/>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409"/>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413"/>
                                        </p:tgtEl>
                                        <p:attrNameLst>
                                          <p:attrName>style.visibility</p:attrName>
                                        </p:attrNameLst>
                                      </p:cBhvr>
                                      <p:to>
                                        <p:strVal val="visible"/>
                                      </p:to>
                                    </p:set>
                                  </p:childTnLst>
                                </p:cTn>
                              </p:par>
                            </p:childTnLst>
                          </p:cTn>
                        </p:par>
                        <p:par>
                          <p:cTn id="10" fill="hold">
                            <p:stCondLst>
                              <p:cond delay="0"/>
                            </p:stCondLst>
                            <p:childTnLst>
                              <p:par>
                                <p:cTn id="11" presetClass="entr" nodeType="afterEffect" presetSubtype="0" presetID="1" grpId="3" fill="hold">
                                  <p:stCondLst>
                                    <p:cond delay="0"/>
                                  </p:stCondLst>
                                  <p:iterate type="el" backwards="0">
                                    <p:tmAbs val="0"/>
                                  </p:iterate>
                                  <p:childTnLst>
                                    <p:set>
                                      <p:cBhvr>
                                        <p:cTn id="12" fill="hold"/>
                                        <p:tgtEl>
                                          <p:spTgt spid="411"/>
                                        </p:tgtEl>
                                        <p:attrNameLst>
                                          <p:attrName>style.visibility</p:attrName>
                                        </p:attrNameLst>
                                      </p:cBhvr>
                                      <p:to>
                                        <p:strVal val="visible"/>
                                      </p:to>
                                    </p:set>
                                  </p:childTnLst>
                                </p:cTn>
                              </p:par>
                            </p:childTnLst>
                          </p:cTn>
                        </p:par>
                        <p:par>
                          <p:cTn id="13" fill="hold">
                            <p:stCondLst>
                              <p:cond delay="0"/>
                            </p:stCondLst>
                            <p:childTnLst>
                              <p:par>
                                <p:cTn id="14" presetClass="entr" nodeType="afterEffect" presetSubtype="0" presetID="1" grpId="4" fill="hold">
                                  <p:stCondLst>
                                    <p:cond delay="0"/>
                                  </p:stCondLst>
                                  <p:iterate type="el" backwards="0">
                                    <p:tmAbs val="0"/>
                                  </p:iterate>
                                  <p:childTnLst>
                                    <p:set>
                                      <p:cBhvr>
                                        <p:cTn id="15" fill="hold"/>
                                        <p:tgtEl>
                                          <p:spTgt spid="410"/>
                                        </p:tgtEl>
                                        <p:attrNameLst>
                                          <p:attrName>style.visibility</p:attrName>
                                        </p:attrNameLst>
                                      </p:cBhvr>
                                      <p:to>
                                        <p:strVal val="visible"/>
                                      </p:to>
                                    </p:set>
                                  </p:childTnLst>
                                </p:cTn>
                              </p:par>
                            </p:childTnLst>
                          </p:cTn>
                        </p:par>
                        <p:par>
                          <p:cTn id="16" fill="hold">
                            <p:stCondLst>
                              <p:cond delay="0"/>
                            </p:stCondLst>
                            <p:childTnLst>
                              <p:par>
                                <p:cTn id="17" presetClass="entr" nodeType="afterEffect" presetSubtype="0" presetID="1" grpId="5" fill="hold">
                                  <p:stCondLst>
                                    <p:cond delay="0"/>
                                  </p:stCondLst>
                                  <p:iterate type="el" backwards="0">
                                    <p:tmAbs val="0"/>
                                  </p:iterate>
                                  <p:childTnLst>
                                    <p:set>
                                      <p:cBhvr>
                                        <p:cTn id="18" fill="hold"/>
                                        <p:tgtEl>
                                          <p:spTgt spid="412"/>
                                        </p:tgtEl>
                                        <p:attrNameLst>
                                          <p:attrName>style.visibility</p:attrName>
                                        </p:attrNameLst>
                                      </p:cBhvr>
                                      <p:to>
                                        <p:strVal val="visible"/>
                                      </p:to>
                                    </p:set>
                                  </p:childTnLst>
                                </p:cTn>
                              </p:par>
                            </p:childTnLst>
                          </p:cTn>
                        </p:par>
                        <p:par>
                          <p:cTn id="19" fill="hold">
                            <p:stCondLst>
                              <p:cond delay="0"/>
                            </p:stCondLst>
                            <p:childTnLst>
                              <p:par>
                                <p:cTn id="20" presetClass="entr" nodeType="afterEffect" presetSubtype="0" presetID="1" grpId="6" fill="hold">
                                  <p:stCondLst>
                                    <p:cond delay="0"/>
                                  </p:stCondLst>
                                  <p:iterate type="el" backwards="0">
                                    <p:tmAbs val="0"/>
                                  </p:iterate>
                                  <p:childTnLst>
                                    <p:set>
                                      <p:cBhvr>
                                        <p:cTn id="21" fill="hold"/>
                                        <p:tgtEl>
                                          <p:spTgt spid="41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0" presetID="1" grpId="7" fill="hold">
                                  <p:stCondLst>
                                    <p:cond delay="0"/>
                                  </p:stCondLst>
                                  <p:iterate type="el" backwards="0">
                                    <p:tmAbs val="0"/>
                                  </p:iterate>
                                  <p:childTnLst>
                                    <p:set>
                                      <p:cBhvr>
                                        <p:cTn id="25" fill="hold"/>
                                        <p:tgtEl>
                                          <p:spTgt spid="420"/>
                                        </p:tgtEl>
                                        <p:attrNameLst>
                                          <p:attrName>style.visibility</p:attrName>
                                        </p:attrNameLst>
                                      </p:cBhvr>
                                      <p:to>
                                        <p:strVal val="visible"/>
                                      </p:to>
                                    </p:set>
                                  </p:childTnLst>
                                </p:cTn>
                              </p:par>
                            </p:childTnLst>
                          </p:cTn>
                        </p:par>
                        <p:par>
                          <p:cTn id="26" fill="hold">
                            <p:stCondLst>
                              <p:cond delay="0"/>
                            </p:stCondLst>
                            <p:childTnLst>
                              <p:par>
                                <p:cTn id="27" presetClass="entr" nodeType="afterEffect" presetSubtype="0" presetID="1" grpId="8" fill="hold">
                                  <p:stCondLst>
                                    <p:cond delay="0"/>
                                  </p:stCondLst>
                                  <p:iterate type="el" backwards="0">
                                    <p:tmAbs val="0"/>
                                  </p:iterate>
                                  <p:childTnLst>
                                    <p:set>
                                      <p:cBhvr>
                                        <p:cTn id="28" fill="hold"/>
                                        <p:tgtEl>
                                          <p:spTgt spid="4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09" grpId="1"/>
      <p:bldP build="whole" bldLvl="1" animBg="1" rev="0" advAuto="0" spid="414" grpId="6"/>
      <p:bldP build="whole" bldLvl="1" animBg="1" rev="0" advAuto="0" spid="419" grpId="8"/>
      <p:bldP build="whole" bldLvl="1" animBg="1" rev="0" advAuto="0" spid="420" grpId="7"/>
      <p:bldP build="whole" bldLvl="1" animBg="1" rev="0" advAuto="0" spid="411" grpId="3"/>
      <p:bldP build="whole" bldLvl="1" animBg="1" rev="0" advAuto="0" spid="413" grpId="2"/>
      <p:bldP build="whole" bldLvl="1" animBg="1" rev="0" advAuto="0" spid="410" grpId="4"/>
      <p:bldP build="whole" bldLvl="1" animBg="1" rev="0" advAuto="0" spid="412" grpId="5"/>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439" name="Group 54"/>
          <p:cNvGrpSpPr/>
          <p:nvPr/>
        </p:nvGrpSpPr>
        <p:grpSpPr>
          <a:xfrm>
            <a:off x="5758619" y="2800747"/>
            <a:ext cx="727204" cy="1637362"/>
            <a:chOff x="0" y="-1"/>
            <a:chExt cx="727202" cy="1637361"/>
          </a:xfrm>
        </p:grpSpPr>
        <p:grpSp>
          <p:nvGrpSpPr>
            <p:cNvPr id="426" name="Rectangle 55"/>
            <p:cNvGrpSpPr/>
            <p:nvPr/>
          </p:nvGrpSpPr>
          <p:grpSpPr>
            <a:xfrm>
              <a:off x="-1" y="197358"/>
              <a:ext cx="727204" cy="1440003"/>
              <a:chOff x="0" y="0"/>
              <a:chExt cx="727202" cy="1440002"/>
            </a:xfrm>
          </p:grpSpPr>
          <p:sp>
            <p:nvSpPr>
              <p:cNvPr id="424" name="Rectangle"/>
              <p:cNvSpPr/>
              <p:nvPr/>
            </p:nvSpPr>
            <p:spPr>
              <a:xfrm>
                <a:off x="-1" y="0"/>
                <a:ext cx="727204" cy="1440003"/>
              </a:xfrm>
              <a:prstGeom prst="rect">
                <a:avLst/>
              </a:prstGeom>
              <a:solidFill>
                <a:srgbClr val="90F6C9"/>
              </a:solidFill>
              <a:ln w="12700" cap="flat">
                <a:noFill/>
                <a:miter lim="400000"/>
              </a:ln>
              <a:effectLst/>
            </p:spPr>
            <p:txBody>
              <a:bodyPr wrap="square" lIns="45718" tIns="45718" rIns="45718" bIns="45718" numCol="1" anchor="b">
                <a:noAutofit/>
              </a:bodyPr>
              <a:lstStyle/>
              <a:p>
                <a:pPr algn="ctr">
                  <a:spcBef>
                    <a:spcPts val="800"/>
                  </a:spcBef>
                  <a:defRPr>
                    <a:solidFill>
                      <a:srgbClr val="000000"/>
                    </a:solidFill>
                  </a:defRPr>
                </a:pPr>
              </a:p>
            </p:txBody>
          </p:sp>
          <p:sp>
            <p:nvSpPr>
              <p:cNvPr id="425" name="Application"/>
              <p:cNvSpPr txBox="1"/>
              <p:nvPr/>
            </p:nvSpPr>
            <p:spPr>
              <a:xfrm rot="5400000">
                <a:off x="-557948" y="594525"/>
                <a:ext cx="1366851" cy="249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6000" tIns="36000" rIns="36000" bIns="36000" numCol="1" anchor="b">
                <a:spAutoFit/>
              </a:bodyPr>
              <a:lstStyle>
                <a:lvl1pPr algn="ctr">
                  <a:spcBef>
                    <a:spcPts val="800"/>
                  </a:spcBef>
                  <a:defRPr sz="1200"/>
                </a:lvl1pPr>
              </a:lstStyle>
              <a:p>
                <a:pPr/>
                <a:r>
                  <a:t>Application</a:t>
                </a:r>
              </a:p>
            </p:txBody>
          </p:sp>
        </p:grpSp>
        <p:grpSp>
          <p:nvGrpSpPr>
            <p:cNvPr id="429" name="TextBox 56"/>
            <p:cNvGrpSpPr/>
            <p:nvPr/>
          </p:nvGrpSpPr>
          <p:grpSpPr>
            <a:xfrm>
              <a:off x="34931" y="233000"/>
              <a:ext cx="670374" cy="249801"/>
              <a:chOff x="0" y="0"/>
              <a:chExt cx="670373" cy="249800"/>
            </a:xfrm>
          </p:grpSpPr>
          <p:sp>
            <p:nvSpPr>
              <p:cNvPr id="427" name="Rectangle"/>
              <p:cNvSpPr/>
              <p:nvPr/>
            </p:nvSpPr>
            <p:spPr>
              <a:xfrm>
                <a:off x="17572" y="34900"/>
                <a:ext cx="635233" cy="180002"/>
              </a:xfrm>
              <a:prstGeom prst="rect">
                <a:avLst/>
              </a:prstGeom>
              <a:solidFill>
                <a:srgbClr val="0FC373"/>
              </a:solidFill>
              <a:ln w="12700" cap="flat">
                <a:noFill/>
                <a:miter lim="400000"/>
              </a:ln>
              <a:effectLst/>
            </p:spPr>
            <p:txBody>
              <a:bodyPr wrap="square" lIns="45718" tIns="45718" rIns="45718" bIns="45718" numCol="1" anchor="ctr">
                <a:noAutofit/>
              </a:bodyPr>
              <a:lstStyle/>
              <a:p>
                <a:pPr algn="ctr">
                  <a:spcBef>
                    <a:spcPts val="800"/>
                  </a:spcBef>
                  <a:defRPr>
                    <a:solidFill>
                      <a:srgbClr val="000000"/>
                    </a:solidFill>
                  </a:defRPr>
                </a:pPr>
              </a:p>
            </p:txBody>
          </p:sp>
          <p:sp>
            <p:nvSpPr>
              <p:cNvPr id="428" name="Module A"/>
              <p:cNvSpPr txBox="1"/>
              <p:nvPr/>
            </p:nvSpPr>
            <p:spPr>
              <a:xfrm>
                <a:off x="0" y="0"/>
                <a:ext cx="670374" cy="249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36000" tIns="36000" rIns="36000" bIns="36000" numCol="1" anchor="ctr">
                <a:spAutoFit/>
              </a:bodyPr>
              <a:lstStyle>
                <a:lvl1pPr algn="ctr">
                  <a:spcBef>
                    <a:spcPts val="800"/>
                  </a:spcBef>
                  <a:defRPr spc="-30" sz="1200">
                    <a:solidFill>
                      <a:srgbClr val="FFFFFF"/>
                    </a:solidFill>
                  </a:defRPr>
                </a:lvl1pPr>
              </a:lstStyle>
              <a:p>
                <a:pPr/>
                <a:r>
                  <a:t>Module A</a:t>
                </a:r>
              </a:p>
            </p:txBody>
          </p:sp>
        </p:grpSp>
        <p:grpSp>
          <p:nvGrpSpPr>
            <p:cNvPr id="432" name="TextBox 57"/>
            <p:cNvGrpSpPr/>
            <p:nvPr/>
          </p:nvGrpSpPr>
          <p:grpSpPr>
            <a:xfrm>
              <a:off x="270694" y="593000"/>
              <a:ext cx="180003" cy="249801"/>
              <a:chOff x="0" y="0"/>
              <a:chExt cx="180001" cy="249800"/>
            </a:xfrm>
          </p:grpSpPr>
          <p:sp>
            <p:nvSpPr>
              <p:cNvPr id="430" name="Square"/>
              <p:cNvSpPr/>
              <p:nvPr/>
            </p:nvSpPr>
            <p:spPr>
              <a:xfrm>
                <a:off x="0" y="34900"/>
                <a:ext cx="180002" cy="180002"/>
              </a:xfrm>
              <a:prstGeom prst="rect">
                <a:avLst/>
              </a:prstGeom>
              <a:solidFill>
                <a:srgbClr val="0FC373"/>
              </a:solidFill>
              <a:ln w="12700" cap="flat">
                <a:noFill/>
                <a:miter lim="400000"/>
              </a:ln>
              <a:effectLst/>
            </p:spPr>
            <p:txBody>
              <a:bodyPr wrap="square" lIns="45718" tIns="45718" rIns="45718" bIns="45718" numCol="1" anchor="ctr">
                <a:noAutofit/>
              </a:bodyPr>
              <a:lstStyle/>
              <a:p>
                <a:pPr algn="ctr">
                  <a:spcBef>
                    <a:spcPts val="800"/>
                  </a:spcBef>
                  <a:defRPr>
                    <a:solidFill>
                      <a:srgbClr val="000000"/>
                    </a:solidFill>
                  </a:defRPr>
                </a:pPr>
              </a:p>
            </p:txBody>
          </p:sp>
          <p:sp>
            <p:nvSpPr>
              <p:cNvPr id="431" name="B"/>
              <p:cNvSpPr txBox="1"/>
              <p:nvPr/>
            </p:nvSpPr>
            <p:spPr>
              <a:xfrm>
                <a:off x="786" y="0"/>
                <a:ext cx="178427" cy="249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36000" tIns="36000" rIns="36000" bIns="36000" numCol="1" anchor="ctr">
                <a:spAutoFit/>
              </a:bodyPr>
              <a:lstStyle>
                <a:lvl1pPr algn="ctr">
                  <a:spcBef>
                    <a:spcPts val="800"/>
                  </a:spcBef>
                  <a:defRPr spc="-30" sz="1200">
                    <a:solidFill>
                      <a:srgbClr val="FFFFFF"/>
                    </a:solidFill>
                  </a:defRPr>
                </a:lvl1pPr>
              </a:lstStyle>
              <a:p>
                <a:pPr/>
                <a:r>
                  <a:t>B</a:t>
                </a:r>
              </a:p>
            </p:txBody>
          </p:sp>
        </p:grpSp>
        <p:grpSp>
          <p:nvGrpSpPr>
            <p:cNvPr id="435" name="TextBox 59"/>
            <p:cNvGrpSpPr/>
            <p:nvPr/>
          </p:nvGrpSpPr>
          <p:grpSpPr>
            <a:xfrm>
              <a:off x="277267" y="953001"/>
              <a:ext cx="180003" cy="249801"/>
              <a:chOff x="0" y="0"/>
              <a:chExt cx="180001" cy="249800"/>
            </a:xfrm>
          </p:grpSpPr>
          <p:sp>
            <p:nvSpPr>
              <p:cNvPr id="433" name="Square"/>
              <p:cNvSpPr/>
              <p:nvPr/>
            </p:nvSpPr>
            <p:spPr>
              <a:xfrm>
                <a:off x="0" y="34900"/>
                <a:ext cx="180002" cy="180002"/>
              </a:xfrm>
              <a:prstGeom prst="rect">
                <a:avLst/>
              </a:prstGeom>
              <a:solidFill>
                <a:srgbClr val="0FC373"/>
              </a:solidFill>
              <a:ln w="12700" cap="flat">
                <a:noFill/>
                <a:miter lim="400000"/>
              </a:ln>
              <a:effectLst/>
            </p:spPr>
            <p:txBody>
              <a:bodyPr wrap="square" lIns="45718" tIns="45718" rIns="45718" bIns="45718" numCol="1" anchor="ctr">
                <a:noAutofit/>
              </a:bodyPr>
              <a:lstStyle/>
              <a:p>
                <a:pPr algn="ctr">
                  <a:spcBef>
                    <a:spcPts val="800"/>
                  </a:spcBef>
                  <a:defRPr>
                    <a:solidFill>
                      <a:srgbClr val="000000"/>
                    </a:solidFill>
                  </a:defRPr>
                </a:pPr>
              </a:p>
            </p:txBody>
          </p:sp>
          <p:sp>
            <p:nvSpPr>
              <p:cNvPr id="434" name="C"/>
              <p:cNvSpPr txBox="1"/>
              <p:nvPr/>
            </p:nvSpPr>
            <p:spPr>
              <a:xfrm>
                <a:off x="4063" y="0"/>
                <a:ext cx="171873" cy="249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36000" tIns="36000" rIns="36000" bIns="36000" numCol="1" anchor="ctr">
                <a:spAutoFit/>
              </a:bodyPr>
              <a:lstStyle>
                <a:lvl1pPr algn="ctr">
                  <a:spcBef>
                    <a:spcPts val="800"/>
                  </a:spcBef>
                  <a:defRPr spc="-30" sz="1200">
                    <a:solidFill>
                      <a:srgbClr val="FFFFFF"/>
                    </a:solidFill>
                  </a:defRPr>
                </a:lvl1pPr>
              </a:lstStyle>
              <a:p>
                <a:pPr/>
                <a:r>
                  <a:t>C</a:t>
                </a:r>
              </a:p>
            </p:txBody>
          </p:sp>
        </p:grpSp>
        <p:sp>
          <p:nvSpPr>
            <p:cNvPr id="436" name="Straight Arrow Connector 60"/>
            <p:cNvSpPr/>
            <p:nvPr/>
          </p:nvSpPr>
          <p:spPr>
            <a:xfrm flipH="1">
              <a:off x="363600" y="447900"/>
              <a:ext cx="1" cy="180002"/>
            </a:xfrm>
            <a:prstGeom prst="line">
              <a:avLst/>
            </a:prstGeom>
            <a:noFill/>
            <a:ln w="25400" cap="flat">
              <a:solidFill>
                <a:srgbClr val="0082F0"/>
              </a:solidFill>
              <a:prstDash val="solid"/>
              <a:round/>
              <a:tailEnd type="triangle" w="med" len="med"/>
            </a:ln>
            <a:effectLst/>
          </p:spPr>
          <p:txBody>
            <a:bodyPr wrap="square" lIns="45718" tIns="45718" rIns="45718" bIns="45718" numCol="1" anchor="t">
              <a:noAutofit/>
            </a:bodyPr>
            <a:lstStyle/>
            <a:p>
              <a:pPr>
                <a:defRPr>
                  <a:latin typeface="+mj-lt"/>
                  <a:ea typeface="+mj-ea"/>
                  <a:cs typeface="+mj-cs"/>
                  <a:sym typeface="Helvetica"/>
                </a:defRPr>
              </a:pPr>
            </a:p>
          </p:txBody>
        </p:sp>
        <p:sp>
          <p:nvSpPr>
            <p:cNvPr id="437" name="Straight Arrow Connector 61"/>
            <p:cNvSpPr/>
            <p:nvPr/>
          </p:nvSpPr>
          <p:spPr>
            <a:xfrm flipH="1">
              <a:off x="363600" y="807901"/>
              <a:ext cx="1" cy="180002"/>
            </a:xfrm>
            <a:prstGeom prst="line">
              <a:avLst/>
            </a:prstGeom>
            <a:noFill/>
            <a:ln w="25400" cap="flat">
              <a:solidFill>
                <a:srgbClr val="0082F0"/>
              </a:solidFill>
              <a:prstDash val="solid"/>
              <a:round/>
              <a:tailEnd type="triangle" w="med" len="med"/>
            </a:ln>
            <a:effectLst/>
          </p:spPr>
          <p:txBody>
            <a:bodyPr wrap="square" lIns="45718" tIns="45718" rIns="45718" bIns="45718" numCol="1" anchor="t">
              <a:noAutofit/>
            </a:bodyPr>
            <a:lstStyle/>
            <a:p>
              <a:pPr>
                <a:defRPr>
                  <a:latin typeface="+mj-lt"/>
                  <a:ea typeface="+mj-ea"/>
                  <a:cs typeface="+mj-cs"/>
                  <a:sym typeface="Helvetica"/>
                </a:defRPr>
              </a:pPr>
            </a:p>
          </p:txBody>
        </p:sp>
        <p:sp>
          <p:nvSpPr>
            <p:cNvPr id="438" name="Straight Arrow Connector 62"/>
            <p:cNvSpPr/>
            <p:nvPr/>
          </p:nvSpPr>
          <p:spPr>
            <a:xfrm>
              <a:off x="362894" y="-2"/>
              <a:ext cx="1415" cy="267904"/>
            </a:xfrm>
            <a:prstGeom prst="line">
              <a:avLst/>
            </a:prstGeom>
            <a:noFill/>
            <a:ln w="25400" cap="flat">
              <a:solidFill>
                <a:srgbClr val="0082F0"/>
              </a:solidFill>
              <a:prstDash val="solid"/>
              <a:round/>
              <a:tailEnd type="triangle" w="med" len="med"/>
            </a:ln>
            <a:effectLst/>
          </p:spPr>
          <p:txBody>
            <a:bodyPr wrap="square" lIns="45718" tIns="45718" rIns="45718" bIns="45718" numCol="1" anchor="t">
              <a:noAutofit/>
            </a:bodyPr>
            <a:lstStyle/>
            <a:p>
              <a:pPr>
                <a:defRPr>
                  <a:latin typeface="+mj-lt"/>
                  <a:ea typeface="+mj-ea"/>
                  <a:cs typeface="+mj-cs"/>
                  <a:sym typeface="Helvetica"/>
                </a:defRPr>
              </a:pPr>
            </a:p>
          </p:txBody>
        </p:sp>
      </p:grpSp>
      <p:sp>
        <p:nvSpPr>
          <p:cNvPr id="440" name="TextBox 12"/>
          <p:cNvSpPr txBox="1"/>
          <p:nvPr/>
        </p:nvSpPr>
        <p:spPr>
          <a:xfrm>
            <a:off x="757064" y="4212249"/>
            <a:ext cx="269867" cy="249801"/>
          </a:xfrm>
          <a:prstGeom prst="rect">
            <a:avLst/>
          </a:prstGeom>
          <a:ln w="12700">
            <a:miter lim="400000"/>
          </a:ln>
          <a:extLst>
            <a:ext uri="{C572A759-6A51-4108-AA02-DFA0A04FC94B}">
              <ma14:wrappingTextBoxFlag xmlns:ma14="http://schemas.microsoft.com/office/mac/drawingml/2011/main" val="1"/>
            </a:ext>
          </a:extLst>
        </p:spPr>
        <p:txBody>
          <a:bodyPr wrap="none" lIns="36000" tIns="36000" rIns="36000" bIns="36000" anchor="ctr">
            <a:spAutoFit/>
          </a:bodyPr>
          <a:lstStyle>
            <a:lvl1pPr algn="ctr">
              <a:spcBef>
                <a:spcPts val="800"/>
              </a:spcBef>
              <a:defRPr spc="-30" sz="1200"/>
            </a:lvl1pPr>
          </a:lstStyle>
          <a:p>
            <a:pPr/>
            <a:r>
              <a:t>UE</a:t>
            </a:r>
          </a:p>
        </p:txBody>
      </p:sp>
      <p:sp>
        <p:nvSpPr>
          <p:cNvPr id="441" name="Rectangle 11"/>
          <p:cNvSpPr/>
          <p:nvPr/>
        </p:nvSpPr>
        <p:spPr>
          <a:xfrm>
            <a:off x="720670" y="4191915"/>
            <a:ext cx="1250539" cy="1620002"/>
          </a:xfrm>
          <a:prstGeom prst="rect">
            <a:avLst/>
          </a:prstGeom>
          <a:ln w="12700">
            <a:solidFill>
              <a:srgbClr val="A8A8A8"/>
            </a:solidFill>
          </a:ln>
        </p:spPr>
        <p:txBody>
          <a:bodyPr lIns="45718" tIns="45718" rIns="45718" bIns="45718"/>
          <a:lstStyle/>
          <a:p>
            <a:pPr>
              <a:spcBef>
                <a:spcPts val="800"/>
              </a:spcBef>
              <a:defRPr>
                <a:solidFill>
                  <a:srgbClr val="FFFFFF"/>
                </a:solidFill>
              </a:defRPr>
            </a:pPr>
          </a:p>
        </p:txBody>
      </p:sp>
      <p:grpSp>
        <p:nvGrpSpPr>
          <p:cNvPr id="444" name="Group 43"/>
          <p:cNvGrpSpPr/>
          <p:nvPr/>
        </p:nvGrpSpPr>
        <p:grpSpPr>
          <a:xfrm>
            <a:off x="779988" y="5361946"/>
            <a:ext cx="252004" cy="252003"/>
            <a:chOff x="0" y="0"/>
            <a:chExt cx="252003" cy="252002"/>
          </a:xfrm>
        </p:grpSpPr>
        <p:pic>
          <p:nvPicPr>
            <p:cNvPr id="442" name="Picture Placeholder 35" descr="Picture Placeholder 35"/>
            <p:cNvPicPr>
              <a:picLocks noChangeAspect="1"/>
            </p:cNvPicPr>
            <p:nvPr/>
          </p:nvPicPr>
          <p:blipFill>
            <a:blip r:embed="rId3">
              <a:extLst/>
            </a:blip>
            <a:srcRect l="0" t="110" r="0" b="108"/>
            <a:stretch>
              <a:fillRect/>
            </a:stretch>
          </p:blipFill>
          <p:spPr>
            <a:xfrm rot="16200000">
              <a:off x="-1" y="-2"/>
              <a:ext cx="252004" cy="252004"/>
            </a:xfrm>
            <a:prstGeom prst="rect">
              <a:avLst/>
            </a:prstGeom>
            <a:ln w="12700" cap="flat">
              <a:noFill/>
              <a:miter lim="400000"/>
            </a:ln>
            <a:effectLst/>
          </p:spPr>
        </p:pic>
        <p:sp>
          <p:nvSpPr>
            <p:cNvPr id="443" name="Rectangle 17"/>
            <p:cNvSpPr/>
            <p:nvPr/>
          </p:nvSpPr>
          <p:spPr>
            <a:xfrm rot="16200000">
              <a:off x="57599" y="115573"/>
              <a:ext cx="136803" cy="81859"/>
            </a:xfrm>
            <a:prstGeom prst="rect">
              <a:avLst/>
            </a:prstGeom>
            <a:solidFill>
              <a:srgbClr val="0FC373"/>
            </a:solidFill>
            <a:ln w="12700" cap="flat">
              <a:noFill/>
              <a:miter lim="400000"/>
            </a:ln>
            <a:effectLst/>
          </p:spPr>
          <p:txBody>
            <a:bodyPr wrap="square" lIns="45718" tIns="45718" rIns="45718" bIns="45718" numCol="1" anchor="t">
              <a:noAutofit/>
            </a:bodyPr>
            <a:lstStyle/>
            <a:p>
              <a:pPr>
                <a:spcBef>
                  <a:spcPts val="800"/>
                </a:spcBef>
                <a:defRPr>
                  <a:solidFill>
                    <a:srgbClr val="FFFFFF"/>
                  </a:solidFill>
                </a:defRPr>
              </a:pPr>
            </a:p>
          </p:txBody>
        </p:sp>
      </p:grpSp>
      <p:pic>
        <p:nvPicPr>
          <p:cNvPr id="445" name="Picture Placeholder 35" descr="Picture Placeholder 35"/>
          <p:cNvPicPr>
            <a:picLocks noChangeAspect="1"/>
          </p:cNvPicPr>
          <p:nvPr/>
        </p:nvPicPr>
        <p:blipFill>
          <a:blip r:embed="rId4">
            <a:extLst/>
          </a:blip>
          <a:stretch>
            <a:fillRect/>
          </a:stretch>
        </p:blipFill>
        <p:spPr>
          <a:xfrm>
            <a:off x="1151825" y="3687319"/>
            <a:ext cx="540002" cy="540002"/>
          </a:xfrm>
          <a:prstGeom prst="rect">
            <a:avLst/>
          </a:prstGeom>
          <a:ln w="12700">
            <a:miter lim="400000"/>
          </a:ln>
        </p:spPr>
      </p:pic>
      <p:grpSp>
        <p:nvGrpSpPr>
          <p:cNvPr id="461" name="Group 51"/>
          <p:cNvGrpSpPr/>
          <p:nvPr/>
        </p:nvGrpSpPr>
        <p:grpSpPr>
          <a:xfrm>
            <a:off x="1071204" y="4149656"/>
            <a:ext cx="727419" cy="1592274"/>
            <a:chOff x="-2" y="-1"/>
            <a:chExt cx="727417" cy="1592273"/>
          </a:xfrm>
        </p:grpSpPr>
        <p:grpSp>
          <p:nvGrpSpPr>
            <p:cNvPr id="448" name="Rectangle 34"/>
            <p:cNvGrpSpPr/>
            <p:nvPr/>
          </p:nvGrpSpPr>
          <p:grpSpPr>
            <a:xfrm>
              <a:off x="-3" y="152269"/>
              <a:ext cx="727419" cy="1440004"/>
              <a:chOff x="-1" y="0"/>
              <a:chExt cx="727417" cy="1440002"/>
            </a:xfrm>
          </p:grpSpPr>
          <p:sp>
            <p:nvSpPr>
              <p:cNvPr id="446" name="Rectangle"/>
              <p:cNvSpPr/>
              <p:nvPr/>
            </p:nvSpPr>
            <p:spPr>
              <a:xfrm>
                <a:off x="-2" y="0"/>
                <a:ext cx="727419" cy="1440004"/>
              </a:xfrm>
              <a:prstGeom prst="rect">
                <a:avLst/>
              </a:prstGeom>
              <a:solidFill>
                <a:srgbClr val="90F6C9"/>
              </a:solidFill>
              <a:ln w="12700" cap="flat">
                <a:noFill/>
                <a:miter lim="400000"/>
              </a:ln>
              <a:effectLst/>
            </p:spPr>
            <p:txBody>
              <a:bodyPr wrap="square" lIns="45718" tIns="45718" rIns="45718" bIns="45718" numCol="1" anchor="b">
                <a:noAutofit/>
              </a:bodyPr>
              <a:lstStyle/>
              <a:p>
                <a:pPr algn="ctr">
                  <a:spcBef>
                    <a:spcPts val="800"/>
                  </a:spcBef>
                  <a:defRPr>
                    <a:solidFill>
                      <a:srgbClr val="000000"/>
                    </a:solidFill>
                  </a:defRPr>
                </a:pPr>
              </a:p>
            </p:txBody>
          </p:sp>
          <p:sp>
            <p:nvSpPr>
              <p:cNvPr id="447" name="Application"/>
              <p:cNvSpPr txBox="1"/>
              <p:nvPr/>
            </p:nvSpPr>
            <p:spPr>
              <a:xfrm rot="5400000">
                <a:off x="-557950" y="594526"/>
                <a:ext cx="1366854" cy="249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6000" tIns="36000" rIns="36000" bIns="36000" numCol="1" anchor="b">
                <a:spAutoFit/>
              </a:bodyPr>
              <a:lstStyle>
                <a:lvl1pPr algn="ctr">
                  <a:spcBef>
                    <a:spcPts val="800"/>
                  </a:spcBef>
                  <a:defRPr sz="1200"/>
                </a:lvl1pPr>
              </a:lstStyle>
              <a:p>
                <a:pPr/>
                <a:r>
                  <a:t>   Application</a:t>
                </a:r>
              </a:p>
            </p:txBody>
          </p:sp>
        </p:grpSp>
        <p:grpSp>
          <p:nvGrpSpPr>
            <p:cNvPr id="451" name="TextBox 2"/>
            <p:cNvGrpSpPr/>
            <p:nvPr/>
          </p:nvGrpSpPr>
          <p:grpSpPr>
            <a:xfrm>
              <a:off x="28517" y="228208"/>
              <a:ext cx="670374" cy="249801"/>
              <a:chOff x="-1" y="0"/>
              <a:chExt cx="670373" cy="249800"/>
            </a:xfrm>
          </p:grpSpPr>
          <p:sp>
            <p:nvSpPr>
              <p:cNvPr id="449" name="Rectangle"/>
              <p:cNvSpPr/>
              <p:nvPr/>
            </p:nvSpPr>
            <p:spPr>
              <a:xfrm>
                <a:off x="10699" y="34900"/>
                <a:ext cx="648978" cy="180002"/>
              </a:xfrm>
              <a:prstGeom prst="rect">
                <a:avLst/>
              </a:prstGeom>
              <a:solidFill>
                <a:srgbClr val="0FC373"/>
              </a:solidFill>
              <a:ln w="12700" cap="flat">
                <a:noFill/>
                <a:miter lim="400000"/>
              </a:ln>
              <a:effectLst/>
            </p:spPr>
            <p:txBody>
              <a:bodyPr wrap="square" lIns="45718" tIns="45718" rIns="45718" bIns="45718" numCol="1" anchor="ctr">
                <a:noAutofit/>
              </a:bodyPr>
              <a:lstStyle/>
              <a:p>
                <a:pPr algn="ctr">
                  <a:spcBef>
                    <a:spcPts val="800"/>
                  </a:spcBef>
                  <a:defRPr>
                    <a:solidFill>
                      <a:srgbClr val="000000"/>
                    </a:solidFill>
                  </a:defRPr>
                </a:pPr>
              </a:p>
            </p:txBody>
          </p:sp>
          <p:sp>
            <p:nvSpPr>
              <p:cNvPr id="450" name="Module A"/>
              <p:cNvSpPr txBox="1"/>
              <p:nvPr/>
            </p:nvSpPr>
            <p:spPr>
              <a:xfrm>
                <a:off x="-2" y="0"/>
                <a:ext cx="670375" cy="249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36000" tIns="36000" rIns="36000" bIns="36000" numCol="1" anchor="ctr">
                <a:spAutoFit/>
              </a:bodyPr>
              <a:lstStyle>
                <a:lvl1pPr algn="ctr">
                  <a:spcBef>
                    <a:spcPts val="800"/>
                  </a:spcBef>
                  <a:defRPr spc="-30" sz="1200">
                    <a:solidFill>
                      <a:srgbClr val="FFFFFF"/>
                    </a:solidFill>
                  </a:defRPr>
                </a:lvl1pPr>
              </a:lstStyle>
              <a:p>
                <a:pPr/>
                <a:r>
                  <a:t>Module A</a:t>
                </a:r>
              </a:p>
            </p:txBody>
          </p:sp>
        </p:grpSp>
        <p:grpSp>
          <p:nvGrpSpPr>
            <p:cNvPr id="454" name="TextBox 3"/>
            <p:cNvGrpSpPr/>
            <p:nvPr/>
          </p:nvGrpSpPr>
          <p:grpSpPr>
            <a:xfrm>
              <a:off x="272568" y="588208"/>
              <a:ext cx="180003" cy="249801"/>
              <a:chOff x="0" y="0"/>
              <a:chExt cx="180001" cy="249800"/>
            </a:xfrm>
          </p:grpSpPr>
          <p:sp>
            <p:nvSpPr>
              <p:cNvPr id="452" name="Square"/>
              <p:cNvSpPr/>
              <p:nvPr/>
            </p:nvSpPr>
            <p:spPr>
              <a:xfrm>
                <a:off x="0" y="34900"/>
                <a:ext cx="180002" cy="180002"/>
              </a:xfrm>
              <a:prstGeom prst="rect">
                <a:avLst/>
              </a:prstGeom>
              <a:solidFill>
                <a:srgbClr val="0FC373"/>
              </a:solidFill>
              <a:ln w="12700" cap="flat">
                <a:noFill/>
                <a:miter lim="400000"/>
              </a:ln>
              <a:effectLst/>
            </p:spPr>
            <p:txBody>
              <a:bodyPr wrap="square" lIns="45718" tIns="45718" rIns="45718" bIns="45718" numCol="1" anchor="ctr">
                <a:noAutofit/>
              </a:bodyPr>
              <a:lstStyle/>
              <a:p>
                <a:pPr algn="ctr">
                  <a:spcBef>
                    <a:spcPts val="800"/>
                  </a:spcBef>
                  <a:defRPr>
                    <a:solidFill>
                      <a:srgbClr val="000000"/>
                    </a:solidFill>
                  </a:defRPr>
                </a:pPr>
              </a:p>
            </p:txBody>
          </p:sp>
          <p:sp>
            <p:nvSpPr>
              <p:cNvPr id="453" name="B"/>
              <p:cNvSpPr txBox="1"/>
              <p:nvPr/>
            </p:nvSpPr>
            <p:spPr>
              <a:xfrm>
                <a:off x="786" y="0"/>
                <a:ext cx="178427" cy="249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36000" tIns="36000" rIns="36000" bIns="36000" numCol="1" anchor="ctr">
                <a:spAutoFit/>
              </a:bodyPr>
              <a:lstStyle>
                <a:lvl1pPr algn="ctr">
                  <a:spcBef>
                    <a:spcPts val="800"/>
                  </a:spcBef>
                  <a:defRPr spc="-30" sz="1200">
                    <a:solidFill>
                      <a:srgbClr val="FFFFFF"/>
                    </a:solidFill>
                  </a:defRPr>
                </a:lvl1pPr>
              </a:lstStyle>
              <a:p>
                <a:pPr/>
                <a:r>
                  <a:t>B</a:t>
                </a:r>
              </a:p>
            </p:txBody>
          </p:sp>
        </p:grpSp>
        <p:grpSp>
          <p:nvGrpSpPr>
            <p:cNvPr id="457" name="TextBox 4"/>
            <p:cNvGrpSpPr/>
            <p:nvPr/>
          </p:nvGrpSpPr>
          <p:grpSpPr>
            <a:xfrm>
              <a:off x="274954" y="948209"/>
              <a:ext cx="180003" cy="249801"/>
              <a:chOff x="0" y="0"/>
              <a:chExt cx="180001" cy="249800"/>
            </a:xfrm>
          </p:grpSpPr>
          <p:sp>
            <p:nvSpPr>
              <p:cNvPr id="455" name="Square"/>
              <p:cNvSpPr/>
              <p:nvPr/>
            </p:nvSpPr>
            <p:spPr>
              <a:xfrm>
                <a:off x="0" y="34900"/>
                <a:ext cx="180002" cy="180002"/>
              </a:xfrm>
              <a:prstGeom prst="rect">
                <a:avLst/>
              </a:prstGeom>
              <a:solidFill>
                <a:srgbClr val="0FC373"/>
              </a:solidFill>
              <a:ln w="12700" cap="flat">
                <a:noFill/>
                <a:miter lim="400000"/>
              </a:ln>
              <a:effectLst/>
            </p:spPr>
            <p:txBody>
              <a:bodyPr wrap="square" lIns="45718" tIns="45718" rIns="45718" bIns="45718" numCol="1" anchor="ctr">
                <a:noAutofit/>
              </a:bodyPr>
              <a:lstStyle/>
              <a:p>
                <a:pPr algn="ctr">
                  <a:spcBef>
                    <a:spcPts val="800"/>
                  </a:spcBef>
                  <a:defRPr>
                    <a:solidFill>
                      <a:srgbClr val="000000"/>
                    </a:solidFill>
                  </a:defRPr>
                </a:pPr>
              </a:p>
            </p:txBody>
          </p:sp>
          <p:sp>
            <p:nvSpPr>
              <p:cNvPr id="456" name="C"/>
              <p:cNvSpPr txBox="1"/>
              <p:nvPr/>
            </p:nvSpPr>
            <p:spPr>
              <a:xfrm>
                <a:off x="4063" y="0"/>
                <a:ext cx="171873" cy="249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36000" tIns="36000" rIns="36000" bIns="36000" numCol="1" anchor="ctr">
                <a:spAutoFit/>
              </a:bodyPr>
              <a:lstStyle>
                <a:lvl1pPr algn="ctr">
                  <a:spcBef>
                    <a:spcPts val="800"/>
                  </a:spcBef>
                  <a:defRPr spc="-30" sz="1200">
                    <a:solidFill>
                      <a:srgbClr val="FFFFFF"/>
                    </a:solidFill>
                  </a:defRPr>
                </a:lvl1pPr>
              </a:lstStyle>
              <a:p>
                <a:pPr/>
                <a:r>
                  <a:t>C</a:t>
                </a:r>
              </a:p>
            </p:txBody>
          </p:sp>
        </p:grpSp>
        <p:sp>
          <p:nvSpPr>
            <p:cNvPr id="458" name="Straight Arrow Connector 20"/>
            <p:cNvSpPr/>
            <p:nvPr/>
          </p:nvSpPr>
          <p:spPr>
            <a:xfrm flipH="1">
              <a:off x="362569" y="443108"/>
              <a:ext cx="1138" cy="180002"/>
            </a:xfrm>
            <a:prstGeom prst="line">
              <a:avLst/>
            </a:prstGeom>
            <a:noFill/>
            <a:ln w="25400" cap="flat">
              <a:solidFill>
                <a:srgbClr val="0082F0"/>
              </a:solidFill>
              <a:prstDash val="solid"/>
              <a:round/>
              <a:tailEnd type="triangle" w="med" len="med"/>
            </a:ln>
            <a:effectLst/>
          </p:spPr>
          <p:txBody>
            <a:bodyPr wrap="square" lIns="45718" tIns="45718" rIns="45718" bIns="45718" numCol="1" anchor="t">
              <a:noAutofit/>
            </a:bodyPr>
            <a:lstStyle/>
            <a:p>
              <a:pPr>
                <a:defRPr>
                  <a:latin typeface="+mj-lt"/>
                  <a:ea typeface="+mj-ea"/>
                  <a:cs typeface="+mj-cs"/>
                  <a:sym typeface="Helvetica"/>
                </a:defRPr>
              </a:pPr>
            </a:p>
          </p:txBody>
        </p:sp>
        <p:sp>
          <p:nvSpPr>
            <p:cNvPr id="459" name="Straight Arrow Connector 21"/>
            <p:cNvSpPr/>
            <p:nvPr/>
          </p:nvSpPr>
          <p:spPr>
            <a:xfrm>
              <a:off x="362569" y="803109"/>
              <a:ext cx="2387" cy="180002"/>
            </a:xfrm>
            <a:prstGeom prst="line">
              <a:avLst/>
            </a:prstGeom>
            <a:noFill/>
            <a:ln w="25400" cap="flat">
              <a:solidFill>
                <a:srgbClr val="0082F0"/>
              </a:solidFill>
              <a:prstDash val="solid"/>
              <a:round/>
              <a:tailEnd type="triangle" w="med" len="med"/>
            </a:ln>
            <a:effectLst/>
          </p:spPr>
          <p:txBody>
            <a:bodyPr wrap="square" lIns="45718" tIns="45718" rIns="45718" bIns="45718" numCol="1" anchor="t">
              <a:noAutofit/>
            </a:bodyPr>
            <a:lstStyle/>
            <a:p>
              <a:pPr>
                <a:defRPr>
                  <a:latin typeface="+mj-lt"/>
                  <a:ea typeface="+mj-ea"/>
                  <a:cs typeface="+mj-cs"/>
                  <a:sym typeface="Helvetica"/>
                </a:defRPr>
              </a:pPr>
            </a:p>
          </p:txBody>
        </p:sp>
        <p:sp>
          <p:nvSpPr>
            <p:cNvPr id="460" name="Straight Arrow Connector 58"/>
            <p:cNvSpPr/>
            <p:nvPr/>
          </p:nvSpPr>
          <p:spPr>
            <a:xfrm flipH="1">
              <a:off x="362874" y="-2"/>
              <a:ext cx="2" cy="267903"/>
            </a:xfrm>
            <a:prstGeom prst="line">
              <a:avLst/>
            </a:prstGeom>
            <a:noFill/>
            <a:ln w="25400" cap="flat">
              <a:solidFill>
                <a:srgbClr val="0082F0"/>
              </a:solidFill>
              <a:prstDash val="solid"/>
              <a:round/>
              <a:tailEnd type="triangle" w="med" len="med"/>
            </a:ln>
            <a:effectLst/>
          </p:spPr>
          <p:txBody>
            <a:bodyPr wrap="square" lIns="45718" tIns="45718" rIns="45718" bIns="45718" numCol="1" anchor="t">
              <a:noAutofit/>
            </a:bodyPr>
            <a:lstStyle/>
            <a:p>
              <a:pPr>
                <a:defRPr>
                  <a:latin typeface="+mj-lt"/>
                  <a:ea typeface="+mj-ea"/>
                  <a:cs typeface="+mj-cs"/>
                  <a:sym typeface="Helvetica"/>
                </a:defRPr>
              </a:pPr>
            </a:p>
          </p:txBody>
        </p:sp>
      </p:grpSp>
      <p:sp>
        <p:nvSpPr>
          <p:cNvPr id="462" name="TextBox 69"/>
          <p:cNvSpPr txBox="1"/>
          <p:nvPr/>
        </p:nvSpPr>
        <p:spPr>
          <a:xfrm>
            <a:off x="759979" y="1533187"/>
            <a:ext cx="269867" cy="249801"/>
          </a:xfrm>
          <a:prstGeom prst="rect">
            <a:avLst/>
          </a:prstGeom>
          <a:ln w="12700">
            <a:miter lim="400000"/>
          </a:ln>
          <a:extLst>
            <a:ext uri="{C572A759-6A51-4108-AA02-DFA0A04FC94B}">
              <ma14:wrappingTextBoxFlag xmlns:ma14="http://schemas.microsoft.com/office/mac/drawingml/2011/main" val="1"/>
            </a:ext>
          </a:extLst>
        </p:spPr>
        <p:txBody>
          <a:bodyPr wrap="none" lIns="36000" tIns="36000" rIns="36000" bIns="36000" anchor="ctr">
            <a:spAutoFit/>
          </a:bodyPr>
          <a:lstStyle>
            <a:lvl1pPr algn="ctr">
              <a:spcBef>
                <a:spcPts val="800"/>
              </a:spcBef>
              <a:defRPr spc="-30" sz="1200"/>
            </a:lvl1pPr>
          </a:lstStyle>
          <a:p>
            <a:pPr/>
            <a:r>
              <a:t>UE</a:t>
            </a:r>
          </a:p>
        </p:txBody>
      </p:sp>
      <p:sp>
        <p:nvSpPr>
          <p:cNvPr id="463" name="Rectangle 70"/>
          <p:cNvSpPr/>
          <p:nvPr/>
        </p:nvSpPr>
        <p:spPr>
          <a:xfrm>
            <a:off x="720670" y="1530832"/>
            <a:ext cx="1250539" cy="1620002"/>
          </a:xfrm>
          <a:prstGeom prst="rect">
            <a:avLst/>
          </a:prstGeom>
          <a:ln w="12700">
            <a:solidFill>
              <a:srgbClr val="A8A8A8"/>
            </a:solidFill>
          </a:ln>
        </p:spPr>
        <p:txBody>
          <a:bodyPr lIns="45718" tIns="45718" rIns="45718" bIns="45718"/>
          <a:lstStyle/>
          <a:p>
            <a:pPr>
              <a:spcBef>
                <a:spcPts val="800"/>
              </a:spcBef>
              <a:defRPr>
                <a:solidFill>
                  <a:srgbClr val="FFFFFF"/>
                </a:solidFill>
              </a:defRPr>
            </a:pPr>
          </a:p>
        </p:txBody>
      </p:sp>
      <p:grpSp>
        <p:nvGrpSpPr>
          <p:cNvPr id="466" name="Group 71"/>
          <p:cNvGrpSpPr/>
          <p:nvPr/>
        </p:nvGrpSpPr>
        <p:grpSpPr>
          <a:xfrm>
            <a:off x="783206" y="2726104"/>
            <a:ext cx="252005" cy="252003"/>
            <a:chOff x="0" y="0"/>
            <a:chExt cx="252003" cy="252002"/>
          </a:xfrm>
        </p:grpSpPr>
        <p:pic>
          <p:nvPicPr>
            <p:cNvPr id="464" name="Picture Placeholder 35" descr="Picture Placeholder 35"/>
            <p:cNvPicPr>
              <a:picLocks noChangeAspect="1"/>
            </p:cNvPicPr>
            <p:nvPr/>
          </p:nvPicPr>
          <p:blipFill>
            <a:blip r:embed="rId3">
              <a:extLst/>
            </a:blip>
            <a:srcRect l="0" t="110" r="0" b="108"/>
            <a:stretch>
              <a:fillRect/>
            </a:stretch>
          </p:blipFill>
          <p:spPr>
            <a:xfrm rot="16200000">
              <a:off x="0" y="-2"/>
              <a:ext cx="252003" cy="252005"/>
            </a:xfrm>
            <a:prstGeom prst="rect">
              <a:avLst/>
            </a:prstGeom>
            <a:ln w="12700" cap="flat">
              <a:noFill/>
              <a:miter lim="400000"/>
            </a:ln>
            <a:effectLst/>
          </p:spPr>
        </p:pic>
        <p:sp>
          <p:nvSpPr>
            <p:cNvPr id="465" name="Rectangle 83"/>
            <p:cNvSpPr/>
            <p:nvPr/>
          </p:nvSpPr>
          <p:spPr>
            <a:xfrm rot="16200000">
              <a:off x="84599" y="142573"/>
              <a:ext cx="82802" cy="81859"/>
            </a:xfrm>
            <a:prstGeom prst="rect">
              <a:avLst/>
            </a:prstGeom>
            <a:solidFill>
              <a:srgbClr val="FF8C0A"/>
            </a:solidFill>
            <a:ln w="12700" cap="flat">
              <a:noFill/>
              <a:miter lim="400000"/>
            </a:ln>
            <a:effectLst/>
          </p:spPr>
          <p:txBody>
            <a:bodyPr wrap="square" lIns="45718" tIns="45718" rIns="45718" bIns="45718" numCol="1" anchor="t">
              <a:noAutofit/>
            </a:bodyPr>
            <a:lstStyle/>
            <a:p>
              <a:pPr>
                <a:spcBef>
                  <a:spcPts val="800"/>
                </a:spcBef>
                <a:defRPr>
                  <a:solidFill>
                    <a:srgbClr val="FFFFFF"/>
                  </a:solidFill>
                </a:defRPr>
              </a:pPr>
            </a:p>
          </p:txBody>
        </p:sp>
      </p:grpSp>
      <p:pic>
        <p:nvPicPr>
          <p:cNvPr id="467" name="Picture Placeholder 35" descr="Picture Placeholder 35"/>
          <p:cNvPicPr>
            <a:picLocks noChangeAspect="1"/>
          </p:cNvPicPr>
          <p:nvPr/>
        </p:nvPicPr>
        <p:blipFill>
          <a:blip r:embed="rId4">
            <a:extLst/>
          </a:blip>
          <a:stretch>
            <a:fillRect/>
          </a:stretch>
        </p:blipFill>
        <p:spPr>
          <a:xfrm>
            <a:off x="1150621" y="1017998"/>
            <a:ext cx="540002" cy="540002"/>
          </a:xfrm>
          <a:prstGeom prst="rect">
            <a:avLst/>
          </a:prstGeom>
          <a:ln w="12700">
            <a:miter lim="400000"/>
          </a:ln>
        </p:spPr>
      </p:pic>
      <p:grpSp>
        <p:nvGrpSpPr>
          <p:cNvPr id="478" name="Group 50"/>
          <p:cNvGrpSpPr/>
          <p:nvPr/>
        </p:nvGrpSpPr>
        <p:grpSpPr>
          <a:xfrm>
            <a:off x="1071204" y="1455458"/>
            <a:ext cx="727419" cy="1632071"/>
            <a:chOff x="-2" y="-1"/>
            <a:chExt cx="727417" cy="1632069"/>
          </a:xfrm>
        </p:grpSpPr>
        <p:grpSp>
          <p:nvGrpSpPr>
            <p:cNvPr id="470" name="Rectangle 35"/>
            <p:cNvGrpSpPr/>
            <p:nvPr/>
          </p:nvGrpSpPr>
          <p:grpSpPr>
            <a:xfrm>
              <a:off x="-3" y="168576"/>
              <a:ext cx="727419" cy="1463493"/>
              <a:chOff x="-1" y="-1"/>
              <a:chExt cx="727417" cy="1463492"/>
            </a:xfrm>
          </p:grpSpPr>
          <p:sp>
            <p:nvSpPr>
              <p:cNvPr id="468" name="Rectangle"/>
              <p:cNvSpPr/>
              <p:nvPr/>
            </p:nvSpPr>
            <p:spPr>
              <a:xfrm>
                <a:off x="-2" y="-2"/>
                <a:ext cx="727419" cy="1463494"/>
              </a:xfrm>
              <a:prstGeom prst="rect">
                <a:avLst/>
              </a:prstGeom>
              <a:solidFill>
                <a:srgbClr val="90F6C9"/>
              </a:solidFill>
              <a:ln w="12700" cap="flat">
                <a:noFill/>
                <a:miter lim="400000"/>
              </a:ln>
              <a:effectLst/>
            </p:spPr>
            <p:txBody>
              <a:bodyPr wrap="square" lIns="45718" tIns="45718" rIns="45718" bIns="45718" numCol="1" anchor="b">
                <a:noAutofit/>
              </a:bodyPr>
              <a:lstStyle/>
              <a:p>
                <a:pPr algn="ctr">
                  <a:spcBef>
                    <a:spcPts val="800"/>
                  </a:spcBef>
                  <a:defRPr>
                    <a:solidFill>
                      <a:srgbClr val="000000"/>
                    </a:solidFill>
                  </a:defRPr>
                </a:pPr>
              </a:p>
            </p:txBody>
          </p:sp>
          <p:sp>
            <p:nvSpPr>
              <p:cNvPr id="469" name="Application"/>
              <p:cNvSpPr txBox="1"/>
              <p:nvPr/>
            </p:nvSpPr>
            <p:spPr>
              <a:xfrm rot="5400000">
                <a:off x="-569692" y="606268"/>
                <a:ext cx="1390339" cy="249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6000" tIns="36000" rIns="36000" bIns="36000" numCol="1" anchor="b">
                <a:spAutoFit/>
              </a:bodyPr>
              <a:lstStyle>
                <a:lvl1pPr algn="ctr">
                  <a:spcBef>
                    <a:spcPts val="800"/>
                  </a:spcBef>
                  <a:defRPr sz="1200"/>
                </a:lvl1pPr>
              </a:lstStyle>
              <a:p>
                <a:pPr/>
                <a:r>
                  <a:t>Application</a:t>
                </a:r>
              </a:p>
            </p:txBody>
          </p:sp>
        </p:grpSp>
        <p:grpSp>
          <p:nvGrpSpPr>
            <p:cNvPr id="473" name="TextBox 75"/>
            <p:cNvGrpSpPr/>
            <p:nvPr/>
          </p:nvGrpSpPr>
          <p:grpSpPr>
            <a:xfrm>
              <a:off x="28517" y="207890"/>
              <a:ext cx="670374" cy="249801"/>
              <a:chOff x="-1" y="0"/>
              <a:chExt cx="670373" cy="249800"/>
            </a:xfrm>
          </p:grpSpPr>
          <p:sp>
            <p:nvSpPr>
              <p:cNvPr id="471" name="Rectangle"/>
              <p:cNvSpPr/>
              <p:nvPr/>
            </p:nvSpPr>
            <p:spPr>
              <a:xfrm>
                <a:off x="10699" y="30463"/>
                <a:ext cx="648978" cy="188876"/>
              </a:xfrm>
              <a:prstGeom prst="rect">
                <a:avLst/>
              </a:prstGeom>
              <a:solidFill>
                <a:srgbClr val="0FC373"/>
              </a:solidFill>
              <a:ln w="12700" cap="flat">
                <a:noFill/>
                <a:miter lim="400000"/>
              </a:ln>
              <a:effectLst/>
            </p:spPr>
            <p:txBody>
              <a:bodyPr wrap="square" lIns="45718" tIns="45718" rIns="45718" bIns="45718" numCol="1" anchor="ctr">
                <a:noAutofit/>
              </a:bodyPr>
              <a:lstStyle/>
              <a:p>
                <a:pPr algn="ctr">
                  <a:spcBef>
                    <a:spcPts val="800"/>
                  </a:spcBef>
                  <a:defRPr>
                    <a:solidFill>
                      <a:srgbClr val="000000"/>
                    </a:solidFill>
                  </a:defRPr>
                </a:pPr>
              </a:p>
            </p:txBody>
          </p:sp>
          <p:sp>
            <p:nvSpPr>
              <p:cNvPr id="472" name="Module A"/>
              <p:cNvSpPr txBox="1"/>
              <p:nvPr/>
            </p:nvSpPr>
            <p:spPr>
              <a:xfrm>
                <a:off x="-2" y="-1"/>
                <a:ext cx="670375" cy="249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36000" tIns="36000" rIns="36000" bIns="36000" numCol="1" anchor="ctr">
                <a:spAutoFit/>
              </a:bodyPr>
              <a:lstStyle>
                <a:lvl1pPr algn="ctr">
                  <a:spcBef>
                    <a:spcPts val="800"/>
                  </a:spcBef>
                  <a:defRPr spc="-30" sz="1200">
                    <a:solidFill>
                      <a:srgbClr val="FFFFFF"/>
                    </a:solidFill>
                  </a:defRPr>
                </a:lvl1pPr>
              </a:lstStyle>
              <a:p>
                <a:pPr/>
                <a:r>
                  <a:t>Module A</a:t>
                </a:r>
              </a:p>
            </p:txBody>
          </p:sp>
        </p:grpSp>
        <p:grpSp>
          <p:nvGrpSpPr>
            <p:cNvPr id="476" name="TextBox 77"/>
            <p:cNvGrpSpPr/>
            <p:nvPr/>
          </p:nvGrpSpPr>
          <p:grpSpPr>
            <a:xfrm>
              <a:off x="272570" y="995319"/>
              <a:ext cx="180003" cy="249801"/>
              <a:chOff x="0" y="0"/>
              <a:chExt cx="180001" cy="249800"/>
            </a:xfrm>
          </p:grpSpPr>
          <p:sp>
            <p:nvSpPr>
              <p:cNvPr id="474" name="Rectangle"/>
              <p:cNvSpPr/>
              <p:nvPr/>
            </p:nvSpPr>
            <p:spPr>
              <a:xfrm>
                <a:off x="0" y="31148"/>
                <a:ext cx="180002" cy="187506"/>
              </a:xfrm>
              <a:prstGeom prst="rect">
                <a:avLst/>
              </a:prstGeom>
              <a:solidFill>
                <a:srgbClr val="0FC373"/>
              </a:solidFill>
              <a:ln w="12700" cap="flat">
                <a:noFill/>
                <a:miter lim="400000"/>
              </a:ln>
              <a:effectLst/>
            </p:spPr>
            <p:txBody>
              <a:bodyPr wrap="square" lIns="45718" tIns="45718" rIns="45718" bIns="45718" numCol="1" anchor="ctr">
                <a:noAutofit/>
              </a:bodyPr>
              <a:lstStyle/>
              <a:p>
                <a:pPr algn="ctr">
                  <a:spcBef>
                    <a:spcPts val="800"/>
                  </a:spcBef>
                  <a:defRPr>
                    <a:solidFill>
                      <a:srgbClr val="000000"/>
                    </a:solidFill>
                  </a:defRPr>
                </a:pPr>
              </a:p>
            </p:txBody>
          </p:sp>
          <p:sp>
            <p:nvSpPr>
              <p:cNvPr id="475" name="C"/>
              <p:cNvSpPr txBox="1"/>
              <p:nvPr/>
            </p:nvSpPr>
            <p:spPr>
              <a:xfrm>
                <a:off x="4063" y="0"/>
                <a:ext cx="171873" cy="249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36000" tIns="36000" rIns="36000" bIns="36000" numCol="1" anchor="ctr">
                <a:spAutoFit/>
              </a:bodyPr>
              <a:lstStyle>
                <a:lvl1pPr algn="ctr">
                  <a:spcBef>
                    <a:spcPts val="800"/>
                  </a:spcBef>
                  <a:defRPr spc="-30" sz="1200">
                    <a:solidFill>
                      <a:srgbClr val="FFFFFF"/>
                    </a:solidFill>
                  </a:defRPr>
                </a:lvl1pPr>
              </a:lstStyle>
              <a:p>
                <a:pPr/>
                <a:r>
                  <a:t>C</a:t>
                </a:r>
              </a:p>
            </p:txBody>
          </p:sp>
        </p:grpSp>
        <p:sp>
          <p:nvSpPr>
            <p:cNvPr id="477" name="Straight Arrow Connector 74"/>
            <p:cNvSpPr/>
            <p:nvPr/>
          </p:nvSpPr>
          <p:spPr>
            <a:xfrm flipH="1">
              <a:off x="363706" y="-2"/>
              <a:ext cx="2" cy="238355"/>
            </a:xfrm>
            <a:prstGeom prst="line">
              <a:avLst/>
            </a:prstGeom>
            <a:noFill/>
            <a:ln w="25400" cap="flat">
              <a:solidFill>
                <a:srgbClr val="0082F0"/>
              </a:solidFill>
              <a:prstDash val="solid"/>
              <a:round/>
              <a:tailEnd type="triangle" w="med" len="med"/>
            </a:ln>
            <a:effectLst/>
          </p:spPr>
          <p:txBody>
            <a:bodyPr wrap="square" lIns="45718" tIns="45718" rIns="45718" bIns="45718" numCol="1" anchor="t">
              <a:noAutofit/>
            </a:bodyPr>
            <a:lstStyle/>
            <a:p>
              <a:pPr>
                <a:defRPr>
                  <a:latin typeface="+mj-lt"/>
                  <a:ea typeface="+mj-ea"/>
                  <a:cs typeface="+mj-cs"/>
                  <a:sym typeface="Helvetica"/>
                </a:defRPr>
              </a:pPr>
            </a:p>
          </p:txBody>
        </p:sp>
      </p:grpSp>
      <p:sp>
        <p:nvSpPr>
          <p:cNvPr id="479" name="TextBox 85"/>
          <p:cNvSpPr txBox="1"/>
          <p:nvPr/>
        </p:nvSpPr>
        <p:spPr>
          <a:xfrm>
            <a:off x="6497444" y="2849291"/>
            <a:ext cx="269867" cy="249801"/>
          </a:xfrm>
          <a:prstGeom prst="rect">
            <a:avLst/>
          </a:prstGeom>
          <a:ln w="12700">
            <a:miter lim="400000"/>
          </a:ln>
          <a:extLst>
            <a:ext uri="{C572A759-6A51-4108-AA02-DFA0A04FC94B}">
              <ma14:wrappingTextBoxFlag xmlns:ma14="http://schemas.microsoft.com/office/mac/drawingml/2011/main" val="1"/>
            </a:ext>
          </a:extLst>
        </p:spPr>
        <p:txBody>
          <a:bodyPr wrap="none" lIns="36000" tIns="36000" rIns="36000" bIns="36000" anchor="ctr">
            <a:spAutoFit/>
          </a:bodyPr>
          <a:lstStyle>
            <a:lvl1pPr algn="ctr">
              <a:spcBef>
                <a:spcPts val="800"/>
              </a:spcBef>
              <a:defRPr spc="-30" sz="1200"/>
            </a:lvl1pPr>
          </a:lstStyle>
          <a:p>
            <a:pPr/>
            <a:r>
              <a:t>UE</a:t>
            </a:r>
          </a:p>
        </p:txBody>
      </p:sp>
      <p:sp>
        <p:nvSpPr>
          <p:cNvPr id="480" name="Rectangle 86"/>
          <p:cNvSpPr/>
          <p:nvPr/>
        </p:nvSpPr>
        <p:spPr>
          <a:xfrm>
            <a:off x="5542715" y="2861373"/>
            <a:ext cx="1249202" cy="1620003"/>
          </a:xfrm>
          <a:prstGeom prst="rect">
            <a:avLst/>
          </a:prstGeom>
          <a:ln w="12700">
            <a:solidFill>
              <a:srgbClr val="A8A8A8"/>
            </a:solidFill>
          </a:ln>
        </p:spPr>
        <p:txBody>
          <a:bodyPr lIns="45718" tIns="45718" rIns="45718" bIns="45718"/>
          <a:lstStyle/>
          <a:p>
            <a:pPr>
              <a:spcBef>
                <a:spcPts val="800"/>
              </a:spcBef>
              <a:defRPr>
                <a:solidFill>
                  <a:srgbClr val="FFFFFF"/>
                </a:solidFill>
              </a:defRPr>
            </a:pPr>
          </a:p>
        </p:txBody>
      </p:sp>
      <p:grpSp>
        <p:nvGrpSpPr>
          <p:cNvPr id="483" name="Group 87"/>
          <p:cNvGrpSpPr/>
          <p:nvPr/>
        </p:nvGrpSpPr>
        <p:grpSpPr>
          <a:xfrm>
            <a:off x="6488374" y="4090255"/>
            <a:ext cx="252004" cy="252003"/>
            <a:chOff x="0" y="0"/>
            <a:chExt cx="252003" cy="252002"/>
          </a:xfrm>
        </p:grpSpPr>
        <p:pic>
          <p:nvPicPr>
            <p:cNvPr id="481" name="Picture Placeholder 35" descr="Picture Placeholder 35"/>
            <p:cNvPicPr>
              <a:picLocks noChangeAspect="1"/>
            </p:cNvPicPr>
            <p:nvPr/>
          </p:nvPicPr>
          <p:blipFill>
            <a:blip r:embed="rId3">
              <a:extLst/>
            </a:blip>
            <a:srcRect l="0" t="110" r="0" b="108"/>
            <a:stretch>
              <a:fillRect/>
            </a:stretch>
          </p:blipFill>
          <p:spPr>
            <a:xfrm rot="16200000">
              <a:off x="-1" y="-2"/>
              <a:ext cx="252004" cy="252004"/>
            </a:xfrm>
            <a:prstGeom prst="rect">
              <a:avLst/>
            </a:prstGeom>
            <a:ln w="12700" cap="flat">
              <a:noFill/>
              <a:miter lim="400000"/>
            </a:ln>
            <a:effectLst/>
          </p:spPr>
        </p:pic>
        <p:sp>
          <p:nvSpPr>
            <p:cNvPr id="482" name="Rectangle 99"/>
            <p:cNvSpPr/>
            <p:nvPr/>
          </p:nvSpPr>
          <p:spPr>
            <a:xfrm rot="16200000">
              <a:off x="53999" y="111972"/>
              <a:ext cx="144003" cy="81859"/>
            </a:xfrm>
            <a:prstGeom prst="rect">
              <a:avLst/>
            </a:prstGeom>
            <a:solidFill>
              <a:srgbClr val="0FC373"/>
            </a:solidFill>
            <a:ln w="12700" cap="flat">
              <a:noFill/>
              <a:miter lim="400000"/>
            </a:ln>
            <a:effectLst/>
          </p:spPr>
          <p:txBody>
            <a:bodyPr wrap="square" lIns="45718" tIns="45718" rIns="45718" bIns="45718" numCol="1" anchor="t">
              <a:noAutofit/>
            </a:bodyPr>
            <a:lstStyle/>
            <a:p>
              <a:pPr>
                <a:spcBef>
                  <a:spcPts val="800"/>
                </a:spcBef>
                <a:defRPr>
                  <a:solidFill>
                    <a:srgbClr val="FFFFFF"/>
                  </a:solidFill>
                </a:defRPr>
              </a:pPr>
            </a:p>
          </p:txBody>
        </p:sp>
      </p:grpSp>
      <p:pic>
        <p:nvPicPr>
          <p:cNvPr id="484" name="Picture Placeholder 35" descr="Picture Placeholder 35"/>
          <p:cNvPicPr>
            <a:picLocks noChangeAspect="1"/>
          </p:cNvPicPr>
          <p:nvPr/>
        </p:nvPicPr>
        <p:blipFill>
          <a:blip r:embed="rId4">
            <a:extLst/>
          </a:blip>
          <a:stretch>
            <a:fillRect/>
          </a:stretch>
        </p:blipFill>
        <p:spPr>
          <a:xfrm>
            <a:off x="5840276" y="2362223"/>
            <a:ext cx="540002" cy="540002"/>
          </a:xfrm>
          <a:prstGeom prst="rect">
            <a:avLst/>
          </a:prstGeom>
          <a:ln w="12700">
            <a:miter lim="400000"/>
          </a:ln>
        </p:spPr>
      </p:pic>
      <p:sp>
        <p:nvSpPr>
          <p:cNvPr id="485" name="Rectangle 100"/>
          <p:cNvSpPr/>
          <p:nvPr/>
        </p:nvSpPr>
        <p:spPr>
          <a:xfrm>
            <a:off x="2511207" y="1426937"/>
            <a:ext cx="2520002" cy="4384983"/>
          </a:xfrm>
          <a:prstGeom prst="rect">
            <a:avLst/>
          </a:prstGeom>
          <a:solidFill>
            <a:srgbClr val="E8E8E8"/>
          </a:solidFill>
          <a:ln w="12700">
            <a:miter lim="400000"/>
          </a:ln>
        </p:spPr>
        <p:txBody>
          <a:bodyPr lIns="45718" tIns="45718" rIns="45718" bIns="45718"/>
          <a:lstStyle/>
          <a:p>
            <a:pPr>
              <a:spcBef>
                <a:spcPts val="800"/>
              </a:spcBef>
              <a:defRPr>
                <a:solidFill>
                  <a:srgbClr val="FFFFFF"/>
                </a:solidFill>
              </a:defRPr>
            </a:pPr>
          </a:p>
        </p:txBody>
      </p:sp>
      <p:sp>
        <p:nvSpPr>
          <p:cNvPr id="486" name="Elbow Connector 7"/>
          <p:cNvSpPr/>
          <p:nvPr/>
        </p:nvSpPr>
        <p:spPr>
          <a:xfrm>
            <a:off x="3849373" y="4437383"/>
            <a:ext cx="2272030" cy="48387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21600"/>
                </a:lnTo>
                <a:lnTo>
                  <a:pt x="21600" y="0"/>
                </a:lnTo>
              </a:path>
            </a:pathLst>
          </a:custGeom>
          <a:ln w="25400">
            <a:solidFill>
              <a:srgbClr val="FF8C0A"/>
            </a:solidFill>
            <a:headEnd type="triangle"/>
            <a:tailEnd type="triangle"/>
          </a:ln>
        </p:spPr>
        <p:txBody>
          <a:bodyPr lIns="45718" tIns="45718" rIns="45718" bIns="45718"/>
          <a:lstStyle/>
          <a:p>
            <a:pPr/>
          </a:p>
        </p:txBody>
      </p:sp>
      <p:sp>
        <p:nvSpPr>
          <p:cNvPr id="487" name="Elbow Connector 24"/>
          <p:cNvSpPr/>
          <p:nvPr/>
        </p:nvSpPr>
        <p:spPr>
          <a:xfrm>
            <a:off x="1798322" y="4945383"/>
            <a:ext cx="1959612" cy="3543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6116"/>
                </a:moveTo>
                <a:lnTo>
                  <a:pt x="21600" y="21600"/>
                </a:lnTo>
                <a:lnTo>
                  <a:pt x="8805" y="21600"/>
                </a:lnTo>
                <a:lnTo>
                  <a:pt x="8805" y="0"/>
                </a:lnTo>
                <a:lnTo>
                  <a:pt x="0" y="0"/>
                </a:lnTo>
              </a:path>
            </a:pathLst>
          </a:custGeom>
          <a:ln w="25400">
            <a:solidFill>
              <a:srgbClr val="FF8C0A"/>
            </a:solidFill>
            <a:headEnd type="triangle"/>
            <a:tailEnd type="triangle"/>
          </a:ln>
        </p:spPr>
        <p:txBody>
          <a:bodyPr lIns="45718" tIns="45718" rIns="45718" bIns="45718"/>
          <a:lstStyle/>
          <a:p>
            <a:pPr/>
          </a:p>
        </p:txBody>
      </p:sp>
      <p:grpSp>
        <p:nvGrpSpPr>
          <p:cNvPr id="490" name="TextBox 8"/>
          <p:cNvGrpSpPr/>
          <p:nvPr/>
        </p:nvGrpSpPr>
        <p:grpSpPr>
          <a:xfrm>
            <a:off x="3667589" y="4796749"/>
            <a:ext cx="182390" cy="249801"/>
            <a:chOff x="-1" y="0"/>
            <a:chExt cx="182388" cy="249800"/>
          </a:xfrm>
        </p:grpSpPr>
        <p:sp>
          <p:nvSpPr>
            <p:cNvPr id="488" name="Square"/>
            <p:cNvSpPr/>
            <p:nvPr/>
          </p:nvSpPr>
          <p:spPr>
            <a:xfrm>
              <a:off x="1194" y="34900"/>
              <a:ext cx="180003" cy="180002"/>
            </a:xfrm>
            <a:prstGeom prst="rect">
              <a:avLst/>
            </a:prstGeom>
            <a:solidFill>
              <a:srgbClr val="0FC373"/>
            </a:solidFill>
            <a:ln w="12700" cap="flat">
              <a:noFill/>
              <a:miter lim="400000"/>
            </a:ln>
            <a:effectLst/>
          </p:spPr>
          <p:txBody>
            <a:bodyPr wrap="square" lIns="45718" tIns="45718" rIns="45718" bIns="45718" numCol="1" anchor="ctr">
              <a:noAutofit/>
            </a:bodyPr>
            <a:lstStyle/>
            <a:p>
              <a:pPr algn="ctr">
                <a:spcBef>
                  <a:spcPts val="800"/>
                </a:spcBef>
                <a:defRPr>
                  <a:solidFill>
                    <a:srgbClr val="000000"/>
                  </a:solidFill>
                </a:defRPr>
              </a:pPr>
            </a:p>
          </p:txBody>
        </p:sp>
        <p:sp>
          <p:nvSpPr>
            <p:cNvPr id="489" name="D"/>
            <p:cNvSpPr txBox="1"/>
            <p:nvPr/>
          </p:nvSpPr>
          <p:spPr>
            <a:xfrm>
              <a:off x="-1" y="0"/>
              <a:ext cx="182389" cy="249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36000" tIns="36000" rIns="36000" bIns="36000" numCol="1" anchor="ctr">
              <a:spAutoFit/>
            </a:bodyPr>
            <a:lstStyle>
              <a:lvl1pPr algn="ctr">
                <a:spcBef>
                  <a:spcPts val="800"/>
                </a:spcBef>
                <a:defRPr spc="-30" sz="1200">
                  <a:solidFill>
                    <a:srgbClr val="FFFFFF"/>
                  </a:solidFill>
                </a:defRPr>
              </a:lvl1pPr>
            </a:lstStyle>
            <a:p>
              <a:pPr/>
              <a:r>
                <a:t>D</a:t>
              </a:r>
            </a:p>
          </p:txBody>
        </p:sp>
      </p:grpSp>
      <p:grpSp>
        <p:nvGrpSpPr>
          <p:cNvPr id="493" name="TextBox 76"/>
          <p:cNvGrpSpPr/>
          <p:nvPr/>
        </p:nvGrpSpPr>
        <p:grpSpPr>
          <a:xfrm>
            <a:off x="3645208" y="2092598"/>
            <a:ext cx="180003" cy="249801"/>
            <a:chOff x="0" y="0"/>
            <a:chExt cx="180001" cy="249800"/>
          </a:xfrm>
        </p:grpSpPr>
        <p:sp>
          <p:nvSpPr>
            <p:cNvPr id="491" name="Square"/>
            <p:cNvSpPr/>
            <p:nvPr/>
          </p:nvSpPr>
          <p:spPr>
            <a:xfrm>
              <a:off x="0" y="34900"/>
              <a:ext cx="180003" cy="180002"/>
            </a:xfrm>
            <a:prstGeom prst="rect">
              <a:avLst/>
            </a:prstGeom>
            <a:solidFill>
              <a:srgbClr val="0FC373"/>
            </a:solidFill>
            <a:ln w="12700" cap="flat">
              <a:noFill/>
              <a:miter lim="400000"/>
            </a:ln>
            <a:effectLst/>
          </p:spPr>
          <p:txBody>
            <a:bodyPr wrap="square" lIns="45718" tIns="45718" rIns="45718" bIns="45718" numCol="1" anchor="ctr">
              <a:noAutofit/>
            </a:bodyPr>
            <a:lstStyle/>
            <a:p>
              <a:pPr algn="ctr">
                <a:spcBef>
                  <a:spcPts val="800"/>
                </a:spcBef>
                <a:defRPr>
                  <a:solidFill>
                    <a:srgbClr val="000000"/>
                  </a:solidFill>
                </a:defRPr>
              </a:pPr>
            </a:p>
          </p:txBody>
        </p:sp>
        <p:sp>
          <p:nvSpPr>
            <p:cNvPr id="492" name="B"/>
            <p:cNvSpPr txBox="1"/>
            <p:nvPr/>
          </p:nvSpPr>
          <p:spPr>
            <a:xfrm>
              <a:off x="786" y="0"/>
              <a:ext cx="178427" cy="249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36000" tIns="36000" rIns="36000" bIns="36000" numCol="1" anchor="ctr">
              <a:spAutoFit/>
            </a:bodyPr>
            <a:lstStyle>
              <a:lvl1pPr algn="ctr">
                <a:spcBef>
                  <a:spcPts val="800"/>
                </a:spcBef>
                <a:defRPr spc="-30" sz="1200">
                  <a:solidFill>
                    <a:srgbClr val="FFFFFF"/>
                  </a:solidFill>
                </a:defRPr>
              </a:lvl1pPr>
            </a:lstStyle>
            <a:p>
              <a:pPr/>
              <a:r>
                <a:t>B</a:t>
              </a:r>
            </a:p>
          </p:txBody>
        </p:sp>
      </p:grpSp>
      <p:sp>
        <p:nvSpPr>
          <p:cNvPr id="494" name="Elbow Connector 13"/>
          <p:cNvSpPr/>
          <p:nvPr/>
        </p:nvSpPr>
        <p:spPr>
          <a:xfrm>
            <a:off x="1798322" y="1837692"/>
            <a:ext cx="1936752" cy="43307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8767" y="21600"/>
                </a:lnTo>
                <a:lnTo>
                  <a:pt x="8767" y="0"/>
                </a:lnTo>
                <a:lnTo>
                  <a:pt x="21600" y="0"/>
                </a:lnTo>
                <a:lnTo>
                  <a:pt x="21600" y="12669"/>
                </a:lnTo>
              </a:path>
            </a:pathLst>
          </a:custGeom>
          <a:ln w="25400">
            <a:solidFill>
              <a:srgbClr val="0082F0"/>
            </a:solidFill>
            <a:tailEnd type="triangle"/>
          </a:ln>
        </p:spPr>
        <p:txBody>
          <a:bodyPr lIns="45718" tIns="45718" rIns="45718" bIns="45718"/>
          <a:lstStyle/>
          <a:p>
            <a:pPr/>
          </a:p>
        </p:txBody>
      </p:sp>
      <p:sp>
        <p:nvSpPr>
          <p:cNvPr id="495" name="Elbow Connector 18"/>
          <p:cNvSpPr/>
          <p:nvPr/>
        </p:nvSpPr>
        <p:spPr>
          <a:xfrm>
            <a:off x="1798322" y="2270762"/>
            <a:ext cx="1936752" cy="3251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8767" y="0"/>
                </a:lnTo>
                <a:lnTo>
                  <a:pt x="8767" y="21600"/>
                </a:lnTo>
                <a:lnTo>
                  <a:pt x="21600" y="21600"/>
                </a:lnTo>
                <a:lnTo>
                  <a:pt x="21600" y="4725"/>
                </a:lnTo>
              </a:path>
            </a:pathLst>
          </a:custGeom>
          <a:ln w="25400">
            <a:solidFill>
              <a:srgbClr val="0082F0"/>
            </a:solidFill>
            <a:headEnd type="triangle"/>
          </a:ln>
        </p:spPr>
        <p:txBody>
          <a:bodyPr lIns="45718" tIns="45718" rIns="45718" bIns="45718"/>
          <a:lstStyle/>
          <a:p>
            <a:pPr/>
          </a:p>
        </p:txBody>
      </p:sp>
      <p:grpSp>
        <p:nvGrpSpPr>
          <p:cNvPr id="498" name="Rectangle: Rounded Corners 21"/>
          <p:cNvGrpSpPr/>
          <p:nvPr/>
        </p:nvGrpSpPr>
        <p:grpSpPr>
          <a:xfrm>
            <a:off x="6215886" y="5603849"/>
            <a:ext cx="3581079" cy="795901"/>
            <a:chOff x="0" y="0"/>
            <a:chExt cx="3581077" cy="795900"/>
          </a:xfrm>
        </p:grpSpPr>
        <p:sp>
          <p:nvSpPr>
            <p:cNvPr id="496" name="Rounded Rectangle"/>
            <p:cNvSpPr/>
            <p:nvPr/>
          </p:nvSpPr>
          <p:spPr>
            <a:xfrm>
              <a:off x="0" y="10097"/>
              <a:ext cx="3581079" cy="775708"/>
            </a:xfrm>
            <a:prstGeom prst="roundRect">
              <a:avLst>
                <a:gd name="adj" fmla="val 5574"/>
              </a:avLst>
            </a:prstGeom>
            <a:noFill/>
            <a:ln w="9525" cap="flat">
              <a:solidFill>
                <a:srgbClr val="181818"/>
              </a:solidFill>
              <a:prstDash val="solid"/>
              <a:round/>
            </a:ln>
            <a:effectLst/>
          </p:spPr>
          <p:txBody>
            <a:bodyPr wrap="square" lIns="45718" tIns="45718" rIns="45718" bIns="45718" numCol="1" anchor="ctr">
              <a:noAutofit/>
            </a:bodyPr>
            <a:lstStyle/>
            <a:p>
              <a:pPr algn="ctr">
                <a:defRPr>
                  <a:solidFill>
                    <a:srgbClr val="000000"/>
                  </a:solidFill>
                </a:defRPr>
              </a:pPr>
            </a:p>
          </p:txBody>
        </p:sp>
        <p:sp>
          <p:nvSpPr>
            <p:cNvPr id="497" name="A common coordination task can be offloaded, e.g., to realize collaborative perception or to save overall bandwidth"/>
            <p:cNvSpPr txBox="1"/>
            <p:nvPr/>
          </p:nvSpPr>
          <p:spPr>
            <a:xfrm>
              <a:off x="53426" y="0"/>
              <a:ext cx="3474227" cy="79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6000" tIns="36000" rIns="36000" bIns="36000" numCol="1" anchor="ctr">
              <a:spAutoFit/>
            </a:bodyPr>
            <a:lstStyle>
              <a:lvl1pPr algn="ctr">
                <a:defRPr spc="-30" sz="1600"/>
              </a:lvl1pPr>
            </a:lstStyle>
            <a:p>
              <a:pPr/>
              <a:r>
                <a:t>A common coordination task can be offloaded, e.g., to realize collaborative perception or to save overall bandwidth</a:t>
              </a:r>
            </a:p>
          </p:txBody>
        </p:sp>
      </p:grpSp>
      <p:sp>
        <p:nvSpPr>
          <p:cNvPr id="499" name="Straight Arrow Connector 9"/>
          <p:cNvSpPr/>
          <p:nvPr/>
        </p:nvSpPr>
        <p:spPr>
          <a:xfrm flipH="1" flipV="1">
            <a:off x="3850154" y="4944885"/>
            <a:ext cx="2591352" cy="658966"/>
          </a:xfrm>
          <a:prstGeom prst="line">
            <a:avLst/>
          </a:prstGeom>
          <a:ln w="12700">
            <a:solidFill>
              <a:srgbClr val="181818"/>
            </a:solidFill>
            <a:prstDash val="dash"/>
            <a:tailEnd type="triangle"/>
          </a:ln>
        </p:spPr>
        <p:txBody>
          <a:bodyPr lIns="45718" tIns="45718" rIns="45718" bIns="45718"/>
          <a:lstStyle/>
          <a:p>
            <a:pPr>
              <a:defRPr>
                <a:latin typeface="+mj-lt"/>
                <a:ea typeface="+mj-ea"/>
                <a:cs typeface="+mj-cs"/>
                <a:sym typeface="Helvetica"/>
              </a:defRPr>
            </a:pPr>
          </a:p>
        </p:txBody>
      </p:sp>
      <p:grpSp>
        <p:nvGrpSpPr>
          <p:cNvPr id="502" name="Rectangle: Rounded Corners 21"/>
          <p:cNvGrpSpPr/>
          <p:nvPr/>
        </p:nvGrpSpPr>
        <p:grpSpPr>
          <a:xfrm>
            <a:off x="6215886" y="219618"/>
            <a:ext cx="3581081" cy="795901"/>
            <a:chOff x="0" y="0"/>
            <a:chExt cx="3581079" cy="795900"/>
          </a:xfrm>
        </p:grpSpPr>
        <p:sp>
          <p:nvSpPr>
            <p:cNvPr id="500" name="Rounded Rectangle"/>
            <p:cNvSpPr/>
            <p:nvPr/>
          </p:nvSpPr>
          <p:spPr>
            <a:xfrm>
              <a:off x="0" y="9212"/>
              <a:ext cx="3581080" cy="777477"/>
            </a:xfrm>
            <a:prstGeom prst="roundRect">
              <a:avLst>
                <a:gd name="adj" fmla="val 5574"/>
              </a:avLst>
            </a:prstGeom>
            <a:noFill/>
            <a:ln w="9525" cap="flat">
              <a:solidFill>
                <a:srgbClr val="181818"/>
              </a:solidFill>
              <a:prstDash val="solid"/>
              <a:round/>
            </a:ln>
            <a:effectLst/>
          </p:spPr>
          <p:txBody>
            <a:bodyPr wrap="square" lIns="45718" tIns="45718" rIns="45718" bIns="45718" numCol="1" anchor="ctr">
              <a:noAutofit/>
            </a:bodyPr>
            <a:lstStyle/>
            <a:p>
              <a:pPr algn="ctr">
                <a:defRPr>
                  <a:solidFill>
                    <a:srgbClr val="000000"/>
                  </a:solidFill>
                </a:defRPr>
              </a:pPr>
            </a:p>
          </p:txBody>
        </p:sp>
        <p:sp>
          <p:nvSpPr>
            <p:cNvPr id="501" name="Computational heavy functions can be offloaded to reduce device heat, battery consumption, or computation times"/>
            <p:cNvSpPr txBox="1"/>
            <p:nvPr/>
          </p:nvSpPr>
          <p:spPr>
            <a:xfrm>
              <a:off x="53455" y="-1"/>
              <a:ext cx="3474170" cy="79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6000" tIns="36000" rIns="36000" bIns="36000" numCol="1" anchor="ctr">
              <a:spAutoFit/>
            </a:bodyPr>
            <a:lstStyle>
              <a:lvl1pPr algn="ctr">
                <a:defRPr spc="-30" sz="1600"/>
              </a:lvl1pPr>
            </a:lstStyle>
            <a:p>
              <a:pPr/>
              <a:r>
                <a:t>Computational heavy functions can be offloaded to reduce device heat, battery consumption, or computation times </a:t>
              </a:r>
            </a:p>
          </p:txBody>
        </p:sp>
      </p:grpSp>
      <p:sp>
        <p:nvSpPr>
          <p:cNvPr id="503" name="Straight Arrow Connector 16"/>
          <p:cNvSpPr/>
          <p:nvPr/>
        </p:nvSpPr>
        <p:spPr>
          <a:xfrm flipH="1">
            <a:off x="3825388" y="1015353"/>
            <a:ext cx="3119103" cy="1168367"/>
          </a:xfrm>
          <a:prstGeom prst="line">
            <a:avLst/>
          </a:prstGeom>
          <a:ln w="12700">
            <a:solidFill>
              <a:srgbClr val="181818"/>
            </a:solidFill>
            <a:prstDash val="dash"/>
            <a:tailEnd type="triangle"/>
          </a:ln>
        </p:spPr>
        <p:txBody>
          <a:bodyPr lIns="45718" tIns="45718" rIns="45718" bIns="45718"/>
          <a:lstStyle/>
          <a:p>
            <a:pPr>
              <a:defRPr>
                <a:latin typeface="+mj-lt"/>
                <a:ea typeface="+mj-ea"/>
                <a:cs typeface="+mj-cs"/>
                <a:sym typeface="Helvetica"/>
              </a:defRPr>
            </a:pPr>
          </a:p>
        </p:txBody>
      </p:sp>
      <p:pic>
        <p:nvPicPr>
          <p:cNvPr id="504" name="Picture Placeholder 75" descr="Picture Placeholder 75"/>
          <p:cNvPicPr>
            <a:picLocks noChangeAspect="1"/>
          </p:cNvPicPr>
          <p:nvPr/>
        </p:nvPicPr>
        <p:blipFill>
          <a:blip r:embed="rId5">
            <a:extLst/>
          </a:blip>
          <a:srcRect l="0" t="110" r="0" b="108"/>
          <a:stretch>
            <a:fillRect/>
          </a:stretch>
        </p:blipFill>
        <p:spPr>
          <a:xfrm>
            <a:off x="10320515" y="130012"/>
            <a:ext cx="720871" cy="720873"/>
          </a:xfrm>
          <a:prstGeom prst="rect">
            <a:avLst/>
          </a:prstGeom>
          <a:ln w="12700">
            <a:miter lim="400000"/>
          </a:ln>
        </p:spPr>
      </p:pic>
      <p:pic>
        <p:nvPicPr>
          <p:cNvPr id="505" name="Picture Placeholder 33" descr="Picture Placeholder 33"/>
          <p:cNvPicPr>
            <a:picLocks noChangeAspect="1"/>
          </p:cNvPicPr>
          <p:nvPr/>
        </p:nvPicPr>
        <p:blipFill>
          <a:blip r:embed="rId6">
            <a:extLst/>
          </a:blip>
          <a:srcRect l="0" t="110" r="0" b="109"/>
          <a:stretch>
            <a:fillRect/>
          </a:stretch>
        </p:blipFill>
        <p:spPr>
          <a:xfrm>
            <a:off x="10025225" y="622688"/>
            <a:ext cx="720871" cy="720871"/>
          </a:xfrm>
          <a:prstGeom prst="rect">
            <a:avLst/>
          </a:prstGeom>
          <a:ln w="12700">
            <a:miter lim="400000"/>
          </a:ln>
        </p:spPr>
      </p:pic>
      <p:pic>
        <p:nvPicPr>
          <p:cNvPr id="506" name="Picture Placeholder 34" descr="Picture Placeholder 34"/>
          <p:cNvPicPr>
            <a:picLocks noChangeAspect="1"/>
          </p:cNvPicPr>
          <p:nvPr/>
        </p:nvPicPr>
        <p:blipFill>
          <a:blip r:embed="rId7">
            <a:extLst/>
          </a:blip>
          <a:srcRect l="0" t="73" r="0" b="73"/>
          <a:stretch>
            <a:fillRect/>
          </a:stretch>
        </p:blipFill>
        <p:spPr>
          <a:xfrm>
            <a:off x="10172675" y="5366455"/>
            <a:ext cx="1081154" cy="1081152"/>
          </a:xfrm>
          <a:prstGeom prst="rect">
            <a:avLst/>
          </a:prstGeom>
          <a:ln w="12700">
            <a:miter lim="400000"/>
          </a:ln>
        </p:spPr>
      </p:pic>
      <p:sp>
        <p:nvSpPr>
          <p:cNvPr id="507" name="TextBox 19"/>
          <p:cNvSpPr txBox="1"/>
          <p:nvPr/>
        </p:nvSpPr>
        <p:spPr>
          <a:xfrm>
            <a:off x="10093925" y="1215659"/>
            <a:ext cx="1123904" cy="376801"/>
          </a:xfrm>
          <a:prstGeom prst="rect">
            <a:avLst/>
          </a:prstGeom>
          <a:ln w="12700">
            <a:miter lim="400000"/>
          </a:ln>
          <a:extLst>
            <a:ext uri="{C572A759-6A51-4108-AA02-DFA0A04FC94B}">
              <ma14:wrappingTextBoxFlag xmlns:ma14="http://schemas.microsoft.com/office/mac/drawingml/2011/main" val="1"/>
            </a:ext>
          </a:extLst>
        </p:spPr>
        <p:txBody>
          <a:bodyPr lIns="36000" tIns="36000" rIns="36000" bIns="36000">
            <a:spAutoFit/>
          </a:bodyPr>
          <a:lstStyle>
            <a:lvl1pPr>
              <a:spcBef>
                <a:spcPts val="800"/>
              </a:spcBef>
              <a:defRPr spc="-30" sz="2000"/>
            </a:lvl1pPr>
          </a:lstStyle>
          <a:p>
            <a:pPr/>
            <a:r>
              <a:t>Tradeoffs</a:t>
            </a:r>
          </a:p>
        </p:txBody>
      </p:sp>
      <p:sp>
        <p:nvSpPr>
          <p:cNvPr id="508" name="TextBox 22"/>
          <p:cNvSpPr txBox="1"/>
          <p:nvPr/>
        </p:nvSpPr>
        <p:spPr>
          <a:xfrm>
            <a:off x="9796029" y="6235315"/>
            <a:ext cx="1900133" cy="376801"/>
          </a:xfrm>
          <a:prstGeom prst="rect">
            <a:avLst/>
          </a:prstGeom>
          <a:ln w="12700">
            <a:miter lim="400000"/>
          </a:ln>
          <a:extLst>
            <a:ext uri="{C572A759-6A51-4108-AA02-DFA0A04FC94B}">
              <ma14:wrappingTextBoxFlag xmlns:ma14="http://schemas.microsoft.com/office/mac/drawingml/2011/main" val="1"/>
            </a:ext>
          </a:extLst>
        </p:spPr>
        <p:txBody>
          <a:bodyPr lIns="36000" tIns="36000" rIns="36000" bIns="36000">
            <a:spAutoFit/>
          </a:bodyPr>
          <a:lstStyle>
            <a:lvl1pPr algn="ctr">
              <a:spcBef>
                <a:spcPts val="800"/>
              </a:spcBef>
              <a:defRPr spc="-30" sz="2000"/>
            </a:lvl1pPr>
          </a:lstStyle>
          <a:p>
            <a:pPr/>
            <a:r>
              <a:t>Collaboration</a:t>
            </a:r>
          </a:p>
        </p:txBody>
      </p:sp>
      <p:pic>
        <p:nvPicPr>
          <p:cNvPr id="509" name="Picture Placeholder 41" descr="Picture Placeholder 41"/>
          <p:cNvPicPr>
            <a:picLocks noChangeAspect="1"/>
          </p:cNvPicPr>
          <p:nvPr/>
        </p:nvPicPr>
        <p:blipFill>
          <a:blip r:embed="rId8">
            <a:extLst/>
          </a:blip>
          <a:stretch>
            <a:fillRect/>
          </a:stretch>
        </p:blipFill>
        <p:spPr>
          <a:xfrm>
            <a:off x="3074181" y="2663671"/>
            <a:ext cx="1408875" cy="1408874"/>
          </a:xfrm>
          <a:prstGeom prst="rect">
            <a:avLst/>
          </a:prstGeom>
          <a:ln w="12700">
            <a:miter lim="400000"/>
          </a:ln>
        </p:spPr>
      </p:pic>
      <p:sp>
        <p:nvSpPr>
          <p:cNvPr id="510" name="TextBox 123"/>
          <p:cNvSpPr txBox="1"/>
          <p:nvPr/>
        </p:nvSpPr>
        <p:spPr>
          <a:xfrm>
            <a:off x="3220511" y="4168411"/>
            <a:ext cx="1170856" cy="249801"/>
          </a:xfrm>
          <a:prstGeom prst="rect">
            <a:avLst/>
          </a:prstGeom>
          <a:ln w="12700">
            <a:miter lim="400000"/>
          </a:ln>
          <a:extLst>
            <a:ext uri="{C572A759-6A51-4108-AA02-DFA0A04FC94B}">
              <ma14:wrappingTextBoxFlag xmlns:ma14="http://schemas.microsoft.com/office/mac/drawingml/2011/main" val="1"/>
            </a:ext>
          </a:extLst>
        </p:spPr>
        <p:txBody>
          <a:bodyPr wrap="none" lIns="36000" tIns="36000" rIns="36000" bIns="36000" anchor="ctr">
            <a:spAutoFit/>
          </a:bodyPr>
          <a:lstStyle>
            <a:lvl1pPr algn="ctr">
              <a:spcBef>
                <a:spcPts val="800"/>
              </a:spcBef>
              <a:defRPr spc="-30" sz="1200"/>
            </a:lvl1pPr>
          </a:lstStyle>
          <a:p>
            <a:pPr/>
            <a:r>
              <a:t>Remote Compute</a:t>
            </a:r>
          </a:p>
        </p:txBody>
      </p:sp>
      <p:sp>
        <p:nvSpPr>
          <p:cNvPr id="511" name="Compute offloading"/>
          <p:cNvSpPr txBox="1"/>
          <p:nvPr>
            <p:ph type="title"/>
          </p:nvPr>
        </p:nvSpPr>
        <p:spPr>
          <a:xfrm>
            <a:off x="330172" y="171058"/>
            <a:ext cx="8773852" cy="1324803"/>
          </a:xfrm>
          <a:prstGeom prst="rect">
            <a:avLst/>
          </a:prstGeom>
        </p:spPr>
        <p:txBody>
          <a:bodyPr lIns="36000" tIns="36000" rIns="36000" bIns="36000"/>
          <a:lstStyle/>
          <a:p>
            <a:pPr defTabSz="859536">
              <a:spcBef>
                <a:spcPts val="200"/>
              </a:spcBef>
              <a:defRPr spc="-334" sz="4800">
                <a:solidFill>
                  <a:srgbClr val="000000"/>
                </a:solidFill>
              </a:defRPr>
            </a:pPr>
            <a:r>
              <a:t>Compute offloading</a:t>
            </a:r>
            <a:r>
              <a:rPr>
                <a:solidFill>
                  <a:srgbClr val="FFFFFF"/>
                </a:solidFill>
              </a:rPr>
              <a:t> </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502"/>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503"/>
                                        </p:tgtEl>
                                        <p:attrNameLst>
                                          <p:attrName>style.visibility</p:attrName>
                                        </p:attrNameLst>
                                      </p:cBhvr>
                                      <p:to>
                                        <p:strVal val="visible"/>
                                      </p:to>
                                    </p:set>
                                  </p:childTnLst>
                                </p:cTn>
                              </p:par>
                            </p:childTnLst>
                          </p:cTn>
                        </p:par>
                        <p:par>
                          <p:cTn id="10" fill="hold">
                            <p:stCondLst>
                              <p:cond delay="0"/>
                            </p:stCondLst>
                            <p:childTnLst>
                              <p:par>
                                <p:cTn id="11" presetClass="entr" nodeType="afterEffect" presetSubtype="0" presetID="1" grpId="3" fill="hold">
                                  <p:stCondLst>
                                    <p:cond delay="0"/>
                                  </p:stCondLst>
                                  <p:iterate type="el" backwards="0">
                                    <p:tmAbs val="0"/>
                                  </p:iterate>
                                  <p:childTnLst>
                                    <p:set>
                                      <p:cBhvr>
                                        <p:cTn id="12" fill="hold"/>
                                        <p:tgtEl>
                                          <p:spTgt spid="505"/>
                                        </p:tgtEl>
                                        <p:attrNameLst>
                                          <p:attrName>style.visibility</p:attrName>
                                        </p:attrNameLst>
                                      </p:cBhvr>
                                      <p:to>
                                        <p:strVal val="visible"/>
                                      </p:to>
                                    </p:set>
                                  </p:childTnLst>
                                </p:cTn>
                              </p:par>
                            </p:childTnLst>
                          </p:cTn>
                        </p:par>
                        <p:par>
                          <p:cTn id="13" fill="hold">
                            <p:stCondLst>
                              <p:cond delay="0"/>
                            </p:stCondLst>
                            <p:childTnLst>
                              <p:par>
                                <p:cTn id="14" presetClass="entr" nodeType="afterEffect" presetSubtype="0" presetID="1" grpId="4" fill="hold">
                                  <p:stCondLst>
                                    <p:cond delay="0"/>
                                  </p:stCondLst>
                                  <p:iterate type="el" backwards="0">
                                    <p:tmAbs val="0"/>
                                  </p:iterate>
                                  <p:childTnLst>
                                    <p:set>
                                      <p:cBhvr>
                                        <p:cTn id="15" fill="hold"/>
                                        <p:tgtEl>
                                          <p:spTgt spid="504"/>
                                        </p:tgtEl>
                                        <p:attrNameLst>
                                          <p:attrName>style.visibility</p:attrName>
                                        </p:attrNameLst>
                                      </p:cBhvr>
                                      <p:to>
                                        <p:strVal val="visible"/>
                                      </p:to>
                                    </p:set>
                                  </p:childTnLst>
                                </p:cTn>
                              </p:par>
                            </p:childTnLst>
                          </p:cTn>
                        </p:par>
                        <p:par>
                          <p:cTn id="16" fill="hold">
                            <p:stCondLst>
                              <p:cond delay="0"/>
                            </p:stCondLst>
                            <p:childTnLst>
                              <p:par>
                                <p:cTn id="17" presetClass="entr" nodeType="afterEffect" presetSubtype="0" presetID="1" grpId="5" fill="hold">
                                  <p:stCondLst>
                                    <p:cond delay="0"/>
                                  </p:stCondLst>
                                  <p:iterate type="el" backwards="0">
                                    <p:tmAbs val="0"/>
                                  </p:iterate>
                                  <p:childTnLst>
                                    <p:set>
                                      <p:cBhvr>
                                        <p:cTn id="18" fill="hold"/>
                                        <p:tgtEl>
                                          <p:spTgt spid="50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0" presetID="1" grpId="6" fill="hold">
                                  <p:stCondLst>
                                    <p:cond delay="0"/>
                                  </p:stCondLst>
                                  <p:iterate type="el" backwards="0">
                                    <p:tmAbs val="0"/>
                                  </p:iterate>
                                  <p:childTnLst>
                                    <p:set>
                                      <p:cBhvr>
                                        <p:cTn id="22" fill="hold"/>
                                        <p:tgtEl>
                                          <p:spTgt spid="498"/>
                                        </p:tgtEl>
                                        <p:attrNameLst>
                                          <p:attrName>style.visibility</p:attrName>
                                        </p:attrNameLst>
                                      </p:cBhvr>
                                      <p:to>
                                        <p:strVal val="visible"/>
                                      </p:to>
                                    </p:set>
                                  </p:childTnLst>
                                </p:cTn>
                              </p:par>
                            </p:childTnLst>
                          </p:cTn>
                        </p:par>
                        <p:par>
                          <p:cTn id="23" fill="hold">
                            <p:stCondLst>
                              <p:cond delay="0"/>
                            </p:stCondLst>
                            <p:childTnLst>
                              <p:par>
                                <p:cTn id="24" presetClass="entr" nodeType="afterEffect" presetSubtype="0" presetID="1" grpId="7" fill="hold">
                                  <p:stCondLst>
                                    <p:cond delay="0"/>
                                  </p:stCondLst>
                                  <p:iterate type="el" backwards="0">
                                    <p:tmAbs val="0"/>
                                  </p:iterate>
                                  <p:childTnLst>
                                    <p:set>
                                      <p:cBhvr>
                                        <p:cTn id="25" fill="hold"/>
                                        <p:tgtEl>
                                          <p:spTgt spid="499"/>
                                        </p:tgtEl>
                                        <p:attrNameLst>
                                          <p:attrName>style.visibility</p:attrName>
                                        </p:attrNameLst>
                                      </p:cBhvr>
                                      <p:to>
                                        <p:strVal val="visible"/>
                                      </p:to>
                                    </p:set>
                                  </p:childTnLst>
                                </p:cTn>
                              </p:par>
                            </p:childTnLst>
                          </p:cTn>
                        </p:par>
                        <p:par>
                          <p:cTn id="26" fill="hold">
                            <p:stCondLst>
                              <p:cond delay="0"/>
                            </p:stCondLst>
                            <p:childTnLst>
                              <p:par>
                                <p:cTn id="27" presetClass="entr" nodeType="afterEffect" presetSubtype="0" presetID="1" grpId="8" fill="hold">
                                  <p:stCondLst>
                                    <p:cond delay="0"/>
                                  </p:stCondLst>
                                  <p:iterate type="el" backwards="0">
                                    <p:tmAbs val="0"/>
                                  </p:iterate>
                                  <p:childTnLst>
                                    <p:set>
                                      <p:cBhvr>
                                        <p:cTn id="28" fill="hold"/>
                                        <p:tgtEl>
                                          <p:spTgt spid="506"/>
                                        </p:tgtEl>
                                        <p:attrNameLst>
                                          <p:attrName>style.visibility</p:attrName>
                                        </p:attrNameLst>
                                      </p:cBhvr>
                                      <p:to>
                                        <p:strVal val="visible"/>
                                      </p:to>
                                    </p:set>
                                  </p:childTnLst>
                                </p:cTn>
                              </p:par>
                            </p:childTnLst>
                          </p:cTn>
                        </p:par>
                        <p:par>
                          <p:cTn id="29" fill="hold">
                            <p:stCondLst>
                              <p:cond delay="0"/>
                            </p:stCondLst>
                            <p:childTnLst>
                              <p:par>
                                <p:cTn id="30" presetClass="entr" nodeType="afterEffect" presetSubtype="0" presetID="1" grpId="9" fill="hold">
                                  <p:stCondLst>
                                    <p:cond delay="0"/>
                                  </p:stCondLst>
                                  <p:iterate type="el" backwards="0">
                                    <p:tmAbs val="0"/>
                                  </p:iterate>
                                  <p:childTnLst>
                                    <p:set>
                                      <p:cBhvr>
                                        <p:cTn id="31" fill="hold"/>
                                        <p:tgtEl>
                                          <p:spTgt spid="5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08" grpId="9"/>
      <p:bldP build="whole" bldLvl="1" animBg="1" rev="0" advAuto="0" spid="498" grpId="6"/>
      <p:bldP build="whole" bldLvl="1" animBg="1" rev="0" advAuto="0" spid="502" grpId="1"/>
      <p:bldP build="whole" bldLvl="1" animBg="1" rev="0" advAuto="0" spid="503" grpId="2"/>
      <p:bldP build="whole" bldLvl="1" animBg="1" rev="0" advAuto="0" spid="499" grpId="7"/>
      <p:bldP build="whole" bldLvl="1" animBg="1" rev="0" advAuto="0" spid="504" grpId="4"/>
      <p:bldP build="whole" bldLvl="1" animBg="1" rev="0" advAuto="0" spid="506" grpId="8"/>
      <p:bldP build="whole" bldLvl="1" animBg="1" rev="0" advAuto="0" spid="505" grpId="3"/>
      <p:bldP build="whole" bldLvl="1" animBg="1" rev="0" advAuto="0" spid="507" grpId="5"/>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515" name="Content Placeholder 4" descr="Content Placeholder 4"/>
          <p:cNvPicPr>
            <a:picLocks noChangeAspect="1"/>
          </p:cNvPicPr>
          <p:nvPr/>
        </p:nvPicPr>
        <p:blipFill>
          <a:blip r:embed="rId2">
            <a:alphaModFix amt="49000"/>
            <a:extLst/>
          </a:blip>
          <a:srcRect l="1947" t="0" r="12717" b="0"/>
          <a:stretch>
            <a:fillRect/>
          </a:stretch>
        </p:blipFill>
        <p:spPr>
          <a:xfrm>
            <a:off x="0" y="4811"/>
            <a:ext cx="12191998" cy="6858004"/>
          </a:xfrm>
          <a:prstGeom prst="rect">
            <a:avLst/>
          </a:prstGeom>
          <a:ln w="12700">
            <a:miter lim="400000"/>
          </a:ln>
        </p:spPr>
      </p:pic>
      <p:sp>
        <p:nvSpPr>
          <p:cNvPr id="516" name="TextBox 8"/>
          <p:cNvSpPr txBox="1"/>
          <p:nvPr/>
        </p:nvSpPr>
        <p:spPr>
          <a:xfrm>
            <a:off x="2057489" y="4186682"/>
            <a:ext cx="757446" cy="313301"/>
          </a:xfrm>
          <a:prstGeom prst="rect">
            <a:avLst/>
          </a:prstGeom>
          <a:ln w="12700">
            <a:miter lim="400000"/>
          </a:ln>
          <a:extLst>
            <a:ext uri="{C572A759-6A51-4108-AA02-DFA0A04FC94B}">
              <ma14:wrappingTextBoxFlag xmlns:ma14="http://schemas.microsoft.com/office/mac/drawingml/2011/main" val="1"/>
            </a:ext>
          </a:extLst>
        </p:spPr>
        <p:txBody>
          <a:bodyPr wrap="none" lIns="36000" tIns="36000" rIns="36000" bIns="36000">
            <a:spAutoFit/>
          </a:bodyPr>
          <a:lstStyle>
            <a:lvl1pPr algn="ctr">
              <a:spcBef>
                <a:spcPts val="800"/>
              </a:spcBef>
              <a:defRPr spc="-30" sz="1600">
                <a:latin typeface="Ericsson Hilda Bold"/>
                <a:ea typeface="Ericsson Hilda Bold"/>
                <a:cs typeface="Ericsson Hilda Bold"/>
                <a:sym typeface="Ericsson Hilda Bold"/>
              </a:defRPr>
            </a:lvl1pPr>
          </a:lstStyle>
          <a:p>
            <a:pPr/>
            <a:r>
              <a:t>E-huset</a:t>
            </a:r>
          </a:p>
        </p:txBody>
      </p:sp>
      <p:sp>
        <p:nvSpPr>
          <p:cNvPr id="517" name="TextBox 10"/>
          <p:cNvSpPr txBox="1"/>
          <p:nvPr/>
        </p:nvSpPr>
        <p:spPr>
          <a:xfrm>
            <a:off x="3309405" y="4984765"/>
            <a:ext cx="805401" cy="313301"/>
          </a:xfrm>
          <a:prstGeom prst="rect">
            <a:avLst/>
          </a:prstGeom>
          <a:ln w="12700">
            <a:miter lim="400000"/>
          </a:ln>
          <a:extLst>
            <a:ext uri="{C572A759-6A51-4108-AA02-DFA0A04FC94B}">
              <ma14:wrappingTextBoxFlag xmlns:ma14="http://schemas.microsoft.com/office/mac/drawingml/2011/main" val="1"/>
            </a:ext>
          </a:extLst>
        </p:spPr>
        <p:txBody>
          <a:bodyPr wrap="none" lIns="36000" tIns="36000" rIns="36000" bIns="36000">
            <a:spAutoFit/>
          </a:bodyPr>
          <a:lstStyle>
            <a:lvl1pPr algn="ctr">
              <a:spcBef>
                <a:spcPts val="800"/>
              </a:spcBef>
              <a:defRPr spc="-30" sz="1600">
                <a:latin typeface="Ericsson Hilda Bold"/>
                <a:ea typeface="Ericsson Hilda Bold"/>
                <a:cs typeface="Ericsson Hilda Bold"/>
                <a:sym typeface="Ericsson Hilda Bold"/>
              </a:defRPr>
            </a:lvl1pPr>
          </a:lstStyle>
          <a:p>
            <a:pPr/>
            <a:r>
              <a:t>M-huset</a:t>
            </a:r>
          </a:p>
        </p:txBody>
      </p:sp>
      <p:grpSp>
        <p:nvGrpSpPr>
          <p:cNvPr id="521" name="Group 31"/>
          <p:cNvGrpSpPr/>
          <p:nvPr/>
        </p:nvGrpSpPr>
        <p:grpSpPr>
          <a:xfrm>
            <a:off x="1954686" y="5374001"/>
            <a:ext cx="2057143" cy="871887"/>
            <a:chOff x="-1" y="0"/>
            <a:chExt cx="2057141" cy="871885"/>
          </a:xfrm>
        </p:grpSpPr>
        <p:pic>
          <p:nvPicPr>
            <p:cNvPr id="518" name="Picture 9" descr="Picture 9"/>
            <p:cNvPicPr>
              <a:picLocks noChangeAspect="1"/>
            </p:cNvPicPr>
            <p:nvPr/>
          </p:nvPicPr>
          <p:blipFill>
            <a:blip r:embed="rId3">
              <a:extLst/>
            </a:blip>
            <a:stretch>
              <a:fillRect/>
            </a:stretch>
          </p:blipFill>
          <p:spPr>
            <a:xfrm>
              <a:off x="-2" y="0"/>
              <a:ext cx="871887" cy="871886"/>
            </a:xfrm>
            <a:prstGeom prst="rect">
              <a:avLst/>
            </a:prstGeom>
            <a:ln w="12700" cap="flat">
              <a:noFill/>
              <a:miter lim="400000"/>
            </a:ln>
            <a:effectLst/>
          </p:spPr>
        </p:pic>
        <p:pic>
          <p:nvPicPr>
            <p:cNvPr id="519" name="Picture 10" descr="Picture 10"/>
            <p:cNvPicPr>
              <a:picLocks noChangeAspect="1"/>
            </p:cNvPicPr>
            <p:nvPr/>
          </p:nvPicPr>
          <p:blipFill>
            <a:blip r:embed="rId4">
              <a:extLst/>
            </a:blip>
            <a:stretch>
              <a:fillRect/>
            </a:stretch>
          </p:blipFill>
          <p:spPr>
            <a:xfrm>
              <a:off x="1430393" y="101505"/>
              <a:ext cx="626747" cy="626749"/>
            </a:xfrm>
            <a:prstGeom prst="rect">
              <a:avLst/>
            </a:prstGeom>
            <a:ln w="12700" cap="flat">
              <a:noFill/>
              <a:miter lim="400000"/>
            </a:ln>
            <a:effectLst/>
          </p:spPr>
        </p:pic>
        <p:pic>
          <p:nvPicPr>
            <p:cNvPr id="520" name="Picture 15" descr="Picture 15"/>
            <p:cNvPicPr>
              <a:picLocks noChangeAspect="1"/>
            </p:cNvPicPr>
            <p:nvPr/>
          </p:nvPicPr>
          <p:blipFill>
            <a:blip r:embed="rId5">
              <a:extLst/>
            </a:blip>
            <a:stretch>
              <a:fillRect/>
            </a:stretch>
          </p:blipFill>
          <p:spPr>
            <a:xfrm>
              <a:off x="756535" y="51629"/>
              <a:ext cx="726503" cy="726504"/>
            </a:xfrm>
            <a:prstGeom prst="rect">
              <a:avLst/>
            </a:prstGeom>
            <a:ln w="12700" cap="flat">
              <a:noFill/>
              <a:miter lim="400000"/>
            </a:ln>
            <a:effectLst/>
          </p:spPr>
        </p:pic>
      </p:grpSp>
      <p:sp>
        <p:nvSpPr>
          <p:cNvPr id="522" name="TextBox 6"/>
          <p:cNvSpPr txBox="1"/>
          <p:nvPr/>
        </p:nvSpPr>
        <p:spPr>
          <a:xfrm>
            <a:off x="7472005" y="1094020"/>
            <a:ext cx="651476" cy="351401"/>
          </a:xfrm>
          <a:prstGeom prst="rect">
            <a:avLst/>
          </a:prstGeom>
          <a:ln w="12700">
            <a:miter lim="400000"/>
          </a:ln>
          <a:extLst>
            <a:ext uri="{C572A759-6A51-4108-AA02-DFA0A04FC94B}">
              <ma14:wrappingTextBoxFlag xmlns:ma14="http://schemas.microsoft.com/office/mac/drawingml/2011/main" val="1"/>
            </a:ext>
          </a:extLst>
        </p:spPr>
        <p:txBody>
          <a:bodyPr wrap="none" lIns="36000" tIns="36000" rIns="36000" bIns="36000">
            <a:spAutoFit/>
          </a:bodyPr>
          <a:lstStyle>
            <a:lvl1pPr>
              <a:spcBef>
                <a:spcPts val="800"/>
              </a:spcBef>
              <a:defRPr spc="-30">
                <a:latin typeface="Ericsson Hilda Bold"/>
                <a:ea typeface="Ericsson Hilda Bold"/>
                <a:cs typeface="Ericsson Hilda Bold"/>
                <a:sym typeface="Ericsson Hilda Bold"/>
              </a:defRPr>
            </a:lvl1pPr>
          </a:lstStyle>
          <a:p>
            <a:pPr/>
            <a:r>
              <a:t>ERDC</a:t>
            </a:r>
          </a:p>
        </p:txBody>
      </p:sp>
      <p:pic>
        <p:nvPicPr>
          <p:cNvPr id="523" name="Picture 21" descr="Picture 21"/>
          <p:cNvPicPr>
            <a:picLocks noChangeAspect="1"/>
          </p:cNvPicPr>
          <p:nvPr/>
        </p:nvPicPr>
        <p:blipFill>
          <a:blip r:embed="rId6">
            <a:extLst/>
          </a:blip>
          <a:stretch>
            <a:fillRect/>
          </a:stretch>
        </p:blipFill>
        <p:spPr>
          <a:xfrm>
            <a:off x="7519064" y="1418588"/>
            <a:ext cx="568962" cy="568962"/>
          </a:xfrm>
          <a:prstGeom prst="rect">
            <a:avLst/>
          </a:prstGeom>
          <a:ln w="12700">
            <a:miter lim="400000"/>
          </a:ln>
        </p:spPr>
      </p:pic>
      <p:pic>
        <p:nvPicPr>
          <p:cNvPr id="524" name="Picture 22" descr="Picture 22"/>
          <p:cNvPicPr>
            <a:picLocks noChangeAspect="1"/>
          </p:cNvPicPr>
          <p:nvPr/>
        </p:nvPicPr>
        <p:blipFill>
          <a:blip r:embed="rId6">
            <a:extLst/>
          </a:blip>
          <a:stretch>
            <a:fillRect/>
          </a:stretch>
        </p:blipFill>
        <p:spPr>
          <a:xfrm>
            <a:off x="2802637" y="4883506"/>
            <a:ext cx="568962" cy="568962"/>
          </a:xfrm>
          <a:prstGeom prst="rect">
            <a:avLst/>
          </a:prstGeom>
          <a:ln w="12700">
            <a:miter lim="400000"/>
          </a:ln>
        </p:spPr>
      </p:pic>
      <p:pic>
        <p:nvPicPr>
          <p:cNvPr id="525" name="Picture 23" descr="Picture 23"/>
          <p:cNvPicPr>
            <a:picLocks noChangeAspect="1"/>
          </p:cNvPicPr>
          <p:nvPr/>
        </p:nvPicPr>
        <p:blipFill>
          <a:blip r:embed="rId6">
            <a:extLst/>
          </a:blip>
          <a:stretch>
            <a:fillRect/>
          </a:stretch>
        </p:blipFill>
        <p:spPr>
          <a:xfrm>
            <a:off x="2740268" y="4134117"/>
            <a:ext cx="568962" cy="568962"/>
          </a:xfrm>
          <a:prstGeom prst="rect">
            <a:avLst/>
          </a:prstGeom>
          <a:ln w="12700">
            <a:miter lim="400000"/>
          </a:ln>
        </p:spPr>
      </p:pic>
      <p:pic>
        <p:nvPicPr>
          <p:cNvPr id="526" name="Picture 8" descr="Picture 8"/>
          <p:cNvPicPr>
            <a:picLocks noChangeAspect="1"/>
          </p:cNvPicPr>
          <p:nvPr/>
        </p:nvPicPr>
        <p:blipFill>
          <a:blip r:embed="rId7">
            <a:extLst/>
          </a:blip>
          <a:stretch>
            <a:fillRect/>
          </a:stretch>
        </p:blipFill>
        <p:spPr>
          <a:xfrm>
            <a:off x="7312838" y="403582"/>
            <a:ext cx="940853" cy="936002"/>
          </a:xfrm>
          <a:prstGeom prst="rect">
            <a:avLst/>
          </a:prstGeom>
          <a:ln w="12700">
            <a:miter lim="400000"/>
          </a:ln>
        </p:spPr>
      </p:pic>
      <p:grpSp>
        <p:nvGrpSpPr>
          <p:cNvPr id="529" name="Group 1"/>
          <p:cNvGrpSpPr/>
          <p:nvPr/>
        </p:nvGrpSpPr>
        <p:grpSpPr>
          <a:xfrm>
            <a:off x="2362847" y="3269441"/>
            <a:ext cx="1645807" cy="956821"/>
            <a:chOff x="0" y="0"/>
            <a:chExt cx="1645806" cy="956820"/>
          </a:xfrm>
        </p:grpSpPr>
        <p:pic>
          <p:nvPicPr>
            <p:cNvPr id="527" name="Picture Placeholder 33" descr="Picture Placeholder 33"/>
            <p:cNvPicPr>
              <a:picLocks noChangeAspect="1"/>
            </p:cNvPicPr>
            <p:nvPr/>
          </p:nvPicPr>
          <p:blipFill>
            <a:blip r:embed="rId8">
              <a:extLst/>
            </a:blip>
            <a:stretch>
              <a:fillRect/>
            </a:stretch>
          </p:blipFill>
          <p:spPr>
            <a:xfrm>
              <a:off x="-1" y="119214"/>
              <a:ext cx="651713" cy="651713"/>
            </a:xfrm>
            <a:prstGeom prst="rect">
              <a:avLst/>
            </a:prstGeom>
            <a:ln w="12700" cap="flat">
              <a:noFill/>
              <a:miter lim="400000"/>
            </a:ln>
            <a:effectLst/>
          </p:spPr>
        </p:pic>
        <p:pic>
          <p:nvPicPr>
            <p:cNvPr id="528" name="Picture 2" descr="Picture 2"/>
            <p:cNvPicPr>
              <a:picLocks noChangeAspect="1"/>
            </p:cNvPicPr>
            <p:nvPr/>
          </p:nvPicPr>
          <p:blipFill>
            <a:blip r:embed="rId9">
              <a:extLst/>
            </a:blip>
            <a:stretch>
              <a:fillRect/>
            </a:stretch>
          </p:blipFill>
          <p:spPr>
            <a:xfrm>
              <a:off x="692532" y="-1"/>
              <a:ext cx="953275" cy="956822"/>
            </a:xfrm>
            <a:prstGeom prst="rect">
              <a:avLst/>
            </a:prstGeom>
            <a:ln w="12700" cap="flat">
              <a:noFill/>
              <a:miter lim="400000"/>
            </a:ln>
            <a:effectLst/>
          </p:spPr>
        </p:pic>
      </p:grpSp>
      <p:sp>
        <p:nvSpPr>
          <p:cNvPr id="530" name="The Setup"/>
          <p:cNvSpPr txBox="1"/>
          <p:nvPr>
            <p:ph type="title"/>
          </p:nvPr>
        </p:nvSpPr>
        <p:spPr>
          <a:xfrm>
            <a:off x="330172" y="171058"/>
            <a:ext cx="8773852" cy="1324803"/>
          </a:xfrm>
          <a:prstGeom prst="rect">
            <a:avLst/>
          </a:prstGeom>
        </p:spPr>
        <p:txBody>
          <a:bodyPr lIns="36000" tIns="36000" rIns="36000" bIns="36000"/>
          <a:lstStyle>
            <a:lvl1pPr defTabSz="859536">
              <a:spcBef>
                <a:spcPts val="200"/>
              </a:spcBef>
              <a:defRPr spc="-334" sz="4800">
                <a:solidFill>
                  <a:srgbClr val="000000"/>
                </a:solidFill>
                <a:latin typeface="+mn-lt"/>
                <a:ea typeface="+mn-ea"/>
                <a:cs typeface="+mn-cs"/>
                <a:sym typeface="Ericsson Hilda Light"/>
              </a:defRPr>
            </a:lvl1pPr>
          </a:lstStyle>
          <a:p>
            <a:pPr/>
            <a:r>
              <a:t>The Setup</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5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5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Class="entr" nodeType="clickEffect" presetSubtype="0" presetID="1" grpId="3" fill="hold">
                                  <p:stCondLst>
                                    <p:cond delay="0"/>
                                  </p:stCondLst>
                                  <p:iterate type="el" backwards="0">
                                    <p:tmAbs val="0"/>
                                  </p:iterate>
                                  <p:childTnLst>
                                    <p:set>
                                      <p:cBhvr>
                                        <p:cTn id="14" fill="hold"/>
                                        <p:tgtEl>
                                          <p:spTgt spid="5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29" grpId="2"/>
      <p:bldP build="whole" bldLvl="1" animBg="1" rev="0" advAuto="0" spid="521" grpId="1"/>
      <p:bldP build="whole" bldLvl="1" animBg="1" rev="0" advAuto="0" spid="526" grpId="3"/>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2" name="Rectangle"/>
          <p:cNvSpPr/>
          <p:nvPr/>
        </p:nvSpPr>
        <p:spPr>
          <a:xfrm>
            <a:off x="-190384" y="-40641"/>
            <a:ext cx="12384760" cy="6988166"/>
          </a:xfrm>
          <a:prstGeom prst="rect">
            <a:avLst/>
          </a:prstGeom>
          <a:solidFill>
            <a:srgbClr val="141414"/>
          </a:solidFill>
          <a:ln w="12700">
            <a:miter lim="400000"/>
          </a:ln>
        </p:spPr>
        <p:txBody>
          <a:bodyPr lIns="36000" tIns="36000" rIns="36000" bIns="36000"/>
          <a:lstStyle/>
          <a:p>
            <a:pPr/>
          </a:p>
        </p:txBody>
      </p:sp>
      <p:pic>
        <p:nvPicPr>
          <p:cNvPr id="533" name="pasted-movie.png" descr="pasted-movie.png"/>
          <p:cNvPicPr>
            <a:picLocks noChangeAspect="1"/>
          </p:cNvPicPr>
          <p:nvPr/>
        </p:nvPicPr>
        <p:blipFill>
          <a:blip r:embed="rId2">
            <a:extLst/>
          </a:blip>
          <a:stretch>
            <a:fillRect/>
          </a:stretch>
        </p:blipFill>
        <p:spPr>
          <a:xfrm>
            <a:off x="1016870" y="171005"/>
            <a:ext cx="9970252" cy="6515990"/>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5" name="txtfooterCopy"/>
          <p:cNvSpPr txBox="1"/>
          <p:nvPr>
            <p:ph type="sldNum" sz="quarter" idx="2"/>
          </p:nvPr>
        </p:nvSpPr>
        <p:spPr>
          <a:xfrm>
            <a:off x="421637" y="6524625"/>
            <a:ext cx="127001" cy="127000"/>
          </a:xfrm>
          <a:prstGeom prst="rect">
            <a:avLst/>
          </a:prstGeom>
          <a:extLst>
            <a:ext uri="{C572A759-6A51-4108-AA02-DFA0A04FC94B}">
              <ma14:wrappingTextBoxFlag xmlns:ma14="http://schemas.microsoft.com/office/mac/drawingml/2011/main" val="1"/>
            </a:ext>
          </a:extLst>
        </p:spPr>
        <p:txBody>
          <a:bodyPr/>
          <a:lstStyle>
            <a:lvl1pPr>
              <a:defRPr sz="800">
                <a:solidFill>
                  <a:srgbClr val="181818"/>
                </a:solidFill>
                <a:latin typeface="Ericsson Hilda Regular"/>
                <a:ea typeface="Ericsson Hilda Regular"/>
                <a:cs typeface="Ericsson Hilda Regular"/>
                <a:sym typeface="Ericsson Hilda Regular"/>
              </a:defRPr>
            </a:lvl1pPr>
          </a:lstStyle>
          <a:p>
            <a:pPr/>
            <a:fld id="{86CB4B4D-7CA3-9044-876B-883B54F8677D}" type="slidenum"/>
          </a:p>
        </p:txBody>
      </p:sp>
      <p:sp>
        <p:nvSpPr>
          <p:cNvPr id="536" name="Title 1"/>
          <p:cNvSpPr txBox="1"/>
          <p:nvPr>
            <p:ph type="title"/>
          </p:nvPr>
        </p:nvSpPr>
        <p:spPr>
          <a:prstGeom prst="rect">
            <a:avLst/>
          </a:prstGeom>
        </p:spPr>
        <p:txBody>
          <a:bodyPr/>
          <a:lstStyle>
            <a:lvl1pPr>
              <a:defRPr spc="-200">
                <a:solidFill>
                  <a:srgbClr val="000000"/>
                </a:solidFill>
              </a:defRPr>
            </a:lvl1pPr>
          </a:lstStyle>
          <a:p>
            <a:pPr/>
            <a:r>
              <a:t>System Architecture</a:t>
            </a:r>
          </a:p>
        </p:txBody>
      </p:sp>
      <p:sp>
        <p:nvSpPr>
          <p:cNvPr id="537" name="Rectangle 2"/>
          <p:cNvSpPr/>
          <p:nvPr/>
        </p:nvSpPr>
        <p:spPr>
          <a:xfrm>
            <a:off x="457200" y="1737360"/>
            <a:ext cx="3200400" cy="4572001"/>
          </a:xfrm>
          <a:prstGeom prst="rect">
            <a:avLst/>
          </a:prstGeom>
          <a:solidFill>
            <a:srgbClr val="D6E2F5"/>
          </a:solidFill>
          <a:ln w="6350">
            <a:solidFill>
              <a:srgbClr val="E0E0E0"/>
            </a:solidFill>
          </a:ln>
          <a:effectLst>
            <a:outerShdw sx="100000" sy="100000" kx="0" ky="0" algn="b" rotWithShape="0" blurRad="38100" dist="23000" dir="5400000">
              <a:srgbClr val="000000">
                <a:alpha val="35000"/>
              </a:srgbClr>
            </a:outerShdw>
          </a:effectLst>
        </p:spPr>
        <p:txBody>
          <a:bodyPr lIns="36000" tIns="36000" rIns="36000" bIns="36000" anchor="ctr"/>
          <a:lstStyle/>
          <a:p>
            <a:pPr algn="ctr">
              <a:defRPr>
                <a:solidFill>
                  <a:srgbClr val="FFFFFF"/>
                </a:solidFill>
              </a:defRPr>
            </a:pPr>
          </a:p>
        </p:txBody>
      </p:sp>
      <p:sp>
        <p:nvSpPr>
          <p:cNvPr id="538" name="TextBox 3"/>
          <p:cNvSpPr txBox="1"/>
          <p:nvPr/>
        </p:nvSpPr>
        <p:spPr>
          <a:xfrm>
            <a:off x="594359" y="1828800"/>
            <a:ext cx="2926082" cy="3708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a:solidFill>
                  <a:srgbClr val="767676"/>
                </a:solidFill>
                <a:latin typeface="Ericsson Hilda Bold"/>
                <a:ea typeface="Ericsson Hilda Bold"/>
                <a:cs typeface="Ericsson Hilda Bold"/>
                <a:sym typeface="Ericsson Hilda Bold"/>
              </a:defRPr>
            </a:lvl1pPr>
          </a:lstStyle>
          <a:p>
            <a:pPr/>
            <a:r>
              <a:t>Client Device</a:t>
            </a:r>
          </a:p>
        </p:txBody>
      </p:sp>
      <p:sp>
        <p:nvSpPr>
          <p:cNvPr id="539" name="Rectangle 4"/>
          <p:cNvSpPr/>
          <p:nvPr/>
        </p:nvSpPr>
        <p:spPr>
          <a:xfrm>
            <a:off x="3931920" y="1737360"/>
            <a:ext cx="3657601" cy="4572001"/>
          </a:xfrm>
          <a:prstGeom prst="rect">
            <a:avLst/>
          </a:prstGeom>
          <a:solidFill>
            <a:srgbClr val="F2F2F2"/>
          </a:solidFill>
          <a:ln w="6350">
            <a:solidFill>
              <a:srgbClr val="E0E0E0"/>
            </a:solidFill>
          </a:ln>
          <a:effectLst>
            <a:outerShdw sx="100000" sy="100000" kx="0" ky="0" algn="b" rotWithShape="0" blurRad="38100" dist="23000" dir="5400000">
              <a:srgbClr val="000000">
                <a:alpha val="35000"/>
              </a:srgbClr>
            </a:outerShdw>
          </a:effectLst>
        </p:spPr>
        <p:txBody>
          <a:bodyPr lIns="36000" tIns="36000" rIns="36000" bIns="36000" anchor="ctr"/>
          <a:lstStyle/>
          <a:p>
            <a:pPr algn="ctr">
              <a:defRPr>
                <a:solidFill>
                  <a:srgbClr val="FFFFFF"/>
                </a:solidFill>
              </a:defRPr>
            </a:pPr>
          </a:p>
        </p:txBody>
      </p:sp>
      <p:sp>
        <p:nvSpPr>
          <p:cNvPr id="540" name="TextBox 5"/>
          <p:cNvSpPr txBox="1"/>
          <p:nvPr/>
        </p:nvSpPr>
        <p:spPr>
          <a:xfrm>
            <a:off x="4069079" y="1828800"/>
            <a:ext cx="3383281" cy="3708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a:solidFill>
                  <a:srgbClr val="767676"/>
                </a:solidFill>
                <a:latin typeface="Ericsson Hilda Bold"/>
                <a:ea typeface="Ericsson Hilda Bold"/>
                <a:cs typeface="Ericsson Hilda Bold"/>
                <a:sym typeface="Ericsson Hilda Bold"/>
              </a:defRPr>
            </a:lvl1pPr>
          </a:lstStyle>
          <a:p>
            <a:pPr/>
            <a:r>
              <a:t>5G SA Network</a:t>
            </a:r>
          </a:p>
        </p:txBody>
      </p:sp>
      <p:sp>
        <p:nvSpPr>
          <p:cNvPr id="541" name="Rectangle 6"/>
          <p:cNvSpPr/>
          <p:nvPr/>
        </p:nvSpPr>
        <p:spPr>
          <a:xfrm>
            <a:off x="7863840" y="1737360"/>
            <a:ext cx="3840481" cy="4572001"/>
          </a:xfrm>
          <a:prstGeom prst="rect">
            <a:avLst/>
          </a:prstGeom>
          <a:solidFill>
            <a:srgbClr val="BDE0E1"/>
          </a:solidFill>
          <a:ln w="6350">
            <a:solidFill>
              <a:srgbClr val="E0E0E0"/>
            </a:solidFill>
          </a:ln>
          <a:effectLst>
            <a:outerShdw sx="100000" sy="100000" kx="0" ky="0" algn="b" rotWithShape="0" blurRad="38100" dist="23000" dir="5400000">
              <a:srgbClr val="000000">
                <a:alpha val="35000"/>
              </a:srgbClr>
            </a:outerShdw>
          </a:effectLst>
        </p:spPr>
        <p:txBody>
          <a:bodyPr lIns="36000" tIns="36000" rIns="36000" bIns="36000" anchor="ctr"/>
          <a:lstStyle/>
          <a:p>
            <a:pPr algn="ctr">
              <a:defRPr>
                <a:solidFill>
                  <a:srgbClr val="FFFFFF"/>
                </a:solidFill>
              </a:defRPr>
            </a:pPr>
          </a:p>
        </p:txBody>
      </p:sp>
      <p:sp>
        <p:nvSpPr>
          <p:cNvPr id="542" name="TextBox 7"/>
          <p:cNvSpPr txBox="1"/>
          <p:nvPr/>
        </p:nvSpPr>
        <p:spPr>
          <a:xfrm>
            <a:off x="8001000" y="1828800"/>
            <a:ext cx="3566160" cy="3708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a:solidFill>
                  <a:srgbClr val="767676"/>
                </a:solidFill>
                <a:latin typeface="Ericsson Hilda Bold"/>
                <a:ea typeface="Ericsson Hilda Bold"/>
                <a:cs typeface="Ericsson Hilda Bold"/>
                <a:sym typeface="Ericsson Hilda Bold"/>
              </a:defRPr>
            </a:lvl1pPr>
          </a:lstStyle>
          <a:p>
            <a:pPr/>
            <a:r>
              <a:t>Edge Cloud (K8s)</a:t>
            </a:r>
          </a:p>
        </p:txBody>
      </p:sp>
      <p:grpSp>
        <p:nvGrpSpPr>
          <p:cNvPr id="545" name="Rounded Rectangle 8"/>
          <p:cNvGrpSpPr/>
          <p:nvPr/>
        </p:nvGrpSpPr>
        <p:grpSpPr>
          <a:xfrm>
            <a:off x="731519" y="2377439"/>
            <a:ext cx="2560322" cy="548641"/>
            <a:chOff x="0" y="0"/>
            <a:chExt cx="2560320" cy="548640"/>
          </a:xfrm>
        </p:grpSpPr>
        <p:sp>
          <p:nvSpPr>
            <p:cNvPr id="543" name="Rounded Rectangle"/>
            <p:cNvSpPr/>
            <p:nvPr/>
          </p:nvSpPr>
          <p:spPr>
            <a:xfrm>
              <a:off x="0" y="0"/>
              <a:ext cx="2560321" cy="548641"/>
            </a:xfrm>
            <a:prstGeom prst="roundRect">
              <a:avLst>
                <a:gd name="adj" fmla="val 16667"/>
              </a:avLst>
            </a:prstGeom>
            <a:solidFill>
              <a:srgbClr val="FFFFFF"/>
            </a:solidFill>
            <a:ln w="19050" cap="flat">
              <a:solidFill>
                <a:schemeClr val="accent1"/>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544" name="GUI (Tkinter)"/>
            <p:cNvSpPr txBox="1"/>
            <p:nvPr/>
          </p:nvSpPr>
          <p:spPr>
            <a:xfrm>
              <a:off x="82026" y="139700"/>
              <a:ext cx="2396268" cy="269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200">
                  <a:solidFill>
                    <a:schemeClr val="accent1"/>
                  </a:solidFill>
                  <a:latin typeface="Ericsson Hilda Bold"/>
                  <a:ea typeface="Ericsson Hilda Bold"/>
                  <a:cs typeface="Ericsson Hilda Bold"/>
                  <a:sym typeface="Ericsson Hilda Bold"/>
                </a:defRPr>
              </a:lvl1pPr>
            </a:lstStyle>
            <a:p>
              <a:pPr/>
              <a:r>
                <a:t>GUI (Tkinter)</a:t>
              </a:r>
            </a:p>
          </p:txBody>
        </p:sp>
      </p:grpSp>
      <p:grpSp>
        <p:nvGrpSpPr>
          <p:cNvPr id="548" name="Rounded Rectangle 9"/>
          <p:cNvGrpSpPr/>
          <p:nvPr/>
        </p:nvGrpSpPr>
        <p:grpSpPr>
          <a:xfrm>
            <a:off x="731519" y="3108960"/>
            <a:ext cx="2560322" cy="548641"/>
            <a:chOff x="0" y="0"/>
            <a:chExt cx="2560320" cy="548640"/>
          </a:xfrm>
        </p:grpSpPr>
        <p:sp>
          <p:nvSpPr>
            <p:cNvPr id="546" name="Rounded Rectangle"/>
            <p:cNvSpPr/>
            <p:nvPr/>
          </p:nvSpPr>
          <p:spPr>
            <a:xfrm>
              <a:off x="0" y="0"/>
              <a:ext cx="2560321" cy="548641"/>
            </a:xfrm>
            <a:prstGeom prst="roundRect">
              <a:avLst>
                <a:gd name="adj" fmla="val 16667"/>
              </a:avLst>
            </a:prstGeom>
            <a:solidFill>
              <a:srgbClr val="FFFFFF"/>
            </a:solidFill>
            <a:ln w="19050" cap="flat">
              <a:solidFill>
                <a:srgbClr val="A0A0A0"/>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547" name="Local Detector (CPU)"/>
            <p:cNvSpPr txBox="1"/>
            <p:nvPr/>
          </p:nvSpPr>
          <p:spPr>
            <a:xfrm>
              <a:off x="82026" y="146050"/>
              <a:ext cx="2396268" cy="256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100">
                  <a:solidFill>
                    <a:srgbClr val="242424"/>
                  </a:solidFill>
                </a:defRPr>
              </a:lvl1pPr>
            </a:lstStyle>
            <a:p>
              <a:pPr/>
              <a:r>
                <a:t>Local Detector (CPU)</a:t>
              </a:r>
            </a:p>
          </p:txBody>
        </p:sp>
      </p:grpSp>
      <p:grpSp>
        <p:nvGrpSpPr>
          <p:cNvPr id="551" name="Rounded Rectangle 10"/>
          <p:cNvGrpSpPr/>
          <p:nvPr/>
        </p:nvGrpSpPr>
        <p:grpSpPr>
          <a:xfrm>
            <a:off x="731519" y="3840479"/>
            <a:ext cx="2560322" cy="548641"/>
            <a:chOff x="0" y="0"/>
            <a:chExt cx="2560320" cy="548640"/>
          </a:xfrm>
        </p:grpSpPr>
        <p:sp>
          <p:nvSpPr>
            <p:cNvPr id="549" name="Rounded Rectangle"/>
            <p:cNvSpPr/>
            <p:nvPr/>
          </p:nvSpPr>
          <p:spPr>
            <a:xfrm>
              <a:off x="0" y="0"/>
              <a:ext cx="2560321" cy="548641"/>
            </a:xfrm>
            <a:prstGeom prst="roundRect">
              <a:avLst>
                <a:gd name="adj" fmla="val 16667"/>
              </a:avLst>
            </a:prstGeom>
            <a:solidFill>
              <a:srgbClr val="FFFFFF"/>
            </a:solidFill>
            <a:ln w="19050" cap="flat">
              <a:solidFill>
                <a:schemeClr val="accent1"/>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550" name="Remote Detector (gRPC/HTTP)"/>
            <p:cNvSpPr txBox="1"/>
            <p:nvPr/>
          </p:nvSpPr>
          <p:spPr>
            <a:xfrm>
              <a:off x="82026" y="146050"/>
              <a:ext cx="2396268" cy="256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100">
                  <a:solidFill>
                    <a:schemeClr val="accent1"/>
                  </a:solidFill>
                </a:defRPr>
              </a:lvl1pPr>
            </a:lstStyle>
            <a:p>
              <a:pPr/>
              <a:r>
                <a:t>Remote Detector (gRPC/HTTP)</a:t>
              </a:r>
            </a:p>
          </p:txBody>
        </p:sp>
      </p:grpSp>
      <p:grpSp>
        <p:nvGrpSpPr>
          <p:cNvPr id="554" name="Rounded Rectangle 11"/>
          <p:cNvGrpSpPr/>
          <p:nvPr/>
        </p:nvGrpSpPr>
        <p:grpSpPr>
          <a:xfrm>
            <a:off x="731519" y="4572000"/>
            <a:ext cx="2560322" cy="548641"/>
            <a:chOff x="0" y="0"/>
            <a:chExt cx="2560320" cy="548640"/>
          </a:xfrm>
        </p:grpSpPr>
        <p:sp>
          <p:nvSpPr>
            <p:cNvPr id="552" name="Rounded Rectangle"/>
            <p:cNvSpPr/>
            <p:nvPr/>
          </p:nvSpPr>
          <p:spPr>
            <a:xfrm>
              <a:off x="0" y="0"/>
              <a:ext cx="2560321" cy="548641"/>
            </a:xfrm>
            <a:prstGeom prst="roundRect">
              <a:avLst>
                <a:gd name="adj" fmla="val 16667"/>
              </a:avLst>
            </a:prstGeom>
            <a:solidFill>
              <a:srgbClr val="D6E2F5"/>
            </a:solidFill>
            <a:ln w="19050" cap="flat">
              <a:solidFill>
                <a:schemeClr val="accent1"/>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553" name="CAMARA Client"/>
            <p:cNvSpPr txBox="1"/>
            <p:nvPr/>
          </p:nvSpPr>
          <p:spPr>
            <a:xfrm>
              <a:off x="82026" y="146050"/>
              <a:ext cx="2396268" cy="256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100">
                  <a:solidFill>
                    <a:schemeClr val="accent1"/>
                  </a:solidFill>
                  <a:latin typeface="Ericsson Hilda Bold"/>
                  <a:ea typeface="Ericsson Hilda Bold"/>
                  <a:cs typeface="Ericsson Hilda Bold"/>
                  <a:sym typeface="Ericsson Hilda Bold"/>
                </a:defRPr>
              </a:lvl1pPr>
            </a:lstStyle>
            <a:p>
              <a:pPr/>
              <a:r>
                <a:t>CAMARA Client</a:t>
              </a:r>
            </a:p>
          </p:txBody>
        </p:sp>
      </p:grpSp>
      <p:grpSp>
        <p:nvGrpSpPr>
          <p:cNvPr id="557" name="Rounded Rectangle 12"/>
          <p:cNvGrpSpPr/>
          <p:nvPr/>
        </p:nvGrpSpPr>
        <p:grpSpPr>
          <a:xfrm>
            <a:off x="731519" y="5303520"/>
            <a:ext cx="2560322" cy="548641"/>
            <a:chOff x="0" y="0"/>
            <a:chExt cx="2560320" cy="548640"/>
          </a:xfrm>
        </p:grpSpPr>
        <p:sp>
          <p:nvSpPr>
            <p:cNvPr id="555" name="Rounded Rectangle"/>
            <p:cNvSpPr/>
            <p:nvPr/>
          </p:nvSpPr>
          <p:spPr>
            <a:xfrm>
              <a:off x="0" y="0"/>
              <a:ext cx="2560321" cy="548641"/>
            </a:xfrm>
            <a:prstGeom prst="roundRect">
              <a:avLst>
                <a:gd name="adj" fmla="val 16667"/>
              </a:avLst>
            </a:prstGeom>
            <a:solidFill>
              <a:srgbClr val="FFFFFF"/>
            </a:solidFill>
            <a:ln w="19050" cap="flat">
              <a:solidFill>
                <a:srgbClr val="A0A0A0"/>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556" name="Camera Feed (MJPEG)"/>
            <p:cNvSpPr txBox="1"/>
            <p:nvPr/>
          </p:nvSpPr>
          <p:spPr>
            <a:xfrm>
              <a:off x="82026" y="146050"/>
              <a:ext cx="2396268" cy="256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100">
                  <a:solidFill>
                    <a:srgbClr val="242424"/>
                  </a:solidFill>
                </a:defRPr>
              </a:lvl1pPr>
            </a:lstStyle>
            <a:p>
              <a:pPr/>
              <a:r>
                <a:t>Camera Feed (MJPEG)</a:t>
              </a:r>
            </a:p>
          </p:txBody>
        </p:sp>
      </p:grpSp>
      <p:grpSp>
        <p:nvGrpSpPr>
          <p:cNvPr id="560" name="Rounded Rectangle 13"/>
          <p:cNvGrpSpPr/>
          <p:nvPr/>
        </p:nvGrpSpPr>
        <p:grpSpPr>
          <a:xfrm>
            <a:off x="4206240" y="2651760"/>
            <a:ext cx="3108961" cy="548641"/>
            <a:chOff x="0" y="0"/>
            <a:chExt cx="3108960" cy="548640"/>
          </a:xfrm>
        </p:grpSpPr>
        <p:sp>
          <p:nvSpPr>
            <p:cNvPr id="558" name="Rounded Rectangle"/>
            <p:cNvSpPr/>
            <p:nvPr/>
          </p:nvSpPr>
          <p:spPr>
            <a:xfrm>
              <a:off x="0" y="0"/>
              <a:ext cx="3108961" cy="548641"/>
            </a:xfrm>
            <a:prstGeom prst="roundRect">
              <a:avLst>
                <a:gd name="adj" fmla="val 16667"/>
              </a:avLst>
            </a:prstGeom>
            <a:solidFill>
              <a:srgbClr val="FFFFFF"/>
            </a:solidFill>
            <a:ln w="19050" cap="flat">
              <a:solidFill>
                <a:srgbClr val="767676"/>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559" name="gNB (BB6651 + AIR6419)"/>
            <p:cNvSpPr txBox="1"/>
            <p:nvPr/>
          </p:nvSpPr>
          <p:spPr>
            <a:xfrm>
              <a:off x="82026" y="146050"/>
              <a:ext cx="2944908" cy="256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100">
                  <a:solidFill>
                    <a:srgbClr val="242424"/>
                  </a:solidFill>
                </a:defRPr>
              </a:lvl1pPr>
            </a:lstStyle>
            <a:p>
              <a:pPr/>
              <a:r>
                <a:t>gNB (BB6651 + AIR6419)</a:t>
              </a:r>
            </a:p>
          </p:txBody>
        </p:sp>
      </p:grpSp>
      <p:grpSp>
        <p:nvGrpSpPr>
          <p:cNvPr id="563" name="Rounded Rectangle 14"/>
          <p:cNvGrpSpPr/>
          <p:nvPr/>
        </p:nvGrpSpPr>
        <p:grpSpPr>
          <a:xfrm>
            <a:off x="4206240" y="3388359"/>
            <a:ext cx="3108961" cy="548641"/>
            <a:chOff x="0" y="0"/>
            <a:chExt cx="3108960" cy="548640"/>
          </a:xfrm>
        </p:grpSpPr>
        <p:sp>
          <p:nvSpPr>
            <p:cNvPr id="561" name="Rounded Rectangle"/>
            <p:cNvSpPr/>
            <p:nvPr/>
          </p:nvSpPr>
          <p:spPr>
            <a:xfrm>
              <a:off x="0" y="0"/>
              <a:ext cx="3108961" cy="548641"/>
            </a:xfrm>
            <a:prstGeom prst="roundRect">
              <a:avLst>
                <a:gd name="adj" fmla="val 16667"/>
              </a:avLst>
            </a:prstGeom>
            <a:solidFill>
              <a:srgbClr val="FFFFFF"/>
            </a:solidFill>
            <a:ln w="19050" cap="flat">
              <a:solidFill>
                <a:srgbClr val="767676"/>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562" name="5G Core (AMF/SMF/UPF)"/>
            <p:cNvSpPr txBox="1"/>
            <p:nvPr/>
          </p:nvSpPr>
          <p:spPr>
            <a:xfrm>
              <a:off x="82026" y="146050"/>
              <a:ext cx="2944908" cy="256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100">
                  <a:solidFill>
                    <a:srgbClr val="242424"/>
                  </a:solidFill>
                </a:defRPr>
              </a:lvl1pPr>
            </a:lstStyle>
            <a:p>
              <a:pPr/>
              <a:r>
                <a:t>5G Core (AMF/SMF/UPF)</a:t>
              </a:r>
            </a:p>
          </p:txBody>
        </p:sp>
      </p:grpSp>
      <p:grpSp>
        <p:nvGrpSpPr>
          <p:cNvPr id="566" name="Rounded Rectangle 15"/>
          <p:cNvGrpSpPr/>
          <p:nvPr/>
        </p:nvGrpSpPr>
        <p:grpSpPr>
          <a:xfrm>
            <a:off x="4206240" y="4663440"/>
            <a:ext cx="3108961" cy="731521"/>
            <a:chOff x="0" y="0"/>
            <a:chExt cx="3108960" cy="731519"/>
          </a:xfrm>
        </p:grpSpPr>
        <p:sp>
          <p:nvSpPr>
            <p:cNvPr id="564" name="Rounded Rectangle"/>
            <p:cNvSpPr/>
            <p:nvPr/>
          </p:nvSpPr>
          <p:spPr>
            <a:xfrm>
              <a:off x="0" y="0"/>
              <a:ext cx="3108961" cy="731520"/>
            </a:xfrm>
            <a:prstGeom prst="roundRect">
              <a:avLst>
                <a:gd name="adj" fmla="val 16667"/>
              </a:avLst>
            </a:prstGeom>
            <a:solidFill>
              <a:srgbClr val="FFFFFF"/>
            </a:solidFill>
            <a:ln w="19050" cap="flat">
              <a:solidFill>
                <a:schemeClr val="accent1"/>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565" name="NEF-Shim (CAMARA API)"/>
            <p:cNvSpPr txBox="1"/>
            <p:nvPr/>
          </p:nvSpPr>
          <p:spPr>
            <a:xfrm>
              <a:off x="90955" y="231139"/>
              <a:ext cx="2927051" cy="269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200">
                  <a:solidFill>
                    <a:schemeClr val="accent1"/>
                  </a:solidFill>
                  <a:latin typeface="Ericsson Hilda Bold"/>
                  <a:ea typeface="Ericsson Hilda Bold"/>
                  <a:cs typeface="Ericsson Hilda Bold"/>
                  <a:sym typeface="Ericsson Hilda Bold"/>
                </a:defRPr>
              </a:lvl1pPr>
            </a:lstStyle>
            <a:p>
              <a:pPr/>
              <a:r>
                <a:t>NEF-Shim (CAMARA API)</a:t>
              </a:r>
            </a:p>
          </p:txBody>
        </p:sp>
      </p:grpSp>
      <p:grpSp>
        <p:nvGrpSpPr>
          <p:cNvPr id="569" name="Rounded Rectangle 16"/>
          <p:cNvGrpSpPr/>
          <p:nvPr/>
        </p:nvGrpSpPr>
        <p:grpSpPr>
          <a:xfrm>
            <a:off x="8138159" y="2377439"/>
            <a:ext cx="3291841" cy="548641"/>
            <a:chOff x="0" y="0"/>
            <a:chExt cx="3291840" cy="548640"/>
          </a:xfrm>
        </p:grpSpPr>
        <p:sp>
          <p:nvSpPr>
            <p:cNvPr id="567" name="Rounded Rectangle"/>
            <p:cNvSpPr/>
            <p:nvPr/>
          </p:nvSpPr>
          <p:spPr>
            <a:xfrm>
              <a:off x="0" y="0"/>
              <a:ext cx="3291841" cy="548641"/>
            </a:xfrm>
            <a:prstGeom prst="roundRect">
              <a:avLst>
                <a:gd name="adj" fmla="val 16667"/>
              </a:avLst>
            </a:prstGeom>
            <a:solidFill>
              <a:srgbClr val="FFFFFF"/>
            </a:solidFill>
            <a:ln w="19050" cap="flat">
              <a:solidFill>
                <a:schemeClr val="accent2"/>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568" name="NGINX Ingress (HTTP proxy)"/>
            <p:cNvSpPr txBox="1"/>
            <p:nvPr/>
          </p:nvSpPr>
          <p:spPr>
            <a:xfrm>
              <a:off x="82027" y="146050"/>
              <a:ext cx="3127787" cy="256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100">
                  <a:solidFill>
                    <a:schemeClr val="accent2"/>
                  </a:solidFill>
                </a:defRPr>
              </a:lvl1pPr>
            </a:lstStyle>
            <a:p>
              <a:pPr/>
              <a:r>
                <a:t>NGINX Ingress (HTTP proxy)</a:t>
              </a:r>
            </a:p>
          </p:txBody>
        </p:sp>
      </p:grpSp>
      <p:grpSp>
        <p:nvGrpSpPr>
          <p:cNvPr id="572" name="Rounded Rectangle 17"/>
          <p:cNvGrpSpPr/>
          <p:nvPr/>
        </p:nvGrpSpPr>
        <p:grpSpPr>
          <a:xfrm>
            <a:off x="8138159" y="3108960"/>
            <a:ext cx="3291841" cy="548641"/>
            <a:chOff x="0" y="0"/>
            <a:chExt cx="3291840" cy="548640"/>
          </a:xfrm>
        </p:grpSpPr>
        <p:sp>
          <p:nvSpPr>
            <p:cNvPr id="570" name="Rounded Rectangle"/>
            <p:cNvSpPr/>
            <p:nvPr/>
          </p:nvSpPr>
          <p:spPr>
            <a:xfrm>
              <a:off x="0" y="0"/>
              <a:ext cx="3291841" cy="548641"/>
            </a:xfrm>
            <a:prstGeom prst="roundRect">
              <a:avLst>
                <a:gd name="adj" fmla="val 16667"/>
              </a:avLst>
            </a:prstGeom>
            <a:solidFill>
              <a:srgbClr val="FFFFFF"/>
            </a:solidFill>
            <a:ln w="19050" cap="flat">
              <a:solidFill>
                <a:schemeClr val="accent2"/>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571" name="NodePort (gRPC direct)"/>
            <p:cNvSpPr txBox="1"/>
            <p:nvPr/>
          </p:nvSpPr>
          <p:spPr>
            <a:xfrm>
              <a:off x="82027" y="146050"/>
              <a:ext cx="3127787" cy="256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100">
                  <a:solidFill>
                    <a:schemeClr val="accent2"/>
                  </a:solidFill>
                </a:defRPr>
              </a:lvl1pPr>
            </a:lstStyle>
            <a:p>
              <a:pPr/>
              <a:r>
                <a:t>NodePort (gRPC direct)</a:t>
              </a:r>
            </a:p>
          </p:txBody>
        </p:sp>
      </p:grpSp>
      <p:grpSp>
        <p:nvGrpSpPr>
          <p:cNvPr id="575" name="Rounded Rectangle 18"/>
          <p:cNvGrpSpPr/>
          <p:nvPr/>
        </p:nvGrpSpPr>
        <p:grpSpPr>
          <a:xfrm>
            <a:off x="8138159" y="3840479"/>
            <a:ext cx="3291841" cy="731521"/>
            <a:chOff x="0" y="0"/>
            <a:chExt cx="3291840" cy="731519"/>
          </a:xfrm>
        </p:grpSpPr>
        <p:sp>
          <p:nvSpPr>
            <p:cNvPr id="573" name="Rounded Rectangle"/>
            <p:cNvSpPr/>
            <p:nvPr/>
          </p:nvSpPr>
          <p:spPr>
            <a:xfrm>
              <a:off x="0" y="0"/>
              <a:ext cx="3291841" cy="731520"/>
            </a:xfrm>
            <a:prstGeom prst="roundRect">
              <a:avLst>
                <a:gd name="adj" fmla="val 16667"/>
              </a:avLst>
            </a:prstGeom>
            <a:solidFill>
              <a:srgbClr val="FFFFFF"/>
            </a:solidFill>
            <a:ln w="19050" cap="flat">
              <a:solidFill>
                <a:schemeClr val="accent2"/>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574" name="Triton Inference Server"/>
            <p:cNvSpPr txBox="1"/>
            <p:nvPr/>
          </p:nvSpPr>
          <p:spPr>
            <a:xfrm>
              <a:off x="90954" y="231139"/>
              <a:ext cx="3109932" cy="269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200">
                  <a:solidFill>
                    <a:schemeClr val="accent2"/>
                  </a:solidFill>
                  <a:latin typeface="Ericsson Hilda Bold"/>
                  <a:ea typeface="Ericsson Hilda Bold"/>
                  <a:cs typeface="Ericsson Hilda Bold"/>
                  <a:sym typeface="Ericsson Hilda Bold"/>
                </a:defRPr>
              </a:lvl1pPr>
            </a:lstStyle>
            <a:p>
              <a:pPr/>
              <a:r>
                <a:t>Triton Inference Server</a:t>
              </a:r>
            </a:p>
          </p:txBody>
        </p:sp>
      </p:grpSp>
      <p:grpSp>
        <p:nvGrpSpPr>
          <p:cNvPr id="578" name="Rounded Rectangle 19"/>
          <p:cNvGrpSpPr/>
          <p:nvPr/>
        </p:nvGrpSpPr>
        <p:grpSpPr>
          <a:xfrm>
            <a:off x="8138159" y="4754879"/>
            <a:ext cx="3291841" cy="548641"/>
            <a:chOff x="0" y="0"/>
            <a:chExt cx="3291840" cy="548640"/>
          </a:xfrm>
        </p:grpSpPr>
        <p:sp>
          <p:nvSpPr>
            <p:cNvPr id="576" name="Rounded Rectangle"/>
            <p:cNvSpPr/>
            <p:nvPr/>
          </p:nvSpPr>
          <p:spPr>
            <a:xfrm>
              <a:off x="0" y="0"/>
              <a:ext cx="3291841" cy="548641"/>
            </a:xfrm>
            <a:prstGeom prst="roundRect">
              <a:avLst>
                <a:gd name="adj" fmla="val 16667"/>
              </a:avLst>
            </a:prstGeom>
            <a:solidFill>
              <a:srgbClr val="FFFFFF"/>
            </a:solidFill>
            <a:ln w="19050" cap="flat">
              <a:solidFill>
                <a:schemeClr val="accent2"/>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577" name="Sidecar (JPEG→Tensor→JSON)"/>
            <p:cNvSpPr txBox="1"/>
            <p:nvPr/>
          </p:nvSpPr>
          <p:spPr>
            <a:xfrm>
              <a:off x="82027" y="146050"/>
              <a:ext cx="3127787" cy="256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100">
                  <a:solidFill>
                    <a:schemeClr val="accent2"/>
                  </a:solidFill>
                </a:defRPr>
              </a:lvl1pPr>
            </a:lstStyle>
            <a:p>
              <a:pPr/>
              <a:r>
                <a:t>Sidecar (JPEG→Tensor→JSON)</a:t>
              </a:r>
            </a:p>
          </p:txBody>
        </p:sp>
      </p:grpSp>
      <p:grpSp>
        <p:nvGrpSpPr>
          <p:cNvPr id="581" name="Rounded Rectangle 20"/>
          <p:cNvGrpSpPr/>
          <p:nvPr/>
        </p:nvGrpSpPr>
        <p:grpSpPr>
          <a:xfrm>
            <a:off x="8138159" y="5486398"/>
            <a:ext cx="3291841" cy="548641"/>
            <a:chOff x="0" y="0"/>
            <a:chExt cx="3291840" cy="548640"/>
          </a:xfrm>
        </p:grpSpPr>
        <p:sp>
          <p:nvSpPr>
            <p:cNvPr id="579" name="Rounded Rectangle"/>
            <p:cNvSpPr/>
            <p:nvPr/>
          </p:nvSpPr>
          <p:spPr>
            <a:xfrm>
              <a:off x="0" y="0"/>
              <a:ext cx="3291841" cy="548641"/>
            </a:xfrm>
            <a:prstGeom prst="roundRect">
              <a:avLst>
                <a:gd name="adj" fmla="val 16667"/>
              </a:avLst>
            </a:prstGeom>
            <a:solidFill>
              <a:srgbClr val="BDE0E1"/>
            </a:solidFill>
            <a:ln w="19050" cap="flat">
              <a:solidFill>
                <a:schemeClr val="accent2"/>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580" name="NVIDIA L40S GPU + TensorRT"/>
            <p:cNvSpPr txBox="1"/>
            <p:nvPr/>
          </p:nvSpPr>
          <p:spPr>
            <a:xfrm>
              <a:off x="82027" y="146050"/>
              <a:ext cx="3127787" cy="256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100">
                  <a:solidFill>
                    <a:schemeClr val="accent2"/>
                  </a:solidFill>
                  <a:latin typeface="Ericsson Hilda Bold"/>
                  <a:ea typeface="Ericsson Hilda Bold"/>
                  <a:cs typeface="Ericsson Hilda Bold"/>
                  <a:sym typeface="Ericsson Hilda Bold"/>
                </a:defRPr>
              </a:lvl1pPr>
            </a:lstStyle>
            <a:p>
              <a:pPr/>
              <a:r>
                <a:t>NVIDIA L40S GPU + TensorRT</a:t>
              </a:r>
            </a:p>
          </p:txBody>
        </p:sp>
      </p:grpSp>
      <p:sp>
        <p:nvSpPr>
          <p:cNvPr id="582" name="Connector 21"/>
          <p:cNvSpPr/>
          <p:nvPr/>
        </p:nvSpPr>
        <p:spPr>
          <a:xfrm>
            <a:off x="3291840" y="4846320"/>
            <a:ext cx="914401" cy="207023"/>
          </a:xfrm>
          <a:prstGeom prst="line">
            <a:avLst/>
          </a:prstGeom>
          <a:ln w="38100">
            <a:solidFill>
              <a:schemeClr val="accent1"/>
            </a:solidFill>
            <a:tailEnd type="triangle"/>
          </a:ln>
        </p:spPr>
        <p:txBody>
          <a:bodyPr lIns="45719" rIns="45719"/>
          <a:lstStyle/>
          <a:p>
            <a:pPr/>
          </a:p>
        </p:txBody>
      </p:sp>
      <p:sp>
        <p:nvSpPr>
          <p:cNvPr id="583" name="Connector 22"/>
          <p:cNvSpPr/>
          <p:nvPr/>
        </p:nvSpPr>
        <p:spPr>
          <a:xfrm>
            <a:off x="3291840" y="4114800"/>
            <a:ext cx="4572001" cy="0"/>
          </a:xfrm>
          <a:prstGeom prst="line">
            <a:avLst/>
          </a:prstGeom>
          <a:ln w="38100">
            <a:solidFill>
              <a:schemeClr val="accent1"/>
            </a:solidFill>
            <a:tailEnd type="triangle"/>
          </a:ln>
        </p:spPr>
        <p:txBody>
          <a:bodyPr lIns="45719" rIns="45719"/>
          <a:lstStyle/>
          <a:p>
            <a:pPr/>
          </a:p>
        </p:txBody>
      </p:sp>
      <p:sp>
        <p:nvSpPr>
          <p:cNvPr id="584" name="Connector 23"/>
          <p:cNvSpPr/>
          <p:nvPr/>
        </p:nvSpPr>
        <p:spPr>
          <a:xfrm>
            <a:off x="7315200" y="5029200"/>
            <a:ext cx="548641" cy="0"/>
          </a:xfrm>
          <a:prstGeom prst="line">
            <a:avLst/>
          </a:prstGeom>
          <a:ln w="38100">
            <a:solidFill>
              <a:srgbClr val="767676"/>
            </a:solidFill>
            <a:tailEnd type="triangle"/>
          </a:ln>
        </p:spPr>
        <p:txBody>
          <a:bodyPr lIns="45719" rIns="45719"/>
          <a:lstStyle/>
          <a:p>
            <a:pPr/>
          </a:p>
        </p:txBody>
      </p:sp>
      <p:sp>
        <p:nvSpPr>
          <p:cNvPr id="585" name="TextBox 24"/>
          <p:cNvSpPr txBox="1"/>
          <p:nvPr/>
        </p:nvSpPr>
        <p:spPr>
          <a:xfrm>
            <a:off x="4389120" y="4172510"/>
            <a:ext cx="2651761"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nSpc>
                <a:spcPct val="130000"/>
              </a:lnSpc>
              <a:defRPr sz="1000">
                <a:solidFill>
                  <a:schemeClr val="accent1"/>
                </a:solidFill>
              </a:defRPr>
            </a:lvl1pPr>
          </a:lstStyle>
          <a:p>
            <a:pPr/>
            <a:r>
              <a:t>gRPC / HTTP inference</a:t>
            </a:r>
          </a:p>
        </p:txBody>
      </p:sp>
      <p:sp>
        <p:nvSpPr>
          <p:cNvPr id="586" name="TextBox 25"/>
          <p:cNvSpPr txBox="1"/>
          <p:nvPr/>
        </p:nvSpPr>
        <p:spPr>
          <a:xfrm>
            <a:off x="3452931" y="5029200"/>
            <a:ext cx="1280161" cy="2438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000">
                <a:solidFill>
                  <a:schemeClr val="accent1"/>
                </a:solidFill>
              </a:defRPr>
            </a:lvl1pPr>
          </a:lstStyle>
          <a:p>
            <a:pPr/>
            <a:r>
              <a:t>CAMARA</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90" name="Title 1"/>
          <p:cNvSpPr txBox="1"/>
          <p:nvPr>
            <p:ph type="title"/>
          </p:nvPr>
        </p:nvSpPr>
        <p:spPr>
          <a:xfrm>
            <a:off x="479423" y="476250"/>
            <a:ext cx="9764188" cy="1081088"/>
          </a:xfrm>
          <a:prstGeom prst="rect">
            <a:avLst/>
          </a:prstGeom>
        </p:spPr>
        <p:txBody>
          <a:bodyPr/>
          <a:lstStyle/>
          <a:p>
            <a:pPr>
              <a:defRPr spc="-200">
                <a:solidFill>
                  <a:srgbClr val="000000"/>
                </a:solidFill>
              </a:defRPr>
            </a:pPr>
            <a:r>
              <a:t>Our CAMARA-inspired  API Lifecycle</a:t>
            </a:r>
          </a:p>
          <a:p>
            <a:pPr>
              <a:defRPr spc="-140" sz="2800">
                <a:solidFill>
                  <a:srgbClr val="000000"/>
                </a:solidFill>
              </a:defRPr>
            </a:pPr>
            <a:r>
              <a:t>Done using a NEF-Shim (Open5Gs lacks NEF)</a:t>
            </a:r>
          </a:p>
        </p:txBody>
      </p:sp>
      <p:grpSp>
        <p:nvGrpSpPr>
          <p:cNvPr id="593" name="Rounded Rectangle 2"/>
          <p:cNvGrpSpPr/>
          <p:nvPr/>
        </p:nvGrpSpPr>
        <p:grpSpPr>
          <a:xfrm>
            <a:off x="640080" y="1828800"/>
            <a:ext cx="3474721" cy="914400"/>
            <a:chOff x="0" y="0"/>
            <a:chExt cx="3474720" cy="914400"/>
          </a:xfrm>
        </p:grpSpPr>
        <p:sp>
          <p:nvSpPr>
            <p:cNvPr id="591" name="Rounded Rectangle"/>
            <p:cNvSpPr/>
            <p:nvPr/>
          </p:nvSpPr>
          <p:spPr>
            <a:xfrm>
              <a:off x="0" y="0"/>
              <a:ext cx="3474721" cy="914400"/>
            </a:xfrm>
            <a:prstGeom prst="roundRect">
              <a:avLst>
                <a:gd name="adj" fmla="val 16667"/>
              </a:avLst>
            </a:prstGeom>
            <a:solidFill>
              <a:srgbClr val="D6E2F5"/>
            </a:solidFill>
            <a:ln w="19050" cap="flat">
              <a:solidFill>
                <a:schemeClr val="accent1"/>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592" name="1. Edge Discovery"/>
            <p:cNvSpPr txBox="1"/>
            <p:nvPr/>
          </p:nvSpPr>
          <p:spPr>
            <a:xfrm>
              <a:off x="99881" y="271779"/>
              <a:ext cx="3274957" cy="370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a:solidFill>
                    <a:schemeClr val="accent1"/>
                  </a:solidFill>
                  <a:latin typeface="Ericsson Hilda Bold"/>
                  <a:ea typeface="Ericsson Hilda Bold"/>
                  <a:cs typeface="Ericsson Hilda Bold"/>
                  <a:sym typeface="Ericsson Hilda Bold"/>
                </a:defRPr>
              </a:lvl1pPr>
            </a:lstStyle>
            <a:p>
              <a:pPr/>
              <a:r>
                <a:t>1. Edge Discovery</a:t>
              </a:r>
            </a:p>
          </p:txBody>
        </p:sp>
      </p:grpSp>
      <p:sp>
        <p:nvSpPr>
          <p:cNvPr id="594" name="TextBox 3"/>
          <p:cNvSpPr txBox="1"/>
          <p:nvPr/>
        </p:nvSpPr>
        <p:spPr>
          <a:xfrm>
            <a:off x="868680" y="2834639"/>
            <a:ext cx="3017521" cy="294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400">
                <a:solidFill>
                  <a:srgbClr val="242424"/>
                </a:solidFill>
                <a:latin typeface="Courier New"/>
                <a:ea typeface="Courier New"/>
                <a:cs typeface="Courier New"/>
                <a:sym typeface="Courier New"/>
              </a:defRPr>
            </a:lvl1pPr>
          </a:lstStyle>
          <a:p>
            <a:pPr/>
            <a:r>
              <a:t>GET /edge-cloud-zones</a:t>
            </a:r>
          </a:p>
        </p:txBody>
      </p:sp>
      <p:sp>
        <p:nvSpPr>
          <p:cNvPr id="595" name="TextBox 4"/>
          <p:cNvSpPr txBox="1"/>
          <p:nvPr/>
        </p:nvSpPr>
        <p:spPr>
          <a:xfrm>
            <a:off x="868680" y="3200400"/>
            <a:ext cx="3017521" cy="61722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30000"/>
              </a:lnSpc>
              <a:defRPr sz="1500">
                <a:solidFill>
                  <a:srgbClr val="242424"/>
                </a:solidFill>
              </a:defRPr>
            </a:pPr>
            <a:r>
              <a:t>Find available GPU zones</a:t>
            </a:r>
            <a:endParaRPr>
              <a:solidFill>
                <a:srgbClr val="000000"/>
              </a:solidFill>
            </a:endParaRPr>
          </a:p>
          <a:p>
            <a:pPr>
              <a:lnSpc>
                <a:spcPct val="130000"/>
              </a:lnSpc>
              <a:defRPr sz="1500">
                <a:solidFill>
                  <a:srgbClr val="242424"/>
                </a:solidFill>
              </a:defRPr>
            </a:pPr>
            <a:r>
              <a:t>near the UE</a:t>
            </a:r>
          </a:p>
        </p:txBody>
      </p:sp>
      <p:sp>
        <p:nvSpPr>
          <p:cNvPr id="596" name="Connector 5"/>
          <p:cNvSpPr/>
          <p:nvPr/>
        </p:nvSpPr>
        <p:spPr>
          <a:xfrm>
            <a:off x="4144708" y="2286000"/>
            <a:ext cx="305944" cy="0"/>
          </a:xfrm>
          <a:prstGeom prst="line">
            <a:avLst/>
          </a:prstGeom>
          <a:ln w="38100">
            <a:solidFill>
              <a:schemeClr val="accent1"/>
            </a:solidFill>
            <a:tailEnd type="triangle"/>
          </a:ln>
        </p:spPr>
        <p:txBody>
          <a:bodyPr lIns="45719" rIns="45719"/>
          <a:lstStyle/>
          <a:p>
            <a:pPr/>
          </a:p>
        </p:txBody>
      </p:sp>
      <p:grpSp>
        <p:nvGrpSpPr>
          <p:cNvPr id="599" name="Rounded Rectangle 6"/>
          <p:cNvGrpSpPr/>
          <p:nvPr/>
        </p:nvGrpSpPr>
        <p:grpSpPr>
          <a:xfrm>
            <a:off x="4480559" y="1828800"/>
            <a:ext cx="3474721" cy="914400"/>
            <a:chOff x="0" y="0"/>
            <a:chExt cx="3474720" cy="914400"/>
          </a:xfrm>
        </p:grpSpPr>
        <p:sp>
          <p:nvSpPr>
            <p:cNvPr id="597" name="Rounded Rectangle"/>
            <p:cNvSpPr/>
            <p:nvPr/>
          </p:nvSpPr>
          <p:spPr>
            <a:xfrm>
              <a:off x="0" y="0"/>
              <a:ext cx="3474721" cy="914400"/>
            </a:xfrm>
            <a:prstGeom prst="roundRect">
              <a:avLst>
                <a:gd name="adj" fmla="val 16667"/>
              </a:avLst>
            </a:prstGeom>
            <a:solidFill>
              <a:srgbClr val="D6E2F5"/>
            </a:solidFill>
            <a:ln w="19050" cap="flat">
              <a:solidFill>
                <a:schemeClr val="accent1"/>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598" name="2. App Management"/>
            <p:cNvSpPr txBox="1"/>
            <p:nvPr/>
          </p:nvSpPr>
          <p:spPr>
            <a:xfrm>
              <a:off x="99881" y="271779"/>
              <a:ext cx="3274957" cy="370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a:solidFill>
                    <a:schemeClr val="accent1"/>
                  </a:solidFill>
                  <a:latin typeface="Ericsson Hilda Bold"/>
                  <a:ea typeface="Ericsson Hilda Bold"/>
                  <a:cs typeface="Ericsson Hilda Bold"/>
                  <a:sym typeface="Ericsson Hilda Bold"/>
                </a:defRPr>
              </a:lvl1pPr>
            </a:lstStyle>
            <a:p>
              <a:pPr/>
              <a:r>
                <a:t>2. App Management</a:t>
              </a:r>
            </a:p>
          </p:txBody>
        </p:sp>
      </p:grpSp>
      <p:sp>
        <p:nvSpPr>
          <p:cNvPr id="600" name="TextBox 7"/>
          <p:cNvSpPr txBox="1"/>
          <p:nvPr/>
        </p:nvSpPr>
        <p:spPr>
          <a:xfrm>
            <a:off x="4709160" y="2834639"/>
            <a:ext cx="3017521" cy="294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400">
                <a:solidFill>
                  <a:srgbClr val="242424"/>
                </a:solidFill>
                <a:latin typeface="Courier New"/>
                <a:ea typeface="Courier New"/>
                <a:cs typeface="Courier New"/>
                <a:sym typeface="Courier New"/>
              </a:defRPr>
            </a:lvl1pPr>
          </a:lstStyle>
          <a:p>
            <a:pPr/>
            <a:r>
              <a:t>POST /app-instances</a:t>
            </a:r>
          </a:p>
        </p:txBody>
      </p:sp>
      <p:sp>
        <p:nvSpPr>
          <p:cNvPr id="601" name="TextBox 8"/>
          <p:cNvSpPr txBox="1"/>
          <p:nvPr/>
        </p:nvSpPr>
        <p:spPr>
          <a:xfrm>
            <a:off x="4709160" y="3200400"/>
            <a:ext cx="3017521" cy="61722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30000"/>
              </a:lnSpc>
              <a:defRPr sz="1500">
                <a:solidFill>
                  <a:srgbClr val="242424"/>
                </a:solidFill>
              </a:defRPr>
            </a:pPr>
            <a:r>
              <a:t>Deploy containerized</a:t>
            </a:r>
            <a:endParaRPr>
              <a:solidFill>
                <a:srgbClr val="000000"/>
              </a:solidFill>
            </a:endParaRPr>
          </a:p>
          <a:p>
            <a:pPr>
              <a:lnSpc>
                <a:spcPct val="130000"/>
              </a:lnSpc>
              <a:defRPr sz="1500">
                <a:solidFill>
                  <a:srgbClr val="242424"/>
                </a:solidFill>
              </a:defRPr>
            </a:pPr>
            <a:r>
              <a:t>inference workload</a:t>
            </a:r>
          </a:p>
        </p:txBody>
      </p:sp>
      <p:sp>
        <p:nvSpPr>
          <p:cNvPr id="602" name="Connector 9"/>
          <p:cNvSpPr/>
          <p:nvPr/>
        </p:nvSpPr>
        <p:spPr>
          <a:xfrm>
            <a:off x="7974000" y="2286000"/>
            <a:ext cx="328320" cy="0"/>
          </a:xfrm>
          <a:prstGeom prst="line">
            <a:avLst/>
          </a:prstGeom>
          <a:ln w="38100">
            <a:solidFill>
              <a:schemeClr val="accent1"/>
            </a:solidFill>
            <a:tailEnd type="triangle"/>
          </a:ln>
        </p:spPr>
        <p:txBody>
          <a:bodyPr lIns="45719" rIns="45719"/>
          <a:lstStyle/>
          <a:p>
            <a:pPr/>
          </a:p>
        </p:txBody>
      </p:sp>
      <p:grpSp>
        <p:nvGrpSpPr>
          <p:cNvPr id="605" name="Rounded Rectangle 10"/>
          <p:cNvGrpSpPr/>
          <p:nvPr/>
        </p:nvGrpSpPr>
        <p:grpSpPr>
          <a:xfrm>
            <a:off x="8321040" y="1828800"/>
            <a:ext cx="3474721" cy="914400"/>
            <a:chOff x="0" y="0"/>
            <a:chExt cx="3474720" cy="914400"/>
          </a:xfrm>
        </p:grpSpPr>
        <p:sp>
          <p:nvSpPr>
            <p:cNvPr id="603" name="Rounded Rectangle"/>
            <p:cNvSpPr/>
            <p:nvPr/>
          </p:nvSpPr>
          <p:spPr>
            <a:xfrm>
              <a:off x="0" y="0"/>
              <a:ext cx="3474721" cy="914400"/>
            </a:xfrm>
            <a:prstGeom prst="roundRect">
              <a:avLst>
                <a:gd name="adj" fmla="val 16667"/>
              </a:avLst>
            </a:prstGeom>
            <a:solidFill>
              <a:srgbClr val="D6E2F5"/>
            </a:solidFill>
            <a:ln w="19050" cap="flat">
              <a:solidFill>
                <a:schemeClr val="accent1"/>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604" name="3. Endpoint Discovery"/>
            <p:cNvSpPr txBox="1"/>
            <p:nvPr/>
          </p:nvSpPr>
          <p:spPr>
            <a:xfrm>
              <a:off x="99881" y="271779"/>
              <a:ext cx="3274957" cy="370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a:solidFill>
                    <a:schemeClr val="accent1"/>
                  </a:solidFill>
                  <a:latin typeface="Ericsson Hilda Bold"/>
                  <a:ea typeface="Ericsson Hilda Bold"/>
                  <a:cs typeface="Ericsson Hilda Bold"/>
                  <a:sym typeface="Ericsson Hilda Bold"/>
                </a:defRPr>
              </a:lvl1pPr>
            </a:lstStyle>
            <a:p>
              <a:pPr/>
              <a:r>
                <a:t>3. Endpoint Discovery</a:t>
              </a:r>
            </a:p>
          </p:txBody>
        </p:sp>
      </p:grpSp>
      <p:sp>
        <p:nvSpPr>
          <p:cNvPr id="606" name="TextBox 11"/>
          <p:cNvSpPr txBox="1"/>
          <p:nvPr/>
        </p:nvSpPr>
        <p:spPr>
          <a:xfrm>
            <a:off x="8549640" y="2847248"/>
            <a:ext cx="3017521" cy="294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400">
                <a:solidFill>
                  <a:srgbClr val="242424"/>
                </a:solidFill>
                <a:latin typeface="Courier New"/>
                <a:ea typeface="Courier New"/>
                <a:cs typeface="Courier New"/>
                <a:sym typeface="Courier New"/>
              </a:defRPr>
            </a:lvl1pPr>
          </a:lstStyle>
          <a:p>
            <a:pPr/>
            <a:r>
              <a:t>GET /endpoints</a:t>
            </a:r>
          </a:p>
        </p:txBody>
      </p:sp>
      <p:sp>
        <p:nvSpPr>
          <p:cNvPr id="607" name="TextBox 12"/>
          <p:cNvSpPr txBox="1"/>
          <p:nvPr/>
        </p:nvSpPr>
        <p:spPr>
          <a:xfrm>
            <a:off x="8549640" y="3213008"/>
            <a:ext cx="3017521" cy="61722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30000"/>
              </a:lnSpc>
              <a:defRPr sz="1500">
                <a:solidFill>
                  <a:srgbClr val="242424"/>
                </a:solidFill>
              </a:defRPr>
            </a:pPr>
            <a:r>
              <a:t>Get gRPC/HTTP target</a:t>
            </a:r>
            <a:endParaRPr>
              <a:solidFill>
                <a:srgbClr val="000000"/>
              </a:solidFill>
            </a:endParaRPr>
          </a:p>
          <a:p>
            <a:pPr>
              <a:lnSpc>
                <a:spcPct val="130000"/>
              </a:lnSpc>
              <a:defRPr sz="1500">
                <a:solidFill>
                  <a:srgbClr val="242424"/>
                </a:solidFill>
              </a:defRPr>
            </a:pPr>
            <a:r>
              <a:t>for inference</a:t>
            </a:r>
          </a:p>
        </p:txBody>
      </p:sp>
      <p:grpSp>
        <p:nvGrpSpPr>
          <p:cNvPr id="610" name="Rounded Rectangle 13"/>
          <p:cNvGrpSpPr/>
          <p:nvPr/>
        </p:nvGrpSpPr>
        <p:grpSpPr>
          <a:xfrm>
            <a:off x="4480559" y="4640261"/>
            <a:ext cx="3474721" cy="731521"/>
            <a:chOff x="0" y="0"/>
            <a:chExt cx="3474720" cy="731519"/>
          </a:xfrm>
        </p:grpSpPr>
        <p:sp>
          <p:nvSpPr>
            <p:cNvPr id="608" name="Rounded Rectangle"/>
            <p:cNvSpPr/>
            <p:nvPr/>
          </p:nvSpPr>
          <p:spPr>
            <a:xfrm>
              <a:off x="0" y="0"/>
              <a:ext cx="3474721" cy="731520"/>
            </a:xfrm>
            <a:prstGeom prst="roundRect">
              <a:avLst>
                <a:gd name="adj" fmla="val 16667"/>
              </a:avLst>
            </a:prstGeom>
            <a:solidFill>
              <a:srgbClr val="FFFFFF"/>
            </a:solidFill>
            <a:ln w="19050" cap="flat">
              <a:solidFill>
                <a:schemeClr val="accent6"/>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609" name="4. Teardown"/>
            <p:cNvSpPr txBox="1"/>
            <p:nvPr/>
          </p:nvSpPr>
          <p:spPr>
            <a:xfrm>
              <a:off x="90954" y="180339"/>
              <a:ext cx="3292811" cy="370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a:solidFill>
                    <a:schemeClr val="accent6"/>
                  </a:solidFill>
                  <a:latin typeface="Ericsson Hilda Bold"/>
                  <a:ea typeface="Ericsson Hilda Bold"/>
                  <a:cs typeface="Ericsson Hilda Bold"/>
                  <a:sym typeface="Ericsson Hilda Bold"/>
                </a:defRPr>
              </a:lvl1pPr>
            </a:lstStyle>
            <a:p>
              <a:pPr/>
              <a:r>
                <a:t>4. Teardown</a:t>
              </a:r>
            </a:p>
          </p:txBody>
        </p:sp>
      </p:grpSp>
      <p:sp>
        <p:nvSpPr>
          <p:cNvPr id="611" name="TextBox 14"/>
          <p:cNvSpPr txBox="1"/>
          <p:nvPr/>
        </p:nvSpPr>
        <p:spPr>
          <a:xfrm>
            <a:off x="4709160" y="5463221"/>
            <a:ext cx="3017521" cy="294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400">
                <a:solidFill>
                  <a:srgbClr val="242424"/>
                </a:solidFill>
                <a:latin typeface="Courier New"/>
                <a:ea typeface="Courier New"/>
                <a:cs typeface="Courier New"/>
                <a:sym typeface="Courier New"/>
              </a:defRPr>
            </a:lvl1pPr>
          </a:lstStyle>
          <a:p>
            <a:pPr/>
            <a:r>
              <a:t>DELETE /app-instances/{id}</a:t>
            </a:r>
          </a:p>
        </p:txBody>
      </p:sp>
      <p:sp>
        <p:nvSpPr>
          <p:cNvPr id="612" name="TextBox 15"/>
          <p:cNvSpPr txBox="1"/>
          <p:nvPr/>
        </p:nvSpPr>
        <p:spPr>
          <a:xfrm>
            <a:off x="4709160" y="5828981"/>
            <a:ext cx="2773680" cy="61722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30000"/>
              </a:lnSpc>
              <a:defRPr sz="1500">
                <a:solidFill>
                  <a:srgbClr val="242424"/>
                </a:solidFill>
              </a:defRPr>
            </a:pPr>
            <a:r>
              <a:t>Remove all edge resources</a:t>
            </a:r>
            <a:endParaRPr>
              <a:solidFill>
                <a:srgbClr val="000000"/>
              </a:solidFill>
            </a:endParaRPr>
          </a:p>
          <a:p>
            <a:pPr>
              <a:lnSpc>
                <a:spcPct val="130000"/>
              </a:lnSpc>
              <a:defRPr sz="1500">
                <a:solidFill>
                  <a:srgbClr val="242424"/>
                </a:solidFill>
              </a:defRPr>
            </a:pPr>
            <a:r>
              <a:t>on quit</a:t>
            </a:r>
          </a:p>
        </p:txBody>
      </p:sp>
      <p:sp>
        <p:nvSpPr>
          <p:cNvPr id="613" name="Connector 16"/>
          <p:cNvSpPr/>
          <p:nvPr/>
        </p:nvSpPr>
        <p:spPr>
          <a:xfrm>
            <a:off x="3253146" y="5006021"/>
            <a:ext cx="1088386" cy="1"/>
          </a:xfrm>
          <a:prstGeom prst="line">
            <a:avLst/>
          </a:prstGeom>
          <a:ln w="38100">
            <a:solidFill>
              <a:schemeClr val="accent6"/>
            </a:solidFill>
            <a:tailEnd type="triangle"/>
          </a:ln>
        </p:spPr>
        <p:txBody>
          <a:bodyPr lIns="45719" rIns="45719"/>
          <a:lstStyle/>
          <a:p>
            <a:pP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17" name="Title 1"/>
          <p:cNvSpPr txBox="1"/>
          <p:nvPr>
            <p:ph type="title"/>
          </p:nvPr>
        </p:nvSpPr>
        <p:spPr>
          <a:prstGeom prst="rect">
            <a:avLst/>
          </a:prstGeom>
        </p:spPr>
        <p:txBody>
          <a:bodyPr/>
          <a:lstStyle>
            <a:lvl1pPr>
              <a:defRPr spc="-200">
                <a:solidFill>
                  <a:srgbClr val="000000"/>
                </a:solidFill>
              </a:defRPr>
            </a:lvl1pPr>
          </a:lstStyle>
          <a:p>
            <a:pPr/>
            <a:r>
              <a:t>CAMARA Edge Cloud — Specification State</a:t>
            </a:r>
          </a:p>
        </p:txBody>
      </p:sp>
      <p:grpSp>
        <p:nvGrpSpPr>
          <p:cNvPr id="620" name="Rectangle 2"/>
          <p:cNvGrpSpPr/>
          <p:nvPr/>
        </p:nvGrpSpPr>
        <p:grpSpPr>
          <a:xfrm>
            <a:off x="457200" y="1828799"/>
            <a:ext cx="2743200" cy="411482"/>
            <a:chOff x="0" y="0"/>
            <a:chExt cx="2743200" cy="411480"/>
          </a:xfrm>
        </p:grpSpPr>
        <p:sp>
          <p:nvSpPr>
            <p:cNvPr id="618" name="Rectangle"/>
            <p:cNvSpPr/>
            <p:nvPr/>
          </p:nvSpPr>
          <p:spPr>
            <a:xfrm>
              <a:off x="0" y="-1"/>
              <a:ext cx="2743200" cy="411482"/>
            </a:xfrm>
            <a:prstGeom prst="rect">
              <a:avLst/>
            </a:prstGeom>
            <a:solidFill>
              <a:schemeClr val="accent1"/>
            </a:solidFill>
            <a:ln w="19050" cap="flat">
              <a:solidFill>
                <a:schemeClr val="accent1"/>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619" name="Sub-project"/>
            <p:cNvSpPr txBox="1"/>
            <p:nvPr/>
          </p:nvSpPr>
          <p:spPr>
            <a:xfrm>
              <a:off x="55244" y="77470"/>
              <a:ext cx="2632712" cy="256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100">
                  <a:solidFill>
                    <a:srgbClr val="FFFFFF"/>
                  </a:solidFill>
                  <a:latin typeface="Ericsson Hilda Bold"/>
                  <a:ea typeface="Ericsson Hilda Bold"/>
                  <a:cs typeface="Ericsson Hilda Bold"/>
                  <a:sym typeface="Ericsson Hilda Bold"/>
                </a:defRPr>
              </a:lvl1pPr>
            </a:lstStyle>
            <a:p>
              <a:pPr/>
              <a:r>
                <a:t>Sub-project</a:t>
              </a:r>
            </a:p>
          </p:txBody>
        </p:sp>
      </p:grpSp>
      <p:grpSp>
        <p:nvGrpSpPr>
          <p:cNvPr id="623" name="Rectangle 3"/>
          <p:cNvGrpSpPr/>
          <p:nvPr/>
        </p:nvGrpSpPr>
        <p:grpSpPr>
          <a:xfrm>
            <a:off x="3200399" y="1828799"/>
            <a:ext cx="3931922" cy="411482"/>
            <a:chOff x="0" y="0"/>
            <a:chExt cx="3931920" cy="411480"/>
          </a:xfrm>
        </p:grpSpPr>
        <p:sp>
          <p:nvSpPr>
            <p:cNvPr id="621" name="Rectangle"/>
            <p:cNvSpPr/>
            <p:nvPr/>
          </p:nvSpPr>
          <p:spPr>
            <a:xfrm>
              <a:off x="-1" y="-1"/>
              <a:ext cx="3931922" cy="411482"/>
            </a:xfrm>
            <a:prstGeom prst="rect">
              <a:avLst/>
            </a:prstGeom>
            <a:solidFill>
              <a:schemeClr val="accent1"/>
            </a:solidFill>
            <a:ln w="19050" cap="flat">
              <a:solidFill>
                <a:schemeClr val="accent1"/>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622" name="Repo"/>
            <p:cNvSpPr txBox="1"/>
            <p:nvPr/>
          </p:nvSpPr>
          <p:spPr>
            <a:xfrm>
              <a:off x="55244" y="77470"/>
              <a:ext cx="3821431" cy="256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100">
                  <a:solidFill>
                    <a:srgbClr val="FFFFFF"/>
                  </a:solidFill>
                  <a:latin typeface="Ericsson Hilda Bold"/>
                  <a:ea typeface="Ericsson Hilda Bold"/>
                  <a:cs typeface="Ericsson Hilda Bold"/>
                  <a:sym typeface="Ericsson Hilda Bold"/>
                </a:defRPr>
              </a:lvl1pPr>
            </a:lstStyle>
            <a:p>
              <a:pPr/>
              <a:r>
                <a:t>Repo</a:t>
              </a:r>
            </a:p>
          </p:txBody>
        </p:sp>
      </p:grpSp>
      <p:grpSp>
        <p:nvGrpSpPr>
          <p:cNvPr id="626" name="Rectangle 4"/>
          <p:cNvGrpSpPr/>
          <p:nvPr/>
        </p:nvGrpSpPr>
        <p:grpSpPr>
          <a:xfrm>
            <a:off x="7132319" y="1828799"/>
            <a:ext cx="1737361" cy="411482"/>
            <a:chOff x="0" y="0"/>
            <a:chExt cx="1737360" cy="411480"/>
          </a:xfrm>
        </p:grpSpPr>
        <p:sp>
          <p:nvSpPr>
            <p:cNvPr id="624" name="Rectangle"/>
            <p:cNvSpPr/>
            <p:nvPr/>
          </p:nvSpPr>
          <p:spPr>
            <a:xfrm>
              <a:off x="-1" y="-1"/>
              <a:ext cx="1737362" cy="411482"/>
            </a:xfrm>
            <a:prstGeom prst="rect">
              <a:avLst/>
            </a:prstGeom>
            <a:solidFill>
              <a:schemeClr val="accent1"/>
            </a:solidFill>
            <a:ln w="19050" cap="flat">
              <a:solidFill>
                <a:schemeClr val="accent1"/>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625" name="Version"/>
            <p:cNvSpPr txBox="1"/>
            <p:nvPr/>
          </p:nvSpPr>
          <p:spPr>
            <a:xfrm>
              <a:off x="55244" y="77470"/>
              <a:ext cx="1626872" cy="256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100">
                  <a:solidFill>
                    <a:srgbClr val="FFFFFF"/>
                  </a:solidFill>
                  <a:latin typeface="Ericsson Hilda Bold"/>
                  <a:ea typeface="Ericsson Hilda Bold"/>
                  <a:cs typeface="Ericsson Hilda Bold"/>
                  <a:sym typeface="Ericsson Hilda Bold"/>
                </a:defRPr>
              </a:lvl1pPr>
            </a:lstStyle>
            <a:p>
              <a:pPr/>
              <a:r>
                <a:t>Version</a:t>
              </a:r>
            </a:p>
          </p:txBody>
        </p:sp>
      </p:grpSp>
      <p:grpSp>
        <p:nvGrpSpPr>
          <p:cNvPr id="629" name="Rectangle 5"/>
          <p:cNvGrpSpPr/>
          <p:nvPr/>
        </p:nvGrpSpPr>
        <p:grpSpPr>
          <a:xfrm>
            <a:off x="8961119" y="1828799"/>
            <a:ext cx="2286001" cy="411482"/>
            <a:chOff x="0" y="0"/>
            <a:chExt cx="2286000" cy="411480"/>
          </a:xfrm>
        </p:grpSpPr>
        <p:sp>
          <p:nvSpPr>
            <p:cNvPr id="627" name="Rectangle"/>
            <p:cNvSpPr/>
            <p:nvPr/>
          </p:nvSpPr>
          <p:spPr>
            <a:xfrm>
              <a:off x="0" y="-1"/>
              <a:ext cx="2286000" cy="411482"/>
            </a:xfrm>
            <a:prstGeom prst="rect">
              <a:avLst/>
            </a:prstGeom>
            <a:solidFill>
              <a:schemeClr val="accent1"/>
            </a:solidFill>
            <a:ln w="19050" cap="flat">
              <a:solidFill>
                <a:schemeClr val="accent1"/>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628" name="Maturity"/>
            <p:cNvSpPr txBox="1"/>
            <p:nvPr/>
          </p:nvSpPr>
          <p:spPr>
            <a:xfrm>
              <a:off x="55244" y="77470"/>
              <a:ext cx="2175512" cy="256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100">
                  <a:solidFill>
                    <a:srgbClr val="FFFFFF"/>
                  </a:solidFill>
                  <a:latin typeface="Ericsson Hilda Bold"/>
                  <a:ea typeface="Ericsson Hilda Bold"/>
                  <a:cs typeface="Ericsson Hilda Bold"/>
                  <a:sym typeface="Ericsson Hilda Bold"/>
                </a:defRPr>
              </a:lvl1pPr>
            </a:lstStyle>
            <a:p>
              <a:pPr/>
              <a:r>
                <a:t>Maturity</a:t>
              </a:r>
            </a:p>
          </p:txBody>
        </p:sp>
      </p:grpSp>
      <p:grpSp>
        <p:nvGrpSpPr>
          <p:cNvPr id="632" name="Rectangle 6"/>
          <p:cNvGrpSpPr/>
          <p:nvPr/>
        </p:nvGrpSpPr>
        <p:grpSpPr>
          <a:xfrm>
            <a:off x="457200" y="2285999"/>
            <a:ext cx="2743200" cy="411482"/>
            <a:chOff x="0" y="0"/>
            <a:chExt cx="2743200" cy="411480"/>
          </a:xfrm>
        </p:grpSpPr>
        <p:sp>
          <p:nvSpPr>
            <p:cNvPr id="630" name="Rectangle"/>
            <p:cNvSpPr/>
            <p:nvPr/>
          </p:nvSpPr>
          <p:spPr>
            <a:xfrm>
              <a:off x="0" y="-1"/>
              <a:ext cx="2743200" cy="411482"/>
            </a:xfrm>
            <a:prstGeom prst="rect">
              <a:avLst/>
            </a:prstGeom>
            <a:solidFill>
              <a:srgbClr val="FFFFFF"/>
            </a:solidFill>
            <a:ln w="19050" cap="flat">
              <a:solidFill>
                <a:srgbClr val="E0E0E0"/>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631" name="Simple Edge Discovery"/>
            <p:cNvSpPr txBox="1"/>
            <p:nvPr/>
          </p:nvSpPr>
          <p:spPr>
            <a:xfrm>
              <a:off x="55244" y="83820"/>
              <a:ext cx="2632712"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000">
                  <a:solidFill>
                    <a:srgbClr val="242424"/>
                  </a:solidFill>
                </a:defRPr>
              </a:lvl1pPr>
            </a:lstStyle>
            <a:p>
              <a:pPr/>
              <a:r>
                <a:t>Simple Edge Discovery</a:t>
              </a:r>
            </a:p>
          </p:txBody>
        </p:sp>
      </p:grpSp>
      <p:grpSp>
        <p:nvGrpSpPr>
          <p:cNvPr id="635" name="Rectangle 7"/>
          <p:cNvGrpSpPr/>
          <p:nvPr/>
        </p:nvGrpSpPr>
        <p:grpSpPr>
          <a:xfrm>
            <a:off x="3200399" y="2285999"/>
            <a:ext cx="3931922" cy="411482"/>
            <a:chOff x="0" y="0"/>
            <a:chExt cx="3931920" cy="411480"/>
          </a:xfrm>
        </p:grpSpPr>
        <p:sp>
          <p:nvSpPr>
            <p:cNvPr id="633" name="Rectangle"/>
            <p:cNvSpPr/>
            <p:nvPr/>
          </p:nvSpPr>
          <p:spPr>
            <a:xfrm>
              <a:off x="-1" y="-1"/>
              <a:ext cx="3931922" cy="411482"/>
            </a:xfrm>
            <a:prstGeom prst="rect">
              <a:avLst/>
            </a:prstGeom>
            <a:solidFill>
              <a:srgbClr val="FFFFFF"/>
            </a:solidFill>
            <a:ln w="19050" cap="flat">
              <a:solidFill>
                <a:srgbClr val="E0E0E0"/>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634" name="camaraproject/SimpleEdgeDiscovery"/>
            <p:cNvSpPr txBox="1"/>
            <p:nvPr/>
          </p:nvSpPr>
          <p:spPr>
            <a:xfrm>
              <a:off x="55244" y="90170"/>
              <a:ext cx="3821431" cy="2311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000">
                  <a:solidFill>
                    <a:srgbClr val="242424"/>
                  </a:solidFill>
                  <a:latin typeface="Courier New"/>
                  <a:ea typeface="Courier New"/>
                  <a:cs typeface="Courier New"/>
                  <a:sym typeface="Courier New"/>
                </a:defRPr>
              </a:lvl1pPr>
            </a:lstStyle>
            <a:p>
              <a:pPr/>
              <a:r>
                <a:t>camaraproject/SimpleEdgeDiscovery</a:t>
              </a:r>
            </a:p>
          </p:txBody>
        </p:sp>
      </p:grpSp>
      <p:grpSp>
        <p:nvGrpSpPr>
          <p:cNvPr id="638" name="Rectangle 8"/>
          <p:cNvGrpSpPr/>
          <p:nvPr/>
        </p:nvGrpSpPr>
        <p:grpSpPr>
          <a:xfrm>
            <a:off x="7132319" y="2285999"/>
            <a:ext cx="1737361" cy="411482"/>
            <a:chOff x="0" y="0"/>
            <a:chExt cx="1737360" cy="411480"/>
          </a:xfrm>
        </p:grpSpPr>
        <p:sp>
          <p:nvSpPr>
            <p:cNvPr id="636" name="Rectangle"/>
            <p:cNvSpPr/>
            <p:nvPr/>
          </p:nvSpPr>
          <p:spPr>
            <a:xfrm>
              <a:off x="-1" y="-1"/>
              <a:ext cx="1737362" cy="411482"/>
            </a:xfrm>
            <a:prstGeom prst="rect">
              <a:avLst/>
            </a:prstGeom>
            <a:solidFill>
              <a:srgbClr val="FFFFFF"/>
            </a:solidFill>
            <a:ln w="19050" cap="flat">
              <a:solidFill>
                <a:srgbClr val="E0E0E0"/>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637" name="v2.0.1"/>
            <p:cNvSpPr txBox="1"/>
            <p:nvPr/>
          </p:nvSpPr>
          <p:spPr>
            <a:xfrm>
              <a:off x="55244" y="83820"/>
              <a:ext cx="1626872"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000">
                  <a:solidFill>
                    <a:srgbClr val="242424"/>
                  </a:solidFill>
                </a:defRPr>
              </a:lvl1pPr>
            </a:lstStyle>
            <a:p>
              <a:pPr/>
              <a:r>
                <a:t>v2.0.1</a:t>
              </a:r>
            </a:p>
          </p:txBody>
        </p:sp>
      </p:grpSp>
      <p:grpSp>
        <p:nvGrpSpPr>
          <p:cNvPr id="641" name="Rectangle 9"/>
          <p:cNvGrpSpPr/>
          <p:nvPr/>
        </p:nvGrpSpPr>
        <p:grpSpPr>
          <a:xfrm>
            <a:off x="8961119" y="2285999"/>
            <a:ext cx="2286001" cy="411482"/>
            <a:chOff x="0" y="0"/>
            <a:chExt cx="2286000" cy="411480"/>
          </a:xfrm>
        </p:grpSpPr>
        <p:sp>
          <p:nvSpPr>
            <p:cNvPr id="639" name="Rectangle"/>
            <p:cNvSpPr/>
            <p:nvPr/>
          </p:nvSpPr>
          <p:spPr>
            <a:xfrm>
              <a:off x="0" y="-1"/>
              <a:ext cx="2286000" cy="411482"/>
            </a:xfrm>
            <a:prstGeom prst="rect">
              <a:avLst/>
            </a:prstGeom>
            <a:solidFill>
              <a:srgbClr val="FFFFFF"/>
            </a:solidFill>
            <a:ln w="19050" cap="flat">
              <a:solidFill>
                <a:srgbClr val="E0E0E0"/>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640" name="Stable (r2.3)"/>
            <p:cNvSpPr txBox="1"/>
            <p:nvPr/>
          </p:nvSpPr>
          <p:spPr>
            <a:xfrm>
              <a:off x="55244" y="83820"/>
              <a:ext cx="2175512"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000">
                  <a:solidFill>
                    <a:schemeClr val="accent2"/>
                  </a:solidFill>
                </a:defRPr>
              </a:lvl1pPr>
            </a:lstStyle>
            <a:p>
              <a:pPr/>
              <a:r>
                <a:t>Stable (r2.3)</a:t>
              </a:r>
            </a:p>
          </p:txBody>
        </p:sp>
      </p:grpSp>
      <p:grpSp>
        <p:nvGrpSpPr>
          <p:cNvPr id="644" name="Rectangle 10"/>
          <p:cNvGrpSpPr/>
          <p:nvPr/>
        </p:nvGrpSpPr>
        <p:grpSpPr>
          <a:xfrm>
            <a:off x="457200" y="2743199"/>
            <a:ext cx="2743200" cy="411482"/>
            <a:chOff x="0" y="0"/>
            <a:chExt cx="2743200" cy="411480"/>
          </a:xfrm>
        </p:grpSpPr>
        <p:sp>
          <p:nvSpPr>
            <p:cNvPr id="642" name="Rectangle"/>
            <p:cNvSpPr/>
            <p:nvPr/>
          </p:nvSpPr>
          <p:spPr>
            <a:xfrm>
              <a:off x="0" y="-1"/>
              <a:ext cx="2743200" cy="411482"/>
            </a:xfrm>
            <a:prstGeom prst="rect">
              <a:avLst/>
            </a:prstGeom>
            <a:solidFill>
              <a:srgbClr val="F2F2F2"/>
            </a:solidFill>
            <a:ln w="19050" cap="flat">
              <a:solidFill>
                <a:srgbClr val="E0E0E0"/>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643" name="Traffic Influence"/>
            <p:cNvSpPr txBox="1"/>
            <p:nvPr/>
          </p:nvSpPr>
          <p:spPr>
            <a:xfrm>
              <a:off x="55244" y="83820"/>
              <a:ext cx="2632712"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000">
                  <a:solidFill>
                    <a:srgbClr val="242424"/>
                  </a:solidFill>
                </a:defRPr>
              </a:lvl1pPr>
            </a:lstStyle>
            <a:p>
              <a:pPr/>
              <a:r>
                <a:t>Traffic Influence</a:t>
              </a:r>
            </a:p>
          </p:txBody>
        </p:sp>
      </p:grpSp>
      <p:grpSp>
        <p:nvGrpSpPr>
          <p:cNvPr id="647" name="Rectangle 11"/>
          <p:cNvGrpSpPr/>
          <p:nvPr/>
        </p:nvGrpSpPr>
        <p:grpSpPr>
          <a:xfrm>
            <a:off x="3200399" y="2743199"/>
            <a:ext cx="3931922" cy="411482"/>
            <a:chOff x="0" y="0"/>
            <a:chExt cx="3931920" cy="411480"/>
          </a:xfrm>
        </p:grpSpPr>
        <p:sp>
          <p:nvSpPr>
            <p:cNvPr id="645" name="Rectangle"/>
            <p:cNvSpPr/>
            <p:nvPr/>
          </p:nvSpPr>
          <p:spPr>
            <a:xfrm>
              <a:off x="-1" y="-1"/>
              <a:ext cx="3931922" cy="411482"/>
            </a:xfrm>
            <a:prstGeom prst="rect">
              <a:avLst/>
            </a:prstGeom>
            <a:solidFill>
              <a:srgbClr val="F2F2F2"/>
            </a:solidFill>
            <a:ln w="19050" cap="flat">
              <a:solidFill>
                <a:srgbClr val="E0E0E0"/>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646" name="camaraproject/TrafficInfluence"/>
            <p:cNvSpPr txBox="1"/>
            <p:nvPr/>
          </p:nvSpPr>
          <p:spPr>
            <a:xfrm>
              <a:off x="55244" y="90170"/>
              <a:ext cx="3821431" cy="2311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000">
                  <a:solidFill>
                    <a:srgbClr val="242424"/>
                  </a:solidFill>
                  <a:latin typeface="Courier New"/>
                  <a:ea typeface="Courier New"/>
                  <a:cs typeface="Courier New"/>
                  <a:sym typeface="Courier New"/>
                </a:defRPr>
              </a:lvl1pPr>
            </a:lstStyle>
            <a:p>
              <a:pPr/>
              <a:r>
                <a:t>camaraproject/TrafficInfluence</a:t>
              </a:r>
            </a:p>
          </p:txBody>
        </p:sp>
      </p:grpSp>
      <p:grpSp>
        <p:nvGrpSpPr>
          <p:cNvPr id="650" name="Rectangle 12"/>
          <p:cNvGrpSpPr/>
          <p:nvPr/>
        </p:nvGrpSpPr>
        <p:grpSpPr>
          <a:xfrm>
            <a:off x="7132319" y="2743199"/>
            <a:ext cx="1737361" cy="411482"/>
            <a:chOff x="0" y="0"/>
            <a:chExt cx="1737360" cy="411480"/>
          </a:xfrm>
        </p:grpSpPr>
        <p:sp>
          <p:nvSpPr>
            <p:cNvPr id="648" name="Rectangle"/>
            <p:cNvSpPr/>
            <p:nvPr/>
          </p:nvSpPr>
          <p:spPr>
            <a:xfrm>
              <a:off x="-1" y="-1"/>
              <a:ext cx="1737362" cy="411482"/>
            </a:xfrm>
            <a:prstGeom prst="rect">
              <a:avLst/>
            </a:prstGeom>
            <a:solidFill>
              <a:srgbClr val="F2F2F2"/>
            </a:solidFill>
            <a:ln w="19050" cap="flat">
              <a:solidFill>
                <a:srgbClr val="E0E0E0"/>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649" name="v0.10.0"/>
            <p:cNvSpPr txBox="1"/>
            <p:nvPr/>
          </p:nvSpPr>
          <p:spPr>
            <a:xfrm>
              <a:off x="55244" y="83820"/>
              <a:ext cx="1626872"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000">
                  <a:solidFill>
                    <a:srgbClr val="242424"/>
                  </a:solidFill>
                </a:defRPr>
              </a:lvl1pPr>
            </a:lstStyle>
            <a:p>
              <a:pPr/>
              <a:r>
                <a:t>v0.10.0</a:t>
              </a:r>
            </a:p>
          </p:txBody>
        </p:sp>
      </p:grpSp>
      <p:grpSp>
        <p:nvGrpSpPr>
          <p:cNvPr id="653" name="Rectangle 13"/>
          <p:cNvGrpSpPr/>
          <p:nvPr/>
        </p:nvGrpSpPr>
        <p:grpSpPr>
          <a:xfrm>
            <a:off x="8961119" y="2743199"/>
            <a:ext cx="2286001" cy="411482"/>
            <a:chOff x="0" y="0"/>
            <a:chExt cx="2286000" cy="411480"/>
          </a:xfrm>
        </p:grpSpPr>
        <p:sp>
          <p:nvSpPr>
            <p:cNvPr id="651" name="Rectangle"/>
            <p:cNvSpPr/>
            <p:nvPr/>
          </p:nvSpPr>
          <p:spPr>
            <a:xfrm>
              <a:off x="0" y="-1"/>
              <a:ext cx="2286000" cy="411482"/>
            </a:xfrm>
            <a:prstGeom prst="rect">
              <a:avLst/>
            </a:prstGeom>
            <a:solidFill>
              <a:srgbClr val="F2F2F2"/>
            </a:solidFill>
            <a:ln w="19050" cap="flat">
              <a:solidFill>
                <a:srgbClr val="E0E0E0"/>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652" name="Active"/>
            <p:cNvSpPr txBox="1"/>
            <p:nvPr/>
          </p:nvSpPr>
          <p:spPr>
            <a:xfrm>
              <a:off x="55244" y="83820"/>
              <a:ext cx="2175512"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000">
                  <a:solidFill>
                    <a:srgbClr val="242424"/>
                  </a:solidFill>
                </a:defRPr>
              </a:lvl1pPr>
            </a:lstStyle>
            <a:p>
              <a:pPr/>
              <a:r>
                <a:t>Active</a:t>
              </a:r>
            </a:p>
          </p:txBody>
        </p:sp>
      </p:grpSp>
      <p:grpSp>
        <p:nvGrpSpPr>
          <p:cNvPr id="656" name="Rectangle 14"/>
          <p:cNvGrpSpPr/>
          <p:nvPr/>
        </p:nvGrpSpPr>
        <p:grpSpPr>
          <a:xfrm>
            <a:off x="457200" y="3200399"/>
            <a:ext cx="2743200" cy="411482"/>
            <a:chOff x="0" y="0"/>
            <a:chExt cx="2743200" cy="411480"/>
          </a:xfrm>
        </p:grpSpPr>
        <p:sp>
          <p:nvSpPr>
            <p:cNvPr id="654" name="Rectangle"/>
            <p:cNvSpPr/>
            <p:nvPr/>
          </p:nvSpPr>
          <p:spPr>
            <a:xfrm>
              <a:off x="0" y="-1"/>
              <a:ext cx="2743200" cy="411482"/>
            </a:xfrm>
            <a:prstGeom prst="rect">
              <a:avLst/>
            </a:prstGeom>
            <a:solidFill>
              <a:srgbClr val="FFFFFF"/>
            </a:solidFill>
            <a:ln w="19050" cap="flat">
              <a:solidFill>
                <a:srgbClr val="E0E0E0"/>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655" name="Edge App Management"/>
            <p:cNvSpPr txBox="1"/>
            <p:nvPr/>
          </p:nvSpPr>
          <p:spPr>
            <a:xfrm>
              <a:off x="55244" y="83820"/>
              <a:ext cx="2632712"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000">
                  <a:solidFill>
                    <a:srgbClr val="242424"/>
                  </a:solidFill>
                </a:defRPr>
              </a:lvl1pPr>
            </a:lstStyle>
            <a:p>
              <a:pPr/>
              <a:r>
                <a:t>Edge App Management</a:t>
              </a:r>
            </a:p>
          </p:txBody>
        </p:sp>
      </p:grpSp>
      <p:grpSp>
        <p:nvGrpSpPr>
          <p:cNvPr id="659" name="Rectangle 15"/>
          <p:cNvGrpSpPr/>
          <p:nvPr/>
        </p:nvGrpSpPr>
        <p:grpSpPr>
          <a:xfrm>
            <a:off x="3200399" y="3200399"/>
            <a:ext cx="3931922" cy="411482"/>
            <a:chOff x="0" y="0"/>
            <a:chExt cx="3931920" cy="411480"/>
          </a:xfrm>
        </p:grpSpPr>
        <p:sp>
          <p:nvSpPr>
            <p:cNvPr id="657" name="Rectangle"/>
            <p:cNvSpPr/>
            <p:nvPr/>
          </p:nvSpPr>
          <p:spPr>
            <a:xfrm>
              <a:off x="-1" y="-1"/>
              <a:ext cx="3931922" cy="411482"/>
            </a:xfrm>
            <a:prstGeom prst="rect">
              <a:avLst/>
            </a:prstGeom>
            <a:solidFill>
              <a:srgbClr val="FFFFFF"/>
            </a:solidFill>
            <a:ln w="19050" cap="flat">
              <a:solidFill>
                <a:srgbClr val="E0E0E0"/>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658" name="camaraproject/EdgeApplicationManagement"/>
            <p:cNvSpPr txBox="1"/>
            <p:nvPr/>
          </p:nvSpPr>
          <p:spPr>
            <a:xfrm>
              <a:off x="55244" y="90170"/>
              <a:ext cx="3821431" cy="2311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000">
                  <a:solidFill>
                    <a:srgbClr val="242424"/>
                  </a:solidFill>
                  <a:latin typeface="Courier New"/>
                  <a:ea typeface="Courier New"/>
                  <a:cs typeface="Courier New"/>
                  <a:sym typeface="Courier New"/>
                </a:defRPr>
              </a:lvl1pPr>
            </a:lstStyle>
            <a:p>
              <a:pPr/>
              <a:r>
                <a:t>camaraproject/EdgeApplicationManagement</a:t>
              </a:r>
            </a:p>
          </p:txBody>
        </p:sp>
      </p:grpSp>
      <p:grpSp>
        <p:nvGrpSpPr>
          <p:cNvPr id="662" name="Rectangle 16"/>
          <p:cNvGrpSpPr/>
          <p:nvPr/>
        </p:nvGrpSpPr>
        <p:grpSpPr>
          <a:xfrm>
            <a:off x="7132319" y="3200399"/>
            <a:ext cx="1737361" cy="411482"/>
            <a:chOff x="0" y="0"/>
            <a:chExt cx="1737360" cy="411480"/>
          </a:xfrm>
        </p:grpSpPr>
        <p:sp>
          <p:nvSpPr>
            <p:cNvPr id="660" name="Rectangle"/>
            <p:cNvSpPr/>
            <p:nvPr/>
          </p:nvSpPr>
          <p:spPr>
            <a:xfrm>
              <a:off x="-1" y="-1"/>
              <a:ext cx="1737362" cy="411482"/>
            </a:xfrm>
            <a:prstGeom prst="rect">
              <a:avLst/>
            </a:prstGeom>
            <a:solidFill>
              <a:srgbClr val="FFFFFF"/>
            </a:solidFill>
            <a:ln w="19050" cap="flat">
              <a:solidFill>
                <a:srgbClr val="E0E0E0"/>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661" name="v0.1.0-alpha"/>
            <p:cNvSpPr txBox="1"/>
            <p:nvPr/>
          </p:nvSpPr>
          <p:spPr>
            <a:xfrm>
              <a:off x="55244" y="83820"/>
              <a:ext cx="1626872"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000">
                  <a:solidFill>
                    <a:schemeClr val="accent6"/>
                  </a:solidFill>
                </a:defRPr>
              </a:lvl1pPr>
            </a:lstStyle>
            <a:p>
              <a:pPr/>
              <a:r>
                <a:t>v0.1.0-alpha</a:t>
              </a:r>
            </a:p>
          </p:txBody>
        </p:sp>
      </p:grpSp>
      <p:grpSp>
        <p:nvGrpSpPr>
          <p:cNvPr id="665" name="Rectangle 17"/>
          <p:cNvGrpSpPr/>
          <p:nvPr/>
        </p:nvGrpSpPr>
        <p:grpSpPr>
          <a:xfrm>
            <a:off x="8961119" y="3200399"/>
            <a:ext cx="2286001" cy="411482"/>
            <a:chOff x="0" y="0"/>
            <a:chExt cx="2286000" cy="411480"/>
          </a:xfrm>
        </p:grpSpPr>
        <p:sp>
          <p:nvSpPr>
            <p:cNvPr id="663" name="Rectangle"/>
            <p:cNvSpPr/>
            <p:nvPr/>
          </p:nvSpPr>
          <p:spPr>
            <a:xfrm>
              <a:off x="0" y="-1"/>
              <a:ext cx="2286000" cy="411482"/>
            </a:xfrm>
            <a:prstGeom prst="rect">
              <a:avLst/>
            </a:prstGeom>
            <a:solidFill>
              <a:srgbClr val="FFFFFF"/>
            </a:solidFill>
            <a:ln w="19050" cap="flat">
              <a:solidFill>
                <a:srgbClr val="E0E0E0"/>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664" name="Early draft"/>
            <p:cNvSpPr txBox="1"/>
            <p:nvPr/>
          </p:nvSpPr>
          <p:spPr>
            <a:xfrm>
              <a:off x="55244" y="83820"/>
              <a:ext cx="2175512"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000">
                  <a:solidFill>
                    <a:schemeClr val="accent6"/>
                  </a:solidFill>
                </a:defRPr>
              </a:lvl1pPr>
            </a:lstStyle>
            <a:p>
              <a:pPr/>
              <a:r>
                <a:t>Early draft</a:t>
              </a:r>
            </a:p>
          </p:txBody>
        </p:sp>
      </p:grpSp>
      <p:grpSp>
        <p:nvGrpSpPr>
          <p:cNvPr id="668" name="Rectangle 18"/>
          <p:cNvGrpSpPr/>
          <p:nvPr/>
        </p:nvGrpSpPr>
        <p:grpSpPr>
          <a:xfrm>
            <a:off x="457200" y="3657599"/>
            <a:ext cx="2743200" cy="411482"/>
            <a:chOff x="0" y="0"/>
            <a:chExt cx="2743200" cy="411480"/>
          </a:xfrm>
        </p:grpSpPr>
        <p:sp>
          <p:nvSpPr>
            <p:cNvPr id="666" name="Rectangle"/>
            <p:cNvSpPr/>
            <p:nvPr/>
          </p:nvSpPr>
          <p:spPr>
            <a:xfrm>
              <a:off x="0" y="-1"/>
              <a:ext cx="2743200" cy="411482"/>
            </a:xfrm>
            <a:prstGeom prst="rect">
              <a:avLst/>
            </a:prstGeom>
            <a:solidFill>
              <a:srgbClr val="F2F2F2"/>
            </a:solidFill>
            <a:ln w="19050" cap="flat">
              <a:solidFill>
                <a:srgbClr val="E0E0E0"/>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667" name="Optimal Edge Discovery"/>
            <p:cNvSpPr txBox="1"/>
            <p:nvPr/>
          </p:nvSpPr>
          <p:spPr>
            <a:xfrm>
              <a:off x="55244" y="83820"/>
              <a:ext cx="2632712"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000">
                  <a:solidFill>
                    <a:srgbClr val="242424"/>
                  </a:solidFill>
                </a:defRPr>
              </a:lvl1pPr>
            </a:lstStyle>
            <a:p>
              <a:pPr/>
              <a:r>
                <a:t>Optimal Edge Discovery</a:t>
              </a:r>
            </a:p>
          </p:txBody>
        </p:sp>
      </p:grpSp>
      <p:grpSp>
        <p:nvGrpSpPr>
          <p:cNvPr id="671" name="Rectangle 19"/>
          <p:cNvGrpSpPr/>
          <p:nvPr/>
        </p:nvGrpSpPr>
        <p:grpSpPr>
          <a:xfrm>
            <a:off x="3200399" y="3657599"/>
            <a:ext cx="3931922" cy="411482"/>
            <a:chOff x="0" y="0"/>
            <a:chExt cx="3931920" cy="411480"/>
          </a:xfrm>
        </p:grpSpPr>
        <p:sp>
          <p:nvSpPr>
            <p:cNvPr id="669" name="Rectangle"/>
            <p:cNvSpPr/>
            <p:nvPr/>
          </p:nvSpPr>
          <p:spPr>
            <a:xfrm>
              <a:off x="-1" y="-1"/>
              <a:ext cx="3931922" cy="411482"/>
            </a:xfrm>
            <a:prstGeom prst="rect">
              <a:avLst/>
            </a:prstGeom>
            <a:solidFill>
              <a:srgbClr val="F2F2F2"/>
            </a:solidFill>
            <a:ln w="19050" cap="flat">
              <a:solidFill>
                <a:srgbClr val="E0E0E0"/>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670" name="camaraproject/OptimalEdgeDiscovery"/>
            <p:cNvSpPr txBox="1"/>
            <p:nvPr/>
          </p:nvSpPr>
          <p:spPr>
            <a:xfrm>
              <a:off x="55244" y="90170"/>
              <a:ext cx="3821431" cy="2311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000">
                  <a:solidFill>
                    <a:srgbClr val="242424"/>
                  </a:solidFill>
                  <a:latin typeface="Courier New"/>
                  <a:ea typeface="Courier New"/>
                  <a:cs typeface="Courier New"/>
                  <a:sym typeface="Courier New"/>
                </a:defRPr>
              </a:lvl1pPr>
            </a:lstStyle>
            <a:p>
              <a:pPr/>
              <a:r>
                <a:t>camaraproject/OptimalEdgeDiscovery</a:t>
              </a:r>
            </a:p>
          </p:txBody>
        </p:sp>
      </p:grpSp>
      <p:grpSp>
        <p:nvGrpSpPr>
          <p:cNvPr id="674" name="Rectangle 20"/>
          <p:cNvGrpSpPr/>
          <p:nvPr/>
        </p:nvGrpSpPr>
        <p:grpSpPr>
          <a:xfrm>
            <a:off x="7132319" y="3657599"/>
            <a:ext cx="1737361" cy="411482"/>
            <a:chOff x="0" y="0"/>
            <a:chExt cx="1737360" cy="411480"/>
          </a:xfrm>
        </p:grpSpPr>
        <p:sp>
          <p:nvSpPr>
            <p:cNvPr id="672" name="Rectangle"/>
            <p:cNvSpPr/>
            <p:nvPr/>
          </p:nvSpPr>
          <p:spPr>
            <a:xfrm>
              <a:off x="-1" y="-1"/>
              <a:ext cx="1737362" cy="411482"/>
            </a:xfrm>
            <a:prstGeom prst="rect">
              <a:avLst/>
            </a:prstGeom>
            <a:solidFill>
              <a:srgbClr val="F2F2F2"/>
            </a:solidFill>
            <a:ln w="19050" cap="flat">
              <a:solidFill>
                <a:srgbClr val="E0E0E0"/>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673" name="v0.1.0"/>
            <p:cNvSpPr txBox="1"/>
            <p:nvPr/>
          </p:nvSpPr>
          <p:spPr>
            <a:xfrm>
              <a:off x="55244" y="83820"/>
              <a:ext cx="1626872"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000">
                  <a:solidFill>
                    <a:srgbClr val="242424"/>
                  </a:solidFill>
                </a:defRPr>
              </a:lvl1pPr>
            </a:lstStyle>
            <a:p>
              <a:pPr/>
              <a:r>
                <a:t>v0.1.0</a:t>
              </a:r>
            </a:p>
          </p:txBody>
        </p:sp>
      </p:grpSp>
      <p:grpSp>
        <p:nvGrpSpPr>
          <p:cNvPr id="677" name="Rectangle 21"/>
          <p:cNvGrpSpPr/>
          <p:nvPr/>
        </p:nvGrpSpPr>
        <p:grpSpPr>
          <a:xfrm>
            <a:off x="8961119" y="3657599"/>
            <a:ext cx="2286001" cy="411482"/>
            <a:chOff x="0" y="0"/>
            <a:chExt cx="2286000" cy="411480"/>
          </a:xfrm>
        </p:grpSpPr>
        <p:sp>
          <p:nvSpPr>
            <p:cNvPr id="675" name="Rectangle"/>
            <p:cNvSpPr/>
            <p:nvPr/>
          </p:nvSpPr>
          <p:spPr>
            <a:xfrm>
              <a:off x="0" y="-1"/>
              <a:ext cx="2286000" cy="411482"/>
            </a:xfrm>
            <a:prstGeom prst="rect">
              <a:avLst/>
            </a:prstGeom>
            <a:solidFill>
              <a:srgbClr val="F2F2F2"/>
            </a:solidFill>
            <a:ln w="19050" cap="flat">
              <a:solidFill>
                <a:srgbClr val="E0E0E0"/>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676" name="Early draft"/>
            <p:cNvSpPr txBox="1"/>
            <p:nvPr/>
          </p:nvSpPr>
          <p:spPr>
            <a:xfrm>
              <a:off x="55244" y="83820"/>
              <a:ext cx="2175512"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000">
                  <a:solidFill>
                    <a:schemeClr val="accent6"/>
                  </a:solidFill>
                </a:defRPr>
              </a:lvl1pPr>
            </a:lstStyle>
            <a:p>
              <a:pPr/>
              <a:r>
                <a:t>Early draft</a:t>
              </a:r>
            </a:p>
          </p:txBody>
        </p:sp>
      </p:grpSp>
      <p:grpSp>
        <p:nvGrpSpPr>
          <p:cNvPr id="680" name="Rectangle 22"/>
          <p:cNvGrpSpPr/>
          <p:nvPr/>
        </p:nvGrpSpPr>
        <p:grpSpPr>
          <a:xfrm>
            <a:off x="457200" y="4114799"/>
            <a:ext cx="2743200" cy="411482"/>
            <a:chOff x="0" y="0"/>
            <a:chExt cx="2743200" cy="411480"/>
          </a:xfrm>
        </p:grpSpPr>
        <p:sp>
          <p:nvSpPr>
            <p:cNvPr id="678" name="Rectangle"/>
            <p:cNvSpPr/>
            <p:nvPr/>
          </p:nvSpPr>
          <p:spPr>
            <a:xfrm>
              <a:off x="0" y="-1"/>
              <a:ext cx="2743200" cy="411482"/>
            </a:xfrm>
            <a:prstGeom prst="rect">
              <a:avLst/>
            </a:prstGeom>
            <a:solidFill>
              <a:srgbClr val="FFFFFF"/>
            </a:solidFill>
            <a:ln w="19050" cap="flat">
              <a:solidFill>
                <a:srgbClr val="E0E0E0"/>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679" name="App Endpoint Discovery"/>
            <p:cNvSpPr txBox="1"/>
            <p:nvPr/>
          </p:nvSpPr>
          <p:spPr>
            <a:xfrm>
              <a:off x="55244" y="83820"/>
              <a:ext cx="2632712"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000">
                  <a:solidFill>
                    <a:srgbClr val="242424"/>
                  </a:solidFill>
                </a:defRPr>
              </a:lvl1pPr>
            </a:lstStyle>
            <a:p>
              <a:pPr/>
              <a:r>
                <a:t>App Endpoint Discovery</a:t>
              </a:r>
            </a:p>
          </p:txBody>
        </p:sp>
      </p:grpSp>
      <p:grpSp>
        <p:nvGrpSpPr>
          <p:cNvPr id="683" name="Rectangle 23"/>
          <p:cNvGrpSpPr/>
          <p:nvPr/>
        </p:nvGrpSpPr>
        <p:grpSpPr>
          <a:xfrm>
            <a:off x="3200399" y="4114799"/>
            <a:ext cx="3931922" cy="411482"/>
            <a:chOff x="0" y="0"/>
            <a:chExt cx="3931920" cy="411480"/>
          </a:xfrm>
        </p:grpSpPr>
        <p:sp>
          <p:nvSpPr>
            <p:cNvPr id="681" name="Rectangle"/>
            <p:cNvSpPr/>
            <p:nvPr/>
          </p:nvSpPr>
          <p:spPr>
            <a:xfrm>
              <a:off x="-1" y="-1"/>
              <a:ext cx="3931922" cy="411482"/>
            </a:xfrm>
            <a:prstGeom prst="rect">
              <a:avLst/>
            </a:prstGeom>
            <a:solidFill>
              <a:srgbClr val="FFFFFF"/>
            </a:solidFill>
            <a:ln w="19050" cap="flat">
              <a:solidFill>
                <a:srgbClr val="E0E0E0"/>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682" name="camaraproject/ApplicationEndpointDiscovery"/>
            <p:cNvSpPr txBox="1"/>
            <p:nvPr/>
          </p:nvSpPr>
          <p:spPr>
            <a:xfrm>
              <a:off x="55244" y="90170"/>
              <a:ext cx="3821431" cy="2311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000">
                  <a:solidFill>
                    <a:srgbClr val="242424"/>
                  </a:solidFill>
                  <a:latin typeface="Courier New"/>
                  <a:ea typeface="Courier New"/>
                  <a:cs typeface="Courier New"/>
                  <a:sym typeface="Courier New"/>
                </a:defRPr>
              </a:lvl1pPr>
            </a:lstStyle>
            <a:p>
              <a:pPr/>
              <a:r>
                <a:t>camaraproject/ApplicationEndpointDiscovery</a:t>
              </a:r>
            </a:p>
          </p:txBody>
        </p:sp>
      </p:grpSp>
      <p:grpSp>
        <p:nvGrpSpPr>
          <p:cNvPr id="686" name="Rectangle 24"/>
          <p:cNvGrpSpPr/>
          <p:nvPr/>
        </p:nvGrpSpPr>
        <p:grpSpPr>
          <a:xfrm>
            <a:off x="7132319" y="4114799"/>
            <a:ext cx="1737361" cy="411482"/>
            <a:chOff x="0" y="0"/>
            <a:chExt cx="1737360" cy="411480"/>
          </a:xfrm>
        </p:grpSpPr>
        <p:sp>
          <p:nvSpPr>
            <p:cNvPr id="684" name="Rectangle"/>
            <p:cNvSpPr/>
            <p:nvPr/>
          </p:nvSpPr>
          <p:spPr>
            <a:xfrm>
              <a:off x="-1" y="-1"/>
              <a:ext cx="1737362" cy="411482"/>
            </a:xfrm>
            <a:prstGeom prst="rect">
              <a:avLst/>
            </a:prstGeom>
            <a:solidFill>
              <a:srgbClr val="FFFFFF"/>
            </a:solidFill>
            <a:ln w="19050" cap="flat">
              <a:solidFill>
                <a:srgbClr val="E0E0E0"/>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685" name="v0.1.0"/>
            <p:cNvSpPr txBox="1"/>
            <p:nvPr/>
          </p:nvSpPr>
          <p:spPr>
            <a:xfrm>
              <a:off x="55244" y="83820"/>
              <a:ext cx="1626872"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000">
                  <a:solidFill>
                    <a:srgbClr val="242424"/>
                  </a:solidFill>
                </a:defRPr>
              </a:lvl1pPr>
            </a:lstStyle>
            <a:p>
              <a:pPr/>
              <a:r>
                <a:t>v0.1.0</a:t>
              </a:r>
            </a:p>
          </p:txBody>
        </p:sp>
      </p:grpSp>
      <p:grpSp>
        <p:nvGrpSpPr>
          <p:cNvPr id="689" name="Rectangle 25"/>
          <p:cNvGrpSpPr/>
          <p:nvPr/>
        </p:nvGrpSpPr>
        <p:grpSpPr>
          <a:xfrm>
            <a:off x="8961119" y="4114799"/>
            <a:ext cx="2286001" cy="411482"/>
            <a:chOff x="0" y="0"/>
            <a:chExt cx="2286000" cy="411480"/>
          </a:xfrm>
        </p:grpSpPr>
        <p:sp>
          <p:nvSpPr>
            <p:cNvPr id="687" name="Rectangle"/>
            <p:cNvSpPr/>
            <p:nvPr/>
          </p:nvSpPr>
          <p:spPr>
            <a:xfrm>
              <a:off x="0" y="-1"/>
              <a:ext cx="2286000" cy="411482"/>
            </a:xfrm>
            <a:prstGeom prst="rect">
              <a:avLst/>
            </a:prstGeom>
            <a:solidFill>
              <a:srgbClr val="FFFFFF"/>
            </a:solidFill>
            <a:ln w="19050" cap="flat">
              <a:solidFill>
                <a:srgbClr val="E0E0E0"/>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688" name="Early draft"/>
            <p:cNvSpPr txBox="1"/>
            <p:nvPr/>
          </p:nvSpPr>
          <p:spPr>
            <a:xfrm>
              <a:off x="55244" y="83820"/>
              <a:ext cx="2175512"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000">
                  <a:solidFill>
                    <a:schemeClr val="accent6"/>
                  </a:solidFill>
                </a:defRPr>
              </a:lvl1pPr>
            </a:lstStyle>
            <a:p>
              <a:pPr/>
              <a:r>
                <a:t>Early draft</a:t>
              </a:r>
            </a:p>
          </p:txBody>
        </p:sp>
      </p:grpSp>
      <p:grpSp>
        <p:nvGrpSpPr>
          <p:cNvPr id="692" name="Rectangle 26"/>
          <p:cNvGrpSpPr/>
          <p:nvPr/>
        </p:nvGrpSpPr>
        <p:grpSpPr>
          <a:xfrm>
            <a:off x="457200" y="4571999"/>
            <a:ext cx="2743200" cy="411482"/>
            <a:chOff x="0" y="0"/>
            <a:chExt cx="2743200" cy="411480"/>
          </a:xfrm>
        </p:grpSpPr>
        <p:sp>
          <p:nvSpPr>
            <p:cNvPr id="690" name="Rectangle"/>
            <p:cNvSpPr/>
            <p:nvPr/>
          </p:nvSpPr>
          <p:spPr>
            <a:xfrm>
              <a:off x="0" y="-1"/>
              <a:ext cx="2743200" cy="411482"/>
            </a:xfrm>
            <a:prstGeom prst="rect">
              <a:avLst/>
            </a:prstGeom>
            <a:solidFill>
              <a:srgbClr val="F2F2F2"/>
            </a:solidFill>
            <a:ln w="19050" cap="flat">
              <a:solidFill>
                <a:srgbClr val="E0E0E0"/>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691" name="App Endpoint Registration"/>
            <p:cNvSpPr txBox="1"/>
            <p:nvPr/>
          </p:nvSpPr>
          <p:spPr>
            <a:xfrm>
              <a:off x="55244" y="83820"/>
              <a:ext cx="2632712"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000">
                  <a:solidFill>
                    <a:srgbClr val="242424"/>
                  </a:solidFill>
                </a:defRPr>
              </a:lvl1pPr>
            </a:lstStyle>
            <a:p>
              <a:pPr/>
              <a:r>
                <a:t>App Endpoint Registration</a:t>
              </a:r>
            </a:p>
          </p:txBody>
        </p:sp>
      </p:grpSp>
      <p:grpSp>
        <p:nvGrpSpPr>
          <p:cNvPr id="695" name="Rectangle 27"/>
          <p:cNvGrpSpPr/>
          <p:nvPr/>
        </p:nvGrpSpPr>
        <p:grpSpPr>
          <a:xfrm>
            <a:off x="3200399" y="4571999"/>
            <a:ext cx="3931922" cy="411482"/>
            <a:chOff x="0" y="0"/>
            <a:chExt cx="3931920" cy="411480"/>
          </a:xfrm>
        </p:grpSpPr>
        <p:sp>
          <p:nvSpPr>
            <p:cNvPr id="693" name="Rectangle"/>
            <p:cNvSpPr/>
            <p:nvPr/>
          </p:nvSpPr>
          <p:spPr>
            <a:xfrm>
              <a:off x="-1" y="-1"/>
              <a:ext cx="3931922" cy="411482"/>
            </a:xfrm>
            <a:prstGeom prst="rect">
              <a:avLst/>
            </a:prstGeom>
            <a:solidFill>
              <a:srgbClr val="F2F2F2"/>
            </a:solidFill>
            <a:ln w="19050" cap="flat">
              <a:solidFill>
                <a:srgbClr val="E0E0E0"/>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694" name="camaraproject/ApplicationEndpointRegistration"/>
            <p:cNvSpPr txBox="1"/>
            <p:nvPr/>
          </p:nvSpPr>
          <p:spPr>
            <a:xfrm>
              <a:off x="55244" y="90170"/>
              <a:ext cx="3821431" cy="2311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000">
                  <a:solidFill>
                    <a:srgbClr val="242424"/>
                  </a:solidFill>
                  <a:latin typeface="Courier New"/>
                  <a:ea typeface="Courier New"/>
                  <a:cs typeface="Courier New"/>
                  <a:sym typeface="Courier New"/>
                </a:defRPr>
              </a:lvl1pPr>
            </a:lstStyle>
            <a:p>
              <a:pPr/>
              <a:r>
                <a:t>camaraproject/ApplicationEndpointRegistration</a:t>
              </a:r>
            </a:p>
          </p:txBody>
        </p:sp>
      </p:grpSp>
      <p:grpSp>
        <p:nvGrpSpPr>
          <p:cNvPr id="698" name="Rectangle 28"/>
          <p:cNvGrpSpPr/>
          <p:nvPr/>
        </p:nvGrpSpPr>
        <p:grpSpPr>
          <a:xfrm>
            <a:off x="7132319" y="4571999"/>
            <a:ext cx="1737361" cy="411482"/>
            <a:chOff x="0" y="0"/>
            <a:chExt cx="1737360" cy="411480"/>
          </a:xfrm>
        </p:grpSpPr>
        <p:sp>
          <p:nvSpPr>
            <p:cNvPr id="696" name="Rectangle"/>
            <p:cNvSpPr/>
            <p:nvPr/>
          </p:nvSpPr>
          <p:spPr>
            <a:xfrm>
              <a:off x="-1" y="-1"/>
              <a:ext cx="1737362" cy="411482"/>
            </a:xfrm>
            <a:prstGeom prst="rect">
              <a:avLst/>
            </a:prstGeom>
            <a:solidFill>
              <a:srgbClr val="F2F2F2"/>
            </a:solidFill>
            <a:ln w="19050" cap="flat">
              <a:solidFill>
                <a:srgbClr val="E0E0E0"/>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697" name="v0.1.0"/>
            <p:cNvSpPr txBox="1"/>
            <p:nvPr/>
          </p:nvSpPr>
          <p:spPr>
            <a:xfrm>
              <a:off x="55244" y="83820"/>
              <a:ext cx="1626872"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000">
                  <a:solidFill>
                    <a:srgbClr val="242424"/>
                  </a:solidFill>
                </a:defRPr>
              </a:lvl1pPr>
            </a:lstStyle>
            <a:p>
              <a:pPr/>
              <a:r>
                <a:t>v0.1.0</a:t>
              </a:r>
            </a:p>
          </p:txBody>
        </p:sp>
      </p:grpSp>
      <p:grpSp>
        <p:nvGrpSpPr>
          <p:cNvPr id="701" name="Rectangle 29"/>
          <p:cNvGrpSpPr/>
          <p:nvPr/>
        </p:nvGrpSpPr>
        <p:grpSpPr>
          <a:xfrm>
            <a:off x="8961119" y="4571999"/>
            <a:ext cx="2286001" cy="411482"/>
            <a:chOff x="0" y="0"/>
            <a:chExt cx="2286000" cy="411480"/>
          </a:xfrm>
        </p:grpSpPr>
        <p:sp>
          <p:nvSpPr>
            <p:cNvPr id="699" name="Rectangle"/>
            <p:cNvSpPr/>
            <p:nvPr/>
          </p:nvSpPr>
          <p:spPr>
            <a:xfrm>
              <a:off x="0" y="-1"/>
              <a:ext cx="2286000" cy="411482"/>
            </a:xfrm>
            <a:prstGeom prst="rect">
              <a:avLst/>
            </a:prstGeom>
            <a:solidFill>
              <a:srgbClr val="F2F2F2"/>
            </a:solidFill>
            <a:ln w="19050" cap="flat">
              <a:solidFill>
                <a:srgbClr val="E0E0E0"/>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700" name="Early draft"/>
            <p:cNvSpPr txBox="1"/>
            <p:nvPr/>
          </p:nvSpPr>
          <p:spPr>
            <a:xfrm>
              <a:off x="55244" y="83820"/>
              <a:ext cx="2175512"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000">
                  <a:solidFill>
                    <a:schemeClr val="accent6"/>
                  </a:solidFill>
                </a:defRPr>
              </a:lvl1pPr>
            </a:lstStyle>
            <a:p>
              <a:pPr/>
              <a:r>
                <a:t>Early draft</a:t>
              </a:r>
            </a:p>
          </p:txBody>
        </p:sp>
      </p:grpSp>
      <p:sp>
        <p:nvSpPr>
          <p:cNvPr id="702" name="TextBox 30"/>
          <p:cNvSpPr txBox="1"/>
          <p:nvPr/>
        </p:nvSpPr>
        <p:spPr>
          <a:xfrm>
            <a:off x="502919" y="5212079"/>
            <a:ext cx="10881361" cy="86868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30000"/>
              </a:lnSpc>
              <a:defRPr sz="1400">
                <a:solidFill>
                  <a:srgbClr val="767676"/>
                </a:solidFill>
              </a:defRPr>
            </a:pPr>
            <a:r>
              <a:t>The original EdgeCloud umbrella repo is now maintenance-only.</a:t>
            </a:r>
            <a:endParaRPr>
              <a:solidFill>
                <a:srgbClr val="000000"/>
              </a:solidFill>
            </a:endParaRPr>
          </a:p>
          <a:p>
            <a:pPr>
              <a:lnSpc>
                <a:spcPct val="130000"/>
              </a:lnSpc>
              <a:defRPr sz="1400">
                <a:solidFill>
                  <a:srgbClr val="767676"/>
                </a:solidFill>
              </a:defRPr>
            </a:pPr>
            <a:r>
              <a:t>All active development split into 6 sub-repos (April 2024).</a:t>
            </a:r>
            <a:endParaRPr>
              <a:solidFill>
                <a:srgbClr val="000000"/>
              </a:solidFill>
            </a:endParaRPr>
          </a:p>
          <a:p>
            <a:pPr>
              <a:lnSpc>
                <a:spcPct val="130000"/>
              </a:lnSpc>
              <a:defRPr sz="1400">
                <a:solidFill>
                  <a:srgbClr val="767676"/>
                </a:solidFill>
              </a:defRPr>
            </a:pPr>
            <a:r>
              <a:t>Only SimpleEdgeDiscovery has reached a stable release.</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06" name="Title 1"/>
          <p:cNvSpPr txBox="1"/>
          <p:nvPr>
            <p:ph type="title"/>
          </p:nvPr>
        </p:nvSpPr>
        <p:spPr>
          <a:prstGeom prst="rect">
            <a:avLst/>
          </a:prstGeom>
        </p:spPr>
        <p:txBody>
          <a:bodyPr/>
          <a:lstStyle>
            <a:lvl1pPr>
              <a:defRPr spc="-200">
                <a:solidFill>
                  <a:srgbClr val="000000"/>
                </a:solidFill>
              </a:defRPr>
            </a:lvl1pPr>
          </a:lstStyle>
          <a:p>
            <a:pPr/>
            <a:r>
              <a:t>Our NEF-Shim vs the Actual CAMARA Spec</a:t>
            </a:r>
          </a:p>
        </p:txBody>
      </p:sp>
      <p:grpSp>
        <p:nvGrpSpPr>
          <p:cNvPr id="709" name="Rounded Rectangle 2"/>
          <p:cNvGrpSpPr/>
          <p:nvPr/>
        </p:nvGrpSpPr>
        <p:grpSpPr>
          <a:xfrm>
            <a:off x="457200" y="1828800"/>
            <a:ext cx="5303521" cy="548641"/>
            <a:chOff x="0" y="0"/>
            <a:chExt cx="5303520" cy="548640"/>
          </a:xfrm>
        </p:grpSpPr>
        <p:sp>
          <p:nvSpPr>
            <p:cNvPr id="707" name="Rounded Rectangle"/>
            <p:cNvSpPr/>
            <p:nvPr/>
          </p:nvSpPr>
          <p:spPr>
            <a:xfrm>
              <a:off x="0" y="0"/>
              <a:ext cx="5303521" cy="548641"/>
            </a:xfrm>
            <a:prstGeom prst="roundRect">
              <a:avLst>
                <a:gd name="adj" fmla="val 16667"/>
              </a:avLst>
            </a:prstGeom>
            <a:solidFill>
              <a:srgbClr val="D6E2F5"/>
            </a:solidFill>
            <a:ln w="19050" cap="flat">
              <a:solidFill>
                <a:schemeClr val="accent1"/>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708" name="CAMARA Specification (target)"/>
            <p:cNvSpPr txBox="1"/>
            <p:nvPr/>
          </p:nvSpPr>
          <p:spPr>
            <a:xfrm>
              <a:off x="82027" y="120650"/>
              <a:ext cx="5139466" cy="3073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400">
                  <a:solidFill>
                    <a:schemeClr val="accent1"/>
                  </a:solidFill>
                  <a:latin typeface="Ericsson Hilda Bold"/>
                  <a:ea typeface="Ericsson Hilda Bold"/>
                  <a:cs typeface="Ericsson Hilda Bold"/>
                  <a:sym typeface="Ericsson Hilda Bold"/>
                </a:defRPr>
              </a:lvl1pPr>
            </a:lstStyle>
            <a:p>
              <a:pPr/>
              <a:r>
                <a:t>CAMARA Specification (target)</a:t>
              </a:r>
            </a:p>
          </p:txBody>
        </p:sp>
      </p:grpSp>
      <p:sp>
        <p:nvSpPr>
          <p:cNvPr id="710" name="TextBox 3"/>
          <p:cNvSpPr txBox="1"/>
          <p:nvPr/>
        </p:nvSpPr>
        <p:spPr>
          <a:xfrm>
            <a:off x="685800" y="2468879"/>
            <a:ext cx="1737361" cy="269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200">
                <a:solidFill>
                  <a:srgbClr val="000000"/>
                </a:solidFill>
                <a:latin typeface="Ericsson Hilda Bold"/>
                <a:ea typeface="Ericsson Hilda Bold"/>
                <a:cs typeface="Ericsson Hilda Bold"/>
                <a:sym typeface="Ericsson Hilda Bold"/>
              </a:defRPr>
            </a:lvl1pPr>
          </a:lstStyle>
          <a:p>
            <a:pPr/>
            <a:r>
              <a:t>Edge Discovery</a:t>
            </a:r>
          </a:p>
        </p:txBody>
      </p:sp>
      <p:sp>
        <p:nvSpPr>
          <p:cNvPr id="711" name="TextBox 4"/>
          <p:cNvSpPr txBox="1"/>
          <p:nvPr/>
        </p:nvSpPr>
        <p:spPr>
          <a:xfrm>
            <a:off x="685800" y="2743200"/>
            <a:ext cx="4480560" cy="2565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100">
                <a:solidFill>
                  <a:srgbClr val="242424"/>
                </a:solidFill>
              </a:defRPr>
            </a:lvl1pPr>
          </a:lstStyle>
          <a:p>
            <a:pPr/>
            <a:r>
              <a:t>GET /edge-cloud-zones → zones[]</a:t>
            </a:r>
          </a:p>
        </p:txBody>
      </p:sp>
      <p:grpSp>
        <p:nvGrpSpPr>
          <p:cNvPr id="714" name="Rounded Rectangle 5"/>
          <p:cNvGrpSpPr/>
          <p:nvPr/>
        </p:nvGrpSpPr>
        <p:grpSpPr>
          <a:xfrm>
            <a:off x="4846320" y="2514600"/>
            <a:ext cx="822961" cy="320041"/>
            <a:chOff x="0" y="0"/>
            <a:chExt cx="822960" cy="320040"/>
          </a:xfrm>
        </p:grpSpPr>
        <p:sp>
          <p:nvSpPr>
            <p:cNvPr id="712" name="Rounded Rectangle"/>
            <p:cNvSpPr/>
            <p:nvPr/>
          </p:nvSpPr>
          <p:spPr>
            <a:xfrm>
              <a:off x="0" y="0"/>
              <a:ext cx="822961" cy="320041"/>
            </a:xfrm>
            <a:prstGeom prst="roundRect">
              <a:avLst>
                <a:gd name="adj" fmla="val 16667"/>
              </a:avLst>
            </a:prstGeom>
            <a:solidFill>
              <a:schemeClr val="accent2"/>
            </a:solidFill>
            <a:ln w="19050" cap="flat">
              <a:solidFill>
                <a:schemeClr val="accent2"/>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713" name="Aligned"/>
            <p:cNvSpPr txBox="1"/>
            <p:nvPr/>
          </p:nvSpPr>
          <p:spPr>
            <a:xfrm>
              <a:off x="70867" y="44450"/>
              <a:ext cx="681226" cy="2311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900">
                  <a:solidFill>
                    <a:srgbClr val="FFFFFF"/>
                  </a:solidFill>
                  <a:latin typeface="Ericsson Hilda Bold"/>
                  <a:ea typeface="Ericsson Hilda Bold"/>
                  <a:cs typeface="Ericsson Hilda Bold"/>
                  <a:sym typeface="Ericsson Hilda Bold"/>
                </a:defRPr>
              </a:lvl1pPr>
            </a:lstStyle>
            <a:p>
              <a:pPr/>
              <a:r>
                <a:t>Aligned</a:t>
              </a:r>
            </a:p>
          </p:txBody>
        </p:sp>
      </p:grpSp>
      <p:sp>
        <p:nvSpPr>
          <p:cNvPr id="715" name="TextBox 6"/>
          <p:cNvSpPr txBox="1"/>
          <p:nvPr/>
        </p:nvSpPr>
        <p:spPr>
          <a:xfrm>
            <a:off x="685800" y="3108960"/>
            <a:ext cx="1737361" cy="269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200">
                <a:solidFill>
                  <a:srgbClr val="000000"/>
                </a:solidFill>
                <a:latin typeface="Ericsson Hilda Bold"/>
                <a:ea typeface="Ericsson Hilda Bold"/>
                <a:cs typeface="Ericsson Hilda Bold"/>
                <a:sym typeface="Ericsson Hilda Bold"/>
              </a:defRPr>
            </a:lvl1pPr>
          </a:lstStyle>
          <a:p>
            <a:pPr/>
            <a:r>
              <a:t>App Package</a:t>
            </a:r>
          </a:p>
        </p:txBody>
      </p:sp>
      <p:sp>
        <p:nvSpPr>
          <p:cNvPr id="716" name="TextBox 7"/>
          <p:cNvSpPr txBox="1"/>
          <p:nvPr/>
        </p:nvSpPr>
        <p:spPr>
          <a:xfrm>
            <a:off x="685800" y="3383279"/>
            <a:ext cx="4480560" cy="256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100">
                <a:solidFill>
                  <a:srgbClr val="242424"/>
                </a:solidFill>
              </a:defRPr>
            </a:lvl1pPr>
          </a:lstStyle>
          <a:p>
            <a:pPr/>
            <a:r>
              <a:t>Abstract appPackageSource, pre-onboarded</a:t>
            </a:r>
          </a:p>
        </p:txBody>
      </p:sp>
      <p:grpSp>
        <p:nvGrpSpPr>
          <p:cNvPr id="719" name="Rounded Rectangle 8"/>
          <p:cNvGrpSpPr/>
          <p:nvPr/>
        </p:nvGrpSpPr>
        <p:grpSpPr>
          <a:xfrm>
            <a:off x="4846320" y="3154679"/>
            <a:ext cx="822961" cy="320041"/>
            <a:chOff x="0" y="0"/>
            <a:chExt cx="822960" cy="320040"/>
          </a:xfrm>
        </p:grpSpPr>
        <p:sp>
          <p:nvSpPr>
            <p:cNvPr id="717" name="Rounded Rectangle"/>
            <p:cNvSpPr/>
            <p:nvPr/>
          </p:nvSpPr>
          <p:spPr>
            <a:xfrm>
              <a:off x="0" y="0"/>
              <a:ext cx="822961" cy="320041"/>
            </a:xfrm>
            <a:prstGeom prst="roundRect">
              <a:avLst>
                <a:gd name="adj" fmla="val 16667"/>
              </a:avLst>
            </a:prstGeom>
            <a:solidFill>
              <a:schemeClr val="accent6"/>
            </a:solidFill>
            <a:ln w="19050" cap="flat">
              <a:solidFill>
                <a:schemeClr val="accent6"/>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718" name="Differs"/>
            <p:cNvSpPr txBox="1"/>
            <p:nvPr/>
          </p:nvSpPr>
          <p:spPr>
            <a:xfrm>
              <a:off x="70867" y="44450"/>
              <a:ext cx="681226" cy="2311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900">
                  <a:solidFill>
                    <a:srgbClr val="FFFFFF"/>
                  </a:solidFill>
                  <a:latin typeface="Ericsson Hilda Bold"/>
                  <a:ea typeface="Ericsson Hilda Bold"/>
                  <a:cs typeface="Ericsson Hilda Bold"/>
                  <a:sym typeface="Ericsson Hilda Bold"/>
                </a:defRPr>
              </a:lvl1pPr>
            </a:lstStyle>
            <a:p>
              <a:pPr/>
              <a:r>
                <a:t>Differs</a:t>
              </a:r>
            </a:p>
          </p:txBody>
        </p:sp>
      </p:grpSp>
      <p:sp>
        <p:nvSpPr>
          <p:cNvPr id="720" name="TextBox 9"/>
          <p:cNvSpPr txBox="1"/>
          <p:nvPr/>
        </p:nvSpPr>
        <p:spPr>
          <a:xfrm>
            <a:off x="685800" y="3749038"/>
            <a:ext cx="1737361" cy="269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200">
                <a:solidFill>
                  <a:srgbClr val="000000"/>
                </a:solidFill>
                <a:latin typeface="Ericsson Hilda Bold"/>
                <a:ea typeface="Ericsson Hilda Bold"/>
                <a:cs typeface="Ericsson Hilda Bold"/>
                <a:sym typeface="Ericsson Hilda Bold"/>
              </a:defRPr>
            </a:lvl1pPr>
          </a:lstStyle>
          <a:p>
            <a:pPr/>
            <a:r>
              <a:t>Instantiation</a:t>
            </a:r>
          </a:p>
        </p:txBody>
      </p:sp>
      <p:sp>
        <p:nvSpPr>
          <p:cNvPr id="721" name="TextBox 10"/>
          <p:cNvSpPr txBox="1"/>
          <p:nvPr/>
        </p:nvSpPr>
        <p:spPr>
          <a:xfrm>
            <a:off x="685800" y="4023359"/>
            <a:ext cx="4480560" cy="256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100">
                <a:solidFill>
                  <a:srgbClr val="242424"/>
                </a:solidFill>
              </a:defRPr>
            </a:lvl1pPr>
          </a:lstStyle>
          <a:p>
            <a:pPr/>
            <a:r>
              <a:t>References package by ID only</a:t>
            </a:r>
          </a:p>
        </p:txBody>
      </p:sp>
      <p:grpSp>
        <p:nvGrpSpPr>
          <p:cNvPr id="724" name="Rounded Rectangle 11"/>
          <p:cNvGrpSpPr/>
          <p:nvPr/>
        </p:nvGrpSpPr>
        <p:grpSpPr>
          <a:xfrm>
            <a:off x="4846320" y="3794759"/>
            <a:ext cx="822961" cy="320041"/>
            <a:chOff x="0" y="0"/>
            <a:chExt cx="822960" cy="320040"/>
          </a:xfrm>
        </p:grpSpPr>
        <p:sp>
          <p:nvSpPr>
            <p:cNvPr id="722" name="Rounded Rectangle"/>
            <p:cNvSpPr/>
            <p:nvPr/>
          </p:nvSpPr>
          <p:spPr>
            <a:xfrm>
              <a:off x="0" y="0"/>
              <a:ext cx="822961" cy="320041"/>
            </a:xfrm>
            <a:prstGeom prst="roundRect">
              <a:avLst>
                <a:gd name="adj" fmla="val 16667"/>
              </a:avLst>
            </a:prstGeom>
            <a:solidFill>
              <a:schemeClr val="accent6"/>
            </a:solidFill>
            <a:ln w="19050" cap="flat">
              <a:solidFill>
                <a:schemeClr val="accent6"/>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723" name="Differs"/>
            <p:cNvSpPr txBox="1"/>
            <p:nvPr/>
          </p:nvSpPr>
          <p:spPr>
            <a:xfrm>
              <a:off x="70867" y="44450"/>
              <a:ext cx="681226" cy="2311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900">
                  <a:solidFill>
                    <a:srgbClr val="FFFFFF"/>
                  </a:solidFill>
                  <a:latin typeface="Ericsson Hilda Bold"/>
                  <a:ea typeface="Ericsson Hilda Bold"/>
                  <a:cs typeface="Ericsson Hilda Bold"/>
                  <a:sym typeface="Ericsson Hilda Bold"/>
                </a:defRPr>
              </a:lvl1pPr>
            </a:lstStyle>
            <a:p>
              <a:pPr/>
              <a:r>
                <a:t>Differs</a:t>
              </a:r>
            </a:p>
          </p:txBody>
        </p:sp>
      </p:grpSp>
      <p:sp>
        <p:nvSpPr>
          <p:cNvPr id="725" name="TextBox 12"/>
          <p:cNvSpPr txBox="1"/>
          <p:nvPr/>
        </p:nvSpPr>
        <p:spPr>
          <a:xfrm>
            <a:off x="685800" y="4389120"/>
            <a:ext cx="1737361" cy="269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200">
                <a:solidFill>
                  <a:srgbClr val="000000"/>
                </a:solidFill>
                <a:latin typeface="Ericsson Hilda Bold"/>
                <a:ea typeface="Ericsson Hilda Bold"/>
                <a:cs typeface="Ericsson Hilda Bold"/>
                <a:sym typeface="Ericsson Hilda Bold"/>
              </a:defRPr>
            </a:lvl1pPr>
          </a:lstStyle>
          <a:p>
            <a:pPr/>
            <a:r>
              <a:t>Endpoint Discovery</a:t>
            </a:r>
          </a:p>
        </p:txBody>
      </p:sp>
      <p:sp>
        <p:nvSpPr>
          <p:cNvPr id="726" name="TextBox 13"/>
          <p:cNvSpPr txBox="1"/>
          <p:nvPr/>
        </p:nvSpPr>
        <p:spPr>
          <a:xfrm>
            <a:off x="685800" y="4663440"/>
            <a:ext cx="4480560" cy="256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100">
                <a:solidFill>
                  <a:srgbClr val="242424"/>
                </a:solidFill>
              </a:defRPr>
            </a:lvl1pPr>
          </a:lstStyle>
          <a:p>
            <a:pPr/>
            <a:r>
              <a:t>GET /endpoints → connectionInfo</a:t>
            </a:r>
          </a:p>
        </p:txBody>
      </p:sp>
      <p:grpSp>
        <p:nvGrpSpPr>
          <p:cNvPr id="729" name="Rounded Rectangle 14"/>
          <p:cNvGrpSpPr/>
          <p:nvPr/>
        </p:nvGrpSpPr>
        <p:grpSpPr>
          <a:xfrm>
            <a:off x="4846320" y="4434840"/>
            <a:ext cx="822961" cy="320041"/>
            <a:chOff x="0" y="0"/>
            <a:chExt cx="822960" cy="320040"/>
          </a:xfrm>
        </p:grpSpPr>
        <p:sp>
          <p:nvSpPr>
            <p:cNvPr id="727" name="Rounded Rectangle"/>
            <p:cNvSpPr/>
            <p:nvPr/>
          </p:nvSpPr>
          <p:spPr>
            <a:xfrm>
              <a:off x="0" y="0"/>
              <a:ext cx="822961" cy="320041"/>
            </a:xfrm>
            <a:prstGeom prst="roundRect">
              <a:avLst>
                <a:gd name="adj" fmla="val 16667"/>
              </a:avLst>
            </a:prstGeom>
            <a:solidFill>
              <a:schemeClr val="accent2"/>
            </a:solidFill>
            <a:ln w="19050" cap="flat">
              <a:solidFill>
                <a:schemeClr val="accent2"/>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728" name="Aligned"/>
            <p:cNvSpPr txBox="1"/>
            <p:nvPr/>
          </p:nvSpPr>
          <p:spPr>
            <a:xfrm>
              <a:off x="70867" y="44450"/>
              <a:ext cx="681226" cy="2311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900">
                  <a:solidFill>
                    <a:srgbClr val="FFFFFF"/>
                  </a:solidFill>
                  <a:latin typeface="Ericsson Hilda Bold"/>
                  <a:ea typeface="Ericsson Hilda Bold"/>
                  <a:cs typeface="Ericsson Hilda Bold"/>
                  <a:sym typeface="Ericsson Hilda Bold"/>
                </a:defRPr>
              </a:lvl1pPr>
            </a:lstStyle>
            <a:p>
              <a:pPr/>
              <a:r>
                <a:t>Aligned</a:t>
              </a:r>
            </a:p>
          </p:txBody>
        </p:sp>
      </p:grpSp>
      <p:sp>
        <p:nvSpPr>
          <p:cNvPr id="730" name="TextBox 15"/>
          <p:cNvSpPr txBox="1"/>
          <p:nvPr/>
        </p:nvSpPr>
        <p:spPr>
          <a:xfrm>
            <a:off x="685800" y="5029200"/>
            <a:ext cx="1737361" cy="2692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200">
                <a:solidFill>
                  <a:srgbClr val="000000"/>
                </a:solidFill>
                <a:latin typeface="Ericsson Hilda Bold"/>
                <a:ea typeface="Ericsson Hilda Bold"/>
                <a:cs typeface="Ericsson Hilda Bold"/>
                <a:sym typeface="Ericsson Hilda Bold"/>
              </a:defRPr>
            </a:lvl1pPr>
          </a:lstStyle>
          <a:p>
            <a:pPr/>
            <a:r>
              <a:t>Lifecycle</a:t>
            </a:r>
          </a:p>
        </p:txBody>
      </p:sp>
      <p:sp>
        <p:nvSpPr>
          <p:cNvPr id="731" name="TextBox 16"/>
          <p:cNvSpPr txBox="1"/>
          <p:nvPr/>
        </p:nvSpPr>
        <p:spPr>
          <a:xfrm>
            <a:off x="685800" y="5303520"/>
            <a:ext cx="4480560" cy="256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100">
                <a:solidFill>
                  <a:srgbClr val="242424"/>
                </a:solidFill>
              </a:defRPr>
            </a:lvl1pPr>
          </a:lstStyle>
          <a:p>
            <a:pPr/>
            <a:r>
              <a:t>discover → deploy → connect → teardown</a:t>
            </a:r>
          </a:p>
        </p:txBody>
      </p:sp>
      <p:grpSp>
        <p:nvGrpSpPr>
          <p:cNvPr id="734" name="Rounded Rectangle 17"/>
          <p:cNvGrpSpPr/>
          <p:nvPr/>
        </p:nvGrpSpPr>
        <p:grpSpPr>
          <a:xfrm>
            <a:off x="4846320" y="5074920"/>
            <a:ext cx="822961" cy="320041"/>
            <a:chOff x="0" y="0"/>
            <a:chExt cx="822960" cy="320040"/>
          </a:xfrm>
        </p:grpSpPr>
        <p:sp>
          <p:nvSpPr>
            <p:cNvPr id="732" name="Rounded Rectangle"/>
            <p:cNvSpPr/>
            <p:nvPr/>
          </p:nvSpPr>
          <p:spPr>
            <a:xfrm>
              <a:off x="0" y="0"/>
              <a:ext cx="822961" cy="320041"/>
            </a:xfrm>
            <a:prstGeom prst="roundRect">
              <a:avLst>
                <a:gd name="adj" fmla="val 16667"/>
              </a:avLst>
            </a:prstGeom>
            <a:solidFill>
              <a:schemeClr val="accent2"/>
            </a:solidFill>
            <a:ln w="19050" cap="flat">
              <a:solidFill>
                <a:schemeClr val="accent2"/>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733" name="Aligned"/>
            <p:cNvSpPr txBox="1"/>
            <p:nvPr/>
          </p:nvSpPr>
          <p:spPr>
            <a:xfrm>
              <a:off x="70867" y="44450"/>
              <a:ext cx="681226" cy="2311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900">
                  <a:solidFill>
                    <a:srgbClr val="FFFFFF"/>
                  </a:solidFill>
                  <a:latin typeface="Ericsson Hilda Bold"/>
                  <a:ea typeface="Ericsson Hilda Bold"/>
                  <a:cs typeface="Ericsson Hilda Bold"/>
                  <a:sym typeface="Ericsson Hilda Bold"/>
                </a:defRPr>
              </a:lvl1pPr>
            </a:lstStyle>
            <a:p>
              <a:pPr/>
              <a:r>
                <a:t>Aligned</a:t>
              </a:r>
            </a:p>
          </p:txBody>
        </p:sp>
      </p:grpSp>
      <p:grpSp>
        <p:nvGrpSpPr>
          <p:cNvPr id="737" name="Rounded Rectangle 18"/>
          <p:cNvGrpSpPr/>
          <p:nvPr/>
        </p:nvGrpSpPr>
        <p:grpSpPr>
          <a:xfrm>
            <a:off x="6217920" y="1828800"/>
            <a:ext cx="5303521" cy="548641"/>
            <a:chOff x="0" y="0"/>
            <a:chExt cx="5303520" cy="548640"/>
          </a:xfrm>
        </p:grpSpPr>
        <p:sp>
          <p:nvSpPr>
            <p:cNvPr id="735" name="Rounded Rectangle"/>
            <p:cNvSpPr/>
            <p:nvPr/>
          </p:nvSpPr>
          <p:spPr>
            <a:xfrm>
              <a:off x="0" y="0"/>
              <a:ext cx="5303521" cy="548641"/>
            </a:xfrm>
            <a:prstGeom prst="roundRect">
              <a:avLst>
                <a:gd name="adj" fmla="val 16667"/>
              </a:avLst>
            </a:prstGeom>
            <a:solidFill>
              <a:srgbClr val="BDE0E1"/>
            </a:solidFill>
            <a:ln w="19050" cap="flat">
              <a:solidFill>
                <a:schemeClr val="accent2"/>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736" name="Our NEF-Shim (implementation)"/>
            <p:cNvSpPr txBox="1"/>
            <p:nvPr/>
          </p:nvSpPr>
          <p:spPr>
            <a:xfrm>
              <a:off x="82027" y="120650"/>
              <a:ext cx="5139466" cy="3073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400">
                  <a:solidFill>
                    <a:schemeClr val="accent2"/>
                  </a:solidFill>
                  <a:latin typeface="Ericsson Hilda Bold"/>
                  <a:ea typeface="Ericsson Hilda Bold"/>
                  <a:cs typeface="Ericsson Hilda Bold"/>
                  <a:sym typeface="Ericsson Hilda Bold"/>
                </a:defRPr>
              </a:lvl1pPr>
            </a:lstStyle>
            <a:p>
              <a:pPr/>
              <a:r>
                <a:t>Our NEF-Shim (implementation)</a:t>
              </a:r>
            </a:p>
          </p:txBody>
        </p:sp>
      </p:grpSp>
      <p:sp>
        <p:nvSpPr>
          <p:cNvPr id="738" name="TextBox 19"/>
          <p:cNvSpPr txBox="1"/>
          <p:nvPr/>
        </p:nvSpPr>
        <p:spPr>
          <a:xfrm>
            <a:off x="6446520" y="2468879"/>
            <a:ext cx="1737361" cy="269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200">
                <a:solidFill>
                  <a:srgbClr val="000000"/>
                </a:solidFill>
                <a:latin typeface="Ericsson Hilda Bold"/>
                <a:ea typeface="Ericsson Hilda Bold"/>
                <a:cs typeface="Ericsson Hilda Bold"/>
                <a:sym typeface="Ericsson Hilda Bold"/>
              </a:defRPr>
            </a:lvl1pPr>
          </a:lstStyle>
          <a:p>
            <a:pPr/>
            <a:r>
              <a:t>Edge Discovery</a:t>
            </a:r>
          </a:p>
        </p:txBody>
      </p:sp>
      <p:sp>
        <p:nvSpPr>
          <p:cNvPr id="739" name="TextBox 20"/>
          <p:cNvSpPr txBox="1"/>
          <p:nvPr/>
        </p:nvSpPr>
        <p:spPr>
          <a:xfrm>
            <a:off x="6446520" y="2743200"/>
            <a:ext cx="4754880" cy="2565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100">
                <a:solidFill>
                  <a:srgbClr val="242424"/>
                </a:solidFill>
              </a:defRPr>
            </a:lvl1pPr>
          </a:lstStyle>
          <a:p>
            <a:pPr/>
            <a:r>
              <a:t>GET /edge-cloud-zones → GPU node info</a:t>
            </a:r>
          </a:p>
        </p:txBody>
      </p:sp>
      <p:sp>
        <p:nvSpPr>
          <p:cNvPr id="740" name="TextBox 21"/>
          <p:cNvSpPr txBox="1"/>
          <p:nvPr/>
        </p:nvSpPr>
        <p:spPr>
          <a:xfrm>
            <a:off x="6446520" y="3108960"/>
            <a:ext cx="1737361" cy="269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200">
                <a:solidFill>
                  <a:srgbClr val="000000"/>
                </a:solidFill>
                <a:latin typeface="Ericsson Hilda Bold"/>
                <a:ea typeface="Ericsson Hilda Bold"/>
                <a:cs typeface="Ericsson Hilda Bold"/>
                <a:sym typeface="Ericsson Hilda Bold"/>
              </a:defRPr>
            </a:lvl1pPr>
          </a:lstStyle>
          <a:p>
            <a:pPr/>
            <a:r>
              <a:t>App Manifest</a:t>
            </a:r>
          </a:p>
        </p:txBody>
      </p:sp>
      <p:sp>
        <p:nvSpPr>
          <p:cNvPr id="741" name="TextBox 22"/>
          <p:cNvSpPr txBox="1"/>
          <p:nvPr/>
        </p:nvSpPr>
        <p:spPr>
          <a:xfrm>
            <a:off x="6446520" y="3383279"/>
            <a:ext cx="4754880" cy="256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100">
                <a:solidFill>
                  <a:srgbClr val="242424"/>
                </a:solidFill>
              </a:defRPr>
            </a:lvl1pPr>
          </a:lstStyle>
          <a:p>
            <a:pPr/>
            <a:r>
              <a:t>Inline containerSpec + requiredResources</a:t>
            </a:r>
          </a:p>
        </p:txBody>
      </p:sp>
      <p:sp>
        <p:nvSpPr>
          <p:cNvPr id="742" name="TextBox 23"/>
          <p:cNvSpPr txBox="1"/>
          <p:nvPr/>
        </p:nvSpPr>
        <p:spPr>
          <a:xfrm>
            <a:off x="6446520" y="3749038"/>
            <a:ext cx="1737361" cy="269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200">
                <a:solidFill>
                  <a:srgbClr val="000000"/>
                </a:solidFill>
                <a:latin typeface="Ericsson Hilda Bold"/>
                <a:ea typeface="Ericsson Hilda Bold"/>
                <a:cs typeface="Ericsson Hilda Bold"/>
                <a:sym typeface="Ericsson Hilda Bold"/>
              </a:defRPr>
            </a:lvl1pPr>
          </a:lstStyle>
          <a:p>
            <a:pPr/>
            <a:r>
              <a:t>Instantiation</a:t>
            </a:r>
          </a:p>
        </p:txBody>
      </p:sp>
      <p:sp>
        <p:nvSpPr>
          <p:cNvPr id="743" name="TextBox 24"/>
          <p:cNvSpPr txBox="1"/>
          <p:nvPr/>
        </p:nvSpPr>
        <p:spPr>
          <a:xfrm>
            <a:off x="6446520" y="4023359"/>
            <a:ext cx="4754880" cy="256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100">
                <a:solidFill>
                  <a:srgbClr val="242424"/>
                </a:solidFill>
              </a:defRPr>
            </a:lvl1pPr>
          </a:lstStyle>
          <a:p>
            <a:pPr/>
            <a:r>
              <a:t>Direct image pull + k8s Deployment</a:t>
            </a:r>
          </a:p>
        </p:txBody>
      </p:sp>
      <p:sp>
        <p:nvSpPr>
          <p:cNvPr id="744" name="TextBox 25"/>
          <p:cNvSpPr txBox="1"/>
          <p:nvPr/>
        </p:nvSpPr>
        <p:spPr>
          <a:xfrm>
            <a:off x="6446520" y="4389120"/>
            <a:ext cx="1737361" cy="269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200">
                <a:solidFill>
                  <a:srgbClr val="000000"/>
                </a:solidFill>
                <a:latin typeface="Ericsson Hilda Bold"/>
                <a:ea typeface="Ericsson Hilda Bold"/>
                <a:cs typeface="Ericsson Hilda Bold"/>
                <a:sym typeface="Ericsson Hilda Bold"/>
              </a:defRPr>
            </a:lvl1pPr>
          </a:lstStyle>
          <a:p>
            <a:pPr/>
            <a:r>
              <a:t>Endpoint Discovery</a:t>
            </a:r>
          </a:p>
        </p:txBody>
      </p:sp>
      <p:sp>
        <p:nvSpPr>
          <p:cNvPr id="745" name="TextBox 26"/>
          <p:cNvSpPr txBox="1"/>
          <p:nvPr/>
        </p:nvSpPr>
        <p:spPr>
          <a:xfrm>
            <a:off x="6446520" y="4663440"/>
            <a:ext cx="4754880" cy="256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100">
                <a:solidFill>
                  <a:srgbClr val="242424"/>
                </a:solidFill>
              </a:defRPr>
            </a:lvl1pPr>
          </a:lstStyle>
          <a:p>
            <a:pPr/>
            <a:r>
              <a:t>GET /endpoints → grpc + http URLs</a:t>
            </a:r>
          </a:p>
        </p:txBody>
      </p:sp>
      <p:sp>
        <p:nvSpPr>
          <p:cNvPr id="746" name="TextBox 27"/>
          <p:cNvSpPr txBox="1"/>
          <p:nvPr/>
        </p:nvSpPr>
        <p:spPr>
          <a:xfrm>
            <a:off x="6446520" y="5029200"/>
            <a:ext cx="1737361" cy="2692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200">
                <a:solidFill>
                  <a:srgbClr val="000000"/>
                </a:solidFill>
                <a:latin typeface="Ericsson Hilda Bold"/>
                <a:ea typeface="Ericsson Hilda Bold"/>
                <a:cs typeface="Ericsson Hilda Bold"/>
                <a:sym typeface="Ericsson Hilda Bold"/>
              </a:defRPr>
            </a:lvl1pPr>
          </a:lstStyle>
          <a:p>
            <a:pPr/>
            <a:r>
              <a:t>Lifecycle</a:t>
            </a:r>
          </a:p>
        </p:txBody>
      </p:sp>
      <p:sp>
        <p:nvSpPr>
          <p:cNvPr id="747" name="TextBox 28"/>
          <p:cNvSpPr txBox="1"/>
          <p:nvPr/>
        </p:nvSpPr>
        <p:spPr>
          <a:xfrm>
            <a:off x="6446520" y="5303520"/>
            <a:ext cx="4754880" cy="256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100">
                <a:solidFill>
                  <a:srgbClr val="242424"/>
                </a:solidFill>
              </a:defRPr>
            </a:lvl1pPr>
          </a:lstStyle>
          <a:p>
            <a:pPr/>
            <a:r>
              <a:t>Same 4-step: discover → deploy → connect → teardown</a:t>
            </a:r>
          </a:p>
        </p:txBody>
      </p:sp>
      <p:sp>
        <p:nvSpPr>
          <p:cNvPr id="748" name="TextBox 29"/>
          <p:cNvSpPr txBox="1"/>
          <p:nvPr/>
        </p:nvSpPr>
        <p:spPr>
          <a:xfrm>
            <a:off x="502919" y="5760720"/>
            <a:ext cx="10881361" cy="86868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30000"/>
              </a:lnSpc>
              <a:defRPr sz="1400">
                <a:solidFill>
                  <a:srgbClr val="767676"/>
                </a:solidFill>
              </a:defRPr>
            </a:pPr>
            <a:r>
              <a:t>Pragmatic approach: lifecycle semantics aligned, manifest schema diverges</a:t>
            </a:r>
            <a:endParaRPr>
              <a:solidFill>
                <a:srgbClr val="000000"/>
              </a:solidFill>
            </a:endParaRPr>
          </a:p>
          <a:p>
            <a:pPr>
              <a:lnSpc>
                <a:spcPct val="130000"/>
              </a:lnSpc>
              <a:defRPr sz="1400">
                <a:solidFill>
                  <a:srgbClr val="767676"/>
                </a:solidFill>
              </a:defRPr>
            </a:pPr>
            <a:r>
              <a:t>because the CAMARA App Management spec is still alpha (v0.1.0).</a:t>
            </a:r>
            <a:endParaRPr>
              <a:solidFill>
                <a:srgbClr val="000000"/>
              </a:solidFill>
            </a:endParaRPr>
          </a:p>
          <a:p>
            <a:pPr>
              <a:lnSpc>
                <a:spcPct val="130000"/>
              </a:lnSpc>
              <a:defRPr sz="1400">
                <a:solidFill>
                  <a:srgbClr val="767676"/>
                </a:solidFill>
              </a:defRPr>
            </a:pPr>
            <a:r>
              <a:t>When the spec stabilizes, the shim manifest can be updated without changing the client.</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52" name="Title 1"/>
          <p:cNvSpPr txBox="1"/>
          <p:nvPr>
            <p:ph type="title"/>
          </p:nvPr>
        </p:nvSpPr>
        <p:spPr>
          <a:prstGeom prst="rect">
            <a:avLst/>
          </a:prstGeom>
        </p:spPr>
        <p:txBody>
          <a:bodyPr/>
          <a:lstStyle>
            <a:lvl1pPr>
              <a:defRPr spc="-200">
                <a:solidFill>
                  <a:srgbClr val="000000"/>
                </a:solidFill>
              </a:defRPr>
            </a:lvl1pPr>
          </a:lstStyle>
          <a:p>
            <a:pPr/>
            <a:r>
              <a:t>NEF-Shim: CAMARA → Kubernetes</a:t>
            </a:r>
          </a:p>
        </p:txBody>
      </p:sp>
      <p:sp>
        <p:nvSpPr>
          <p:cNvPr id="753" name="TextBox 2"/>
          <p:cNvSpPr txBox="1"/>
          <p:nvPr/>
        </p:nvSpPr>
        <p:spPr>
          <a:xfrm>
            <a:off x="502919" y="1828800"/>
            <a:ext cx="2194562" cy="3073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400">
                <a:solidFill>
                  <a:schemeClr val="accent1"/>
                </a:solidFill>
                <a:latin typeface="Ericsson Hilda Bold"/>
                <a:ea typeface="Ericsson Hilda Bold"/>
                <a:cs typeface="Ericsson Hilda Bold"/>
                <a:sym typeface="Ericsson Hilda Bold"/>
              </a:defRPr>
            </a:lvl1pPr>
          </a:lstStyle>
          <a:p>
            <a:pPr/>
            <a:r>
              <a:t>Incoming CAMARA Calls</a:t>
            </a:r>
          </a:p>
        </p:txBody>
      </p:sp>
      <p:grpSp>
        <p:nvGrpSpPr>
          <p:cNvPr id="756" name="Rectangle 3"/>
          <p:cNvGrpSpPr/>
          <p:nvPr/>
        </p:nvGrpSpPr>
        <p:grpSpPr>
          <a:xfrm>
            <a:off x="457199" y="2377439"/>
            <a:ext cx="3474722" cy="411481"/>
            <a:chOff x="0" y="0"/>
            <a:chExt cx="3474720" cy="411480"/>
          </a:xfrm>
        </p:grpSpPr>
        <p:sp>
          <p:nvSpPr>
            <p:cNvPr id="754" name="Rectangle"/>
            <p:cNvSpPr/>
            <p:nvPr/>
          </p:nvSpPr>
          <p:spPr>
            <a:xfrm>
              <a:off x="-1" y="-1"/>
              <a:ext cx="3474722" cy="411482"/>
            </a:xfrm>
            <a:prstGeom prst="rect">
              <a:avLst/>
            </a:prstGeom>
            <a:solidFill>
              <a:srgbClr val="FFFFFF"/>
            </a:solidFill>
            <a:ln w="19050" cap="flat">
              <a:solidFill>
                <a:schemeClr val="accent1"/>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755" name="GET /edge-cloud-zones/v0/zones"/>
            <p:cNvSpPr txBox="1"/>
            <p:nvPr/>
          </p:nvSpPr>
          <p:spPr>
            <a:xfrm>
              <a:off x="55244" y="90170"/>
              <a:ext cx="3364231" cy="2311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000">
                  <a:solidFill>
                    <a:srgbClr val="242424"/>
                  </a:solidFill>
                  <a:latin typeface="Courier New"/>
                  <a:ea typeface="Courier New"/>
                  <a:cs typeface="Courier New"/>
                  <a:sym typeface="Courier New"/>
                </a:defRPr>
              </a:lvl1pPr>
            </a:lstStyle>
            <a:p>
              <a:pPr/>
              <a:r>
                <a:t>GET /edge-cloud-zones/v0/zones</a:t>
              </a:r>
            </a:p>
          </p:txBody>
        </p:sp>
      </p:grpSp>
      <p:grpSp>
        <p:nvGrpSpPr>
          <p:cNvPr id="759" name="Rectangle 4"/>
          <p:cNvGrpSpPr/>
          <p:nvPr/>
        </p:nvGrpSpPr>
        <p:grpSpPr>
          <a:xfrm>
            <a:off x="457199" y="2880360"/>
            <a:ext cx="3474722" cy="411481"/>
            <a:chOff x="0" y="0"/>
            <a:chExt cx="3474720" cy="411480"/>
          </a:xfrm>
        </p:grpSpPr>
        <p:sp>
          <p:nvSpPr>
            <p:cNvPr id="757" name="Rectangle"/>
            <p:cNvSpPr/>
            <p:nvPr/>
          </p:nvSpPr>
          <p:spPr>
            <a:xfrm>
              <a:off x="-1" y="-1"/>
              <a:ext cx="3474722" cy="411482"/>
            </a:xfrm>
            <a:prstGeom prst="rect">
              <a:avLst/>
            </a:prstGeom>
            <a:solidFill>
              <a:srgbClr val="FFFFFF"/>
            </a:solidFill>
            <a:ln w="19050" cap="flat">
              <a:solidFill>
                <a:schemeClr val="accent1"/>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758" name="POST /app-instances/v0/instances"/>
            <p:cNvSpPr txBox="1"/>
            <p:nvPr/>
          </p:nvSpPr>
          <p:spPr>
            <a:xfrm>
              <a:off x="55244" y="90170"/>
              <a:ext cx="3364231" cy="2311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000">
                  <a:solidFill>
                    <a:srgbClr val="242424"/>
                  </a:solidFill>
                  <a:latin typeface="Courier New"/>
                  <a:ea typeface="Courier New"/>
                  <a:cs typeface="Courier New"/>
                  <a:sym typeface="Courier New"/>
                </a:defRPr>
              </a:lvl1pPr>
            </a:lstStyle>
            <a:p>
              <a:pPr/>
              <a:r>
                <a:t>POST /app-instances/v0/instances</a:t>
              </a:r>
            </a:p>
          </p:txBody>
        </p:sp>
      </p:grpSp>
      <p:grpSp>
        <p:nvGrpSpPr>
          <p:cNvPr id="762" name="Rectangle 5"/>
          <p:cNvGrpSpPr/>
          <p:nvPr/>
        </p:nvGrpSpPr>
        <p:grpSpPr>
          <a:xfrm>
            <a:off x="457199" y="3383279"/>
            <a:ext cx="3474722" cy="411481"/>
            <a:chOff x="0" y="0"/>
            <a:chExt cx="3474720" cy="411480"/>
          </a:xfrm>
        </p:grpSpPr>
        <p:sp>
          <p:nvSpPr>
            <p:cNvPr id="760" name="Rectangle"/>
            <p:cNvSpPr/>
            <p:nvPr/>
          </p:nvSpPr>
          <p:spPr>
            <a:xfrm>
              <a:off x="-1" y="-1"/>
              <a:ext cx="3474722" cy="411482"/>
            </a:xfrm>
            <a:prstGeom prst="rect">
              <a:avLst/>
            </a:prstGeom>
            <a:solidFill>
              <a:srgbClr val="FFFFFF"/>
            </a:solidFill>
            <a:ln w="19050" cap="flat">
              <a:solidFill>
                <a:schemeClr val="accent1"/>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761" name="GET /app-instances/v0/{id}/status"/>
            <p:cNvSpPr txBox="1"/>
            <p:nvPr/>
          </p:nvSpPr>
          <p:spPr>
            <a:xfrm>
              <a:off x="55244" y="90170"/>
              <a:ext cx="3364231" cy="2311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000">
                  <a:solidFill>
                    <a:srgbClr val="242424"/>
                  </a:solidFill>
                  <a:latin typeface="Courier New"/>
                  <a:ea typeface="Courier New"/>
                  <a:cs typeface="Courier New"/>
                  <a:sym typeface="Courier New"/>
                </a:defRPr>
              </a:lvl1pPr>
            </a:lstStyle>
            <a:p>
              <a:pPr/>
              <a:r>
                <a:t>GET /app-instances/v0/{id}/status</a:t>
              </a:r>
            </a:p>
          </p:txBody>
        </p:sp>
      </p:grpSp>
      <p:grpSp>
        <p:nvGrpSpPr>
          <p:cNvPr id="765" name="Rectangle 6"/>
          <p:cNvGrpSpPr/>
          <p:nvPr/>
        </p:nvGrpSpPr>
        <p:grpSpPr>
          <a:xfrm>
            <a:off x="457199" y="3886199"/>
            <a:ext cx="3474722" cy="411482"/>
            <a:chOff x="0" y="0"/>
            <a:chExt cx="3474720" cy="411480"/>
          </a:xfrm>
        </p:grpSpPr>
        <p:sp>
          <p:nvSpPr>
            <p:cNvPr id="763" name="Rectangle"/>
            <p:cNvSpPr/>
            <p:nvPr/>
          </p:nvSpPr>
          <p:spPr>
            <a:xfrm>
              <a:off x="-1" y="-1"/>
              <a:ext cx="3474722" cy="411482"/>
            </a:xfrm>
            <a:prstGeom prst="rect">
              <a:avLst/>
            </a:prstGeom>
            <a:solidFill>
              <a:srgbClr val="FFFFFF"/>
            </a:solidFill>
            <a:ln w="19050" cap="flat">
              <a:solidFill>
                <a:schemeClr val="accent1"/>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764" name="GET /endpoints/v0/endpoints"/>
            <p:cNvSpPr txBox="1"/>
            <p:nvPr/>
          </p:nvSpPr>
          <p:spPr>
            <a:xfrm>
              <a:off x="55244" y="90170"/>
              <a:ext cx="3364231" cy="2311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000">
                  <a:solidFill>
                    <a:srgbClr val="242424"/>
                  </a:solidFill>
                  <a:latin typeface="Courier New"/>
                  <a:ea typeface="Courier New"/>
                  <a:cs typeface="Courier New"/>
                  <a:sym typeface="Courier New"/>
                </a:defRPr>
              </a:lvl1pPr>
            </a:lstStyle>
            <a:p>
              <a:pPr/>
              <a:r>
                <a:t>GET /endpoints/v0/endpoints</a:t>
              </a:r>
            </a:p>
          </p:txBody>
        </p:sp>
      </p:grpSp>
      <p:grpSp>
        <p:nvGrpSpPr>
          <p:cNvPr id="768" name="Rectangle 7"/>
          <p:cNvGrpSpPr/>
          <p:nvPr/>
        </p:nvGrpSpPr>
        <p:grpSpPr>
          <a:xfrm>
            <a:off x="457199" y="4389120"/>
            <a:ext cx="3474722" cy="411481"/>
            <a:chOff x="0" y="0"/>
            <a:chExt cx="3474720" cy="411480"/>
          </a:xfrm>
        </p:grpSpPr>
        <p:sp>
          <p:nvSpPr>
            <p:cNvPr id="766" name="Rectangle"/>
            <p:cNvSpPr/>
            <p:nvPr/>
          </p:nvSpPr>
          <p:spPr>
            <a:xfrm>
              <a:off x="-1" y="-1"/>
              <a:ext cx="3474722" cy="411482"/>
            </a:xfrm>
            <a:prstGeom prst="rect">
              <a:avLst/>
            </a:prstGeom>
            <a:solidFill>
              <a:srgbClr val="FFFFFF"/>
            </a:solidFill>
            <a:ln w="19050" cap="flat">
              <a:solidFill>
                <a:schemeClr val="accent1"/>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767" name="DELETE /app-instances/v0/{id}"/>
            <p:cNvSpPr txBox="1"/>
            <p:nvPr/>
          </p:nvSpPr>
          <p:spPr>
            <a:xfrm>
              <a:off x="55244" y="90170"/>
              <a:ext cx="3364231" cy="2311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000">
                  <a:solidFill>
                    <a:srgbClr val="242424"/>
                  </a:solidFill>
                  <a:latin typeface="Courier New"/>
                  <a:ea typeface="Courier New"/>
                  <a:cs typeface="Courier New"/>
                  <a:sym typeface="Courier New"/>
                </a:defRPr>
              </a:lvl1pPr>
            </a:lstStyle>
            <a:p>
              <a:pPr/>
              <a:r>
                <a:t>DELETE /app-instances/v0/{id}</a:t>
              </a:r>
            </a:p>
          </p:txBody>
        </p:sp>
      </p:grpSp>
      <p:grpSp>
        <p:nvGrpSpPr>
          <p:cNvPr id="771" name="Rounded Rectangle 8"/>
          <p:cNvGrpSpPr/>
          <p:nvPr/>
        </p:nvGrpSpPr>
        <p:grpSpPr>
          <a:xfrm>
            <a:off x="4572000" y="2286000"/>
            <a:ext cx="2743200" cy="2743200"/>
            <a:chOff x="0" y="0"/>
            <a:chExt cx="2743200" cy="2743200"/>
          </a:xfrm>
        </p:grpSpPr>
        <p:sp>
          <p:nvSpPr>
            <p:cNvPr id="769" name="Rounded Rectangle"/>
            <p:cNvSpPr/>
            <p:nvPr/>
          </p:nvSpPr>
          <p:spPr>
            <a:xfrm>
              <a:off x="0" y="0"/>
              <a:ext cx="2743200" cy="2743200"/>
            </a:xfrm>
            <a:prstGeom prst="roundRect">
              <a:avLst>
                <a:gd name="adj" fmla="val 16667"/>
              </a:avLst>
            </a:prstGeom>
            <a:solidFill>
              <a:srgbClr val="D6E2F5"/>
            </a:solidFill>
            <a:ln w="19050" cap="flat">
              <a:solidFill>
                <a:schemeClr val="accent1"/>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770" name="NEF-Shim…"/>
            <p:cNvSpPr txBox="1"/>
            <p:nvPr/>
          </p:nvSpPr>
          <p:spPr>
            <a:xfrm>
              <a:off x="189156" y="1084579"/>
              <a:ext cx="2364888" cy="574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p>
              <a:pPr algn="ctr">
                <a:defRPr sz="1600">
                  <a:solidFill>
                    <a:schemeClr val="accent1"/>
                  </a:solidFill>
                  <a:latin typeface="Ericsson Hilda Bold"/>
                  <a:ea typeface="Ericsson Hilda Bold"/>
                  <a:cs typeface="Ericsson Hilda Bold"/>
                  <a:sym typeface="Ericsson Hilda Bold"/>
                </a:defRPr>
              </a:pPr>
              <a:r>
                <a:t>NEF-Shim</a:t>
              </a:r>
            </a:p>
            <a:p>
              <a:pPr algn="ctr">
                <a:defRPr sz="1600">
                  <a:solidFill>
                    <a:schemeClr val="accent1"/>
                  </a:solidFill>
                  <a:latin typeface="Ericsson Hilda Bold"/>
                  <a:ea typeface="Ericsson Hilda Bold"/>
                  <a:cs typeface="Ericsson Hilda Bold"/>
                  <a:sym typeface="Ericsson Hilda Bold"/>
                </a:defRPr>
              </a:pPr>
              <a:r>
                <a:t>(FastAPI)</a:t>
              </a:r>
            </a:p>
          </p:txBody>
        </p:sp>
      </p:grpSp>
      <p:sp>
        <p:nvSpPr>
          <p:cNvPr id="772" name="TextBox 9"/>
          <p:cNvSpPr txBox="1"/>
          <p:nvPr/>
        </p:nvSpPr>
        <p:spPr>
          <a:xfrm>
            <a:off x="8275319" y="1828800"/>
            <a:ext cx="3108961" cy="3073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400">
                <a:solidFill>
                  <a:schemeClr val="accent2"/>
                </a:solidFill>
                <a:latin typeface="Ericsson Hilda Bold"/>
                <a:ea typeface="Ericsson Hilda Bold"/>
                <a:cs typeface="Ericsson Hilda Bold"/>
                <a:sym typeface="Ericsson Hilda Bold"/>
              </a:defRPr>
            </a:lvl1pPr>
          </a:lstStyle>
          <a:p>
            <a:pPr/>
            <a:r>
              <a:t>Kubernetes Operations</a:t>
            </a:r>
          </a:p>
        </p:txBody>
      </p:sp>
      <p:grpSp>
        <p:nvGrpSpPr>
          <p:cNvPr id="775" name="Rectangle 10"/>
          <p:cNvGrpSpPr/>
          <p:nvPr/>
        </p:nvGrpSpPr>
        <p:grpSpPr>
          <a:xfrm>
            <a:off x="8229599" y="2377439"/>
            <a:ext cx="3474722" cy="411481"/>
            <a:chOff x="0" y="0"/>
            <a:chExt cx="3474720" cy="411480"/>
          </a:xfrm>
        </p:grpSpPr>
        <p:sp>
          <p:nvSpPr>
            <p:cNvPr id="773" name="Rectangle"/>
            <p:cNvSpPr/>
            <p:nvPr/>
          </p:nvSpPr>
          <p:spPr>
            <a:xfrm>
              <a:off x="-1" y="-1"/>
              <a:ext cx="3474722" cy="411482"/>
            </a:xfrm>
            <a:prstGeom prst="rect">
              <a:avLst/>
            </a:prstGeom>
            <a:solidFill>
              <a:srgbClr val="FFFFFF"/>
            </a:solidFill>
            <a:ln w="19050" cap="flat">
              <a:solidFill>
                <a:schemeClr val="accent2"/>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774" name="kubectl get nodes --gpu"/>
            <p:cNvSpPr txBox="1"/>
            <p:nvPr/>
          </p:nvSpPr>
          <p:spPr>
            <a:xfrm>
              <a:off x="55244" y="90170"/>
              <a:ext cx="3364231" cy="2311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000">
                  <a:solidFill>
                    <a:srgbClr val="242424"/>
                  </a:solidFill>
                  <a:latin typeface="Courier New"/>
                  <a:ea typeface="Courier New"/>
                  <a:cs typeface="Courier New"/>
                  <a:sym typeface="Courier New"/>
                </a:defRPr>
              </a:lvl1pPr>
            </a:lstStyle>
            <a:p>
              <a:pPr/>
              <a:r>
                <a:t>kubectl get nodes --gpu</a:t>
              </a:r>
            </a:p>
          </p:txBody>
        </p:sp>
      </p:grpSp>
      <p:grpSp>
        <p:nvGrpSpPr>
          <p:cNvPr id="778" name="Rectangle 11"/>
          <p:cNvGrpSpPr/>
          <p:nvPr/>
        </p:nvGrpSpPr>
        <p:grpSpPr>
          <a:xfrm>
            <a:off x="8229599" y="2880360"/>
            <a:ext cx="3474722" cy="411481"/>
            <a:chOff x="0" y="0"/>
            <a:chExt cx="3474720" cy="411480"/>
          </a:xfrm>
        </p:grpSpPr>
        <p:sp>
          <p:nvSpPr>
            <p:cNvPr id="776" name="Rectangle"/>
            <p:cNvSpPr/>
            <p:nvPr/>
          </p:nvSpPr>
          <p:spPr>
            <a:xfrm>
              <a:off x="-1" y="-1"/>
              <a:ext cx="3474722" cy="411482"/>
            </a:xfrm>
            <a:prstGeom prst="rect">
              <a:avLst/>
            </a:prstGeom>
            <a:solidFill>
              <a:srgbClr val="FFFFFF"/>
            </a:solidFill>
            <a:ln w="19050" cap="flat">
              <a:solidFill>
                <a:schemeClr val="accent2"/>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777" name="kubectl apply -f deployment.yaml"/>
            <p:cNvSpPr txBox="1"/>
            <p:nvPr/>
          </p:nvSpPr>
          <p:spPr>
            <a:xfrm>
              <a:off x="55244" y="90170"/>
              <a:ext cx="3364231" cy="2311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000">
                  <a:solidFill>
                    <a:srgbClr val="242424"/>
                  </a:solidFill>
                  <a:latin typeface="Courier New"/>
                  <a:ea typeface="Courier New"/>
                  <a:cs typeface="Courier New"/>
                  <a:sym typeface="Courier New"/>
                </a:defRPr>
              </a:lvl1pPr>
            </a:lstStyle>
            <a:p>
              <a:pPr/>
              <a:r>
                <a:t>kubectl apply -f deployment.yaml</a:t>
              </a:r>
            </a:p>
          </p:txBody>
        </p:sp>
      </p:grpSp>
      <p:grpSp>
        <p:nvGrpSpPr>
          <p:cNvPr id="781" name="Rectangle 12"/>
          <p:cNvGrpSpPr/>
          <p:nvPr/>
        </p:nvGrpSpPr>
        <p:grpSpPr>
          <a:xfrm>
            <a:off x="8229599" y="3383279"/>
            <a:ext cx="3474722" cy="411481"/>
            <a:chOff x="0" y="0"/>
            <a:chExt cx="3474720" cy="411480"/>
          </a:xfrm>
        </p:grpSpPr>
        <p:sp>
          <p:nvSpPr>
            <p:cNvPr id="779" name="Rectangle"/>
            <p:cNvSpPr/>
            <p:nvPr/>
          </p:nvSpPr>
          <p:spPr>
            <a:xfrm>
              <a:off x="-1" y="-1"/>
              <a:ext cx="3474722" cy="411482"/>
            </a:xfrm>
            <a:prstGeom prst="rect">
              <a:avLst/>
            </a:prstGeom>
            <a:solidFill>
              <a:srgbClr val="FFFFFF"/>
            </a:solidFill>
            <a:ln w="19050" cap="flat">
              <a:solidFill>
                <a:schemeClr val="accent2"/>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780" name="kubectl get pod -l tenant=..."/>
            <p:cNvSpPr txBox="1"/>
            <p:nvPr/>
          </p:nvSpPr>
          <p:spPr>
            <a:xfrm>
              <a:off x="55244" y="90170"/>
              <a:ext cx="3364231" cy="2311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000">
                  <a:solidFill>
                    <a:srgbClr val="242424"/>
                  </a:solidFill>
                  <a:latin typeface="Courier New"/>
                  <a:ea typeface="Courier New"/>
                  <a:cs typeface="Courier New"/>
                  <a:sym typeface="Courier New"/>
                </a:defRPr>
              </a:lvl1pPr>
            </a:lstStyle>
            <a:p>
              <a:pPr/>
              <a:r>
                <a:t>kubectl get pod -l tenant=...</a:t>
              </a:r>
            </a:p>
          </p:txBody>
        </p:sp>
      </p:grpSp>
      <p:grpSp>
        <p:nvGrpSpPr>
          <p:cNvPr id="784" name="Rectangle 13"/>
          <p:cNvGrpSpPr/>
          <p:nvPr/>
        </p:nvGrpSpPr>
        <p:grpSpPr>
          <a:xfrm>
            <a:off x="8229599" y="3886199"/>
            <a:ext cx="3474722" cy="411482"/>
            <a:chOff x="0" y="0"/>
            <a:chExt cx="3474720" cy="411480"/>
          </a:xfrm>
        </p:grpSpPr>
        <p:sp>
          <p:nvSpPr>
            <p:cNvPr id="782" name="Rectangle"/>
            <p:cNvSpPr/>
            <p:nvPr/>
          </p:nvSpPr>
          <p:spPr>
            <a:xfrm>
              <a:off x="-1" y="-1"/>
              <a:ext cx="3474722" cy="411482"/>
            </a:xfrm>
            <a:prstGeom prst="rect">
              <a:avLst/>
            </a:prstGeom>
            <a:solidFill>
              <a:srgbClr val="FFFFFF"/>
            </a:solidFill>
            <a:ln w="19050" cap="flat">
              <a:solidFill>
                <a:schemeClr val="accent2"/>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783" name="kubectl get svc nodePort"/>
            <p:cNvSpPr txBox="1"/>
            <p:nvPr/>
          </p:nvSpPr>
          <p:spPr>
            <a:xfrm>
              <a:off x="55244" y="90170"/>
              <a:ext cx="3364231" cy="2311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000">
                  <a:solidFill>
                    <a:srgbClr val="242424"/>
                  </a:solidFill>
                  <a:latin typeface="Courier New"/>
                  <a:ea typeface="Courier New"/>
                  <a:cs typeface="Courier New"/>
                  <a:sym typeface="Courier New"/>
                </a:defRPr>
              </a:lvl1pPr>
            </a:lstStyle>
            <a:p>
              <a:pPr/>
              <a:r>
                <a:t>kubectl get svc nodePort</a:t>
              </a:r>
            </a:p>
          </p:txBody>
        </p:sp>
      </p:grpSp>
      <p:grpSp>
        <p:nvGrpSpPr>
          <p:cNvPr id="787" name="Rectangle 14"/>
          <p:cNvGrpSpPr/>
          <p:nvPr/>
        </p:nvGrpSpPr>
        <p:grpSpPr>
          <a:xfrm>
            <a:off x="8229599" y="4389120"/>
            <a:ext cx="3474722" cy="411481"/>
            <a:chOff x="0" y="0"/>
            <a:chExt cx="3474720" cy="411480"/>
          </a:xfrm>
        </p:grpSpPr>
        <p:sp>
          <p:nvSpPr>
            <p:cNvPr id="785" name="Rectangle"/>
            <p:cNvSpPr/>
            <p:nvPr/>
          </p:nvSpPr>
          <p:spPr>
            <a:xfrm>
              <a:off x="-1" y="-1"/>
              <a:ext cx="3474722" cy="411482"/>
            </a:xfrm>
            <a:prstGeom prst="rect">
              <a:avLst/>
            </a:prstGeom>
            <a:solidFill>
              <a:srgbClr val="FFFFFF"/>
            </a:solidFill>
            <a:ln w="19050" cap="flat">
              <a:solidFill>
                <a:schemeClr val="accent2"/>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786" name="kubectl delete deploy,svc"/>
            <p:cNvSpPr txBox="1"/>
            <p:nvPr/>
          </p:nvSpPr>
          <p:spPr>
            <a:xfrm>
              <a:off x="55244" y="90170"/>
              <a:ext cx="3364231" cy="2311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000">
                  <a:solidFill>
                    <a:srgbClr val="242424"/>
                  </a:solidFill>
                  <a:latin typeface="Courier New"/>
                  <a:ea typeface="Courier New"/>
                  <a:cs typeface="Courier New"/>
                  <a:sym typeface="Courier New"/>
                </a:defRPr>
              </a:lvl1pPr>
            </a:lstStyle>
            <a:p>
              <a:pPr/>
              <a:r>
                <a:t>kubectl delete deploy,svc</a:t>
              </a:r>
            </a:p>
          </p:txBody>
        </p:sp>
      </p:grpSp>
      <p:sp>
        <p:nvSpPr>
          <p:cNvPr id="788" name="Connector 15"/>
          <p:cNvSpPr/>
          <p:nvPr/>
        </p:nvSpPr>
        <p:spPr>
          <a:xfrm>
            <a:off x="3931920" y="2578607"/>
            <a:ext cx="640081" cy="1"/>
          </a:xfrm>
          <a:prstGeom prst="line">
            <a:avLst/>
          </a:prstGeom>
          <a:ln w="19050">
            <a:solidFill>
              <a:schemeClr val="accent1"/>
            </a:solidFill>
            <a:tailEnd type="triangle"/>
          </a:ln>
          <a:effectLst>
            <a:outerShdw sx="100000" sy="100000" kx="0" ky="0" algn="b" rotWithShape="0" blurRad="38100" dist="20000" dir="5400000">
              <a:srgbClr val="000000">
                <a:alpha val="38000"/>
              </a:srgbClr>
            </a:outerShdw>
          </a:effectLst>
        </p:spPr>
        <p:txBody>
          <a:bodyPr lIns="45719" rIns="45719"/>
          <a:lstStyle/>
          <a:p>
            <a:pPr/>
          </a:p>
        </p:txBody>
      </p:sp>
      <p:sp>
        <p:nvSpPr>
          <p:cNvPr id="789" name="Connector 16"/>
          <p:cNvSpPr/>
          <p:nvPr/>
        </p:nvSpPr>
        <p:spPr>
          <a:xfrm>
            <a:off x="3931920" y="3081527"/>
            <a:ext cx="640081" cy="1"/>
          </a:xfrm>
          <a:prstGeom prst="line">
            <a:avLst/>
          </a:prstGeom>
          <a:ln w="19050">
            <a:solidFill>
              <a:schemeClr val="accent1"/>
            </a:solidFill>
            <a:tailEnd type="triangle"/>
          </a:ln>
          <a:effectLst>
            <a:outerShdw sx="100000" sy="100000" kx="0" ky="0" algn="b" rotWithShape="0" blurRad="38100" dist="20000" dir="5400000">
              <a:srgbClr val="000000">
                <a:alpha val="38000"/>
              </a:srgbClr>
            </a:outerShdw>
          </a:effectLst>
        </p:spPr>
        <p:txBody>
          <a:bodyPr lIns="45719" rIns="45719"/>
          <a:lstStyle/>
          <a:p>
            <a:pPr/>
          </a:p>
        </p:txBody>
      </p:sp>
      <p:sp>
        <p:nvSpPr>
          <p:cNvPr id="790" name="Connector 17"/>
          <p:cNvSpPr/>
          <p:nvPr/>
        </p:nvSpPr>
        <p:spPr>
          <a:xfrm>
            <a:off x="3931920" y="3584447"/>
            <a:ext cx="640081" cy="1"/>
          </a:xfrm>
          <a:prstGeom prst="line">
            <a:avLst/>
          </a:prstGeom>
          <a:ln w="19050">
            <a:solidFill>
              <a:schemeClr val="accent1"/>
            </a:solidFill>
            <a:tailEnd type="triangle"/>
          </a:ln>
          <a:effectLst>
            <a:outerShdw sx="100000" sy="100000" kx="0" ky="0" algn="b" rotWithShape="0" blurRad="38100" dist="20000" dir="5400000">
              <a:srgbClr val="000000">
                <a:alpha val="38000"/>
              </a:srgbClr>
            </a:outerShdw>
          </a:effectLst>
        </p:spPr>
        <p:txBody>
          <a:bodyPr lIns="45719" rIns="45719"/>
          <a:lstStyle/>
          <a:p>
            <a:pPr/>
          </a:p>
        </p:txBody>
      </p:sp>
      <p:sp>
        <p:nvSpPr>
          <p:cNvPr id="791" name="Connector 18"/>
          <p:cNvSpPr/>
          <p:nvPr/>
        </p:nvSpPr>
        <p:spPr>
          <a:xfrm>
            <a:off x="3931920" y="4087367"/>
            <a:ext cx="640081" cy="1"/>
          </a:xfrm>
          <a:prstGeom prst="line">
            <a:avLst/>
          </a:prstGeom>
          <a:ln w="19050">
            <a:solidFill>
              <a:schemeClr val="accent1"/>
            </a:solidFill>
            <a:tailEnd type="triangle"/>
          </a:ln>
          <a:effectLst>
            <a:outerShdw sx="100000" sy="100000" kx="0" ky="0" algn="b" rotWithShape="0" blurRad="38100" dist="20000" dir="5400000">
              <a:srgbClr val="000000">
                <a:alpha val="38000"/>
              </a:srgbClr>
            </a:outerShdw>
          </a:effectLst>
        </p:spPr>
        <p:txBody>
          <a:bodyPr lIns="45719" rIns="45719"/>
          <a:lstStyle/>
          <a:p>
            <a:pPr/>
          </a:p>
        </p:txBody>
      </p:sp>
      <p:sp>
        <p:nvSpPr>
          <p:cNvPr id="792" name="Connector 19"/>
          <p:cNvSpPr/>
          <p:nvPr/>
        </p:nvSpPr>
        <p:spPr>
          <a:xfrm>
            <a:off x="3931920" y="4590288"/>
            <a:ext cx="640081" cy="1"/>
          </a:xfrm>
          <a:prstGeom prst="line">
            <a:avLst/>
          </a:prstGeom>
          <a:ln w="19050">
            <a:solidFill>
              <a:schemeClr val="accent1"/>
            </a:solidFill>
            <a:tailEnd type="triangle"/>
          </a:ln>
          <a:effectLst>
            <a:outerShdw sx="100000" sy="100000" kx="0" ky="0" algn="b" rotWithShape="0" blurRad="38100" dist="20000" dir="5400000">
              <a:srgbClr val="000000">
                <a:alpha val="38000"/>
              </a:srgbClr>
            </a:outerShdw>
          </a:effectLst>
        </p:spPr>
        <p:txBody>
          <a:bodyPr lIns="45719" rIns="45719"/>
          <a:lstStyle/>
          <a:p>
            <a:pPr/>
          </a:p>
        </p:txBody>
      </p:sp>
      <p:sp>
        <p:nvSpPr>
          <p:cNvPr id="793" name="Connector 20"/>
          <p:cNvSpPr/>
          <p:nvPr/>
        </p:nvSpPr>
        <p:spPr>
          <a:xfrm>
            <a:off x="7315200" y="2578607"/>
            <a:ext cx="914400" cy="1"/>
          </a:xfrm>
          <a:prstGeom prst="line">
            <a:avLst/>
          </a:prstGeom>
          <a:ln w="19050">
            <a:solidFill>
              <a:schemeClr val="accent2"/>
            </a:solidFill>
            <a:tailEnd type="triangle"/>
          </a:ln>
          <a:effectLst>
            <a:outerShdw sx="100000" sy="100000" kx="0" ky="0" algn="b" rotWithShape="0" blurRad="38100" dist="20000" dir="5400000">
              <a:srgbClr val="000000">
                <a:alpha val="38000"/>
              </a:srgbClr>
            </a:outerShdw>
          </a:effectLst>
        </p:spPr>
        <p:txBody>
          <a:bodyPr lIns="45719" rIns="45719"/>
          <a:lstStyle/>
          <a:p>
            <a:pPr/>
          </a:p>
        </p:txBody>
      </p:sp>
      <p:sp>
        <p:nvSpPr>
          <p:cNvPr id="794" name="Connector 21"/>
          <p:cNvSpPr/>
          <p:nvPr/>
        </p:nvSpPr>
        <p:spPr>
          <a:xfrm>
            <a:off x="7315200" y="3081527"/>
            <a:ext cx="914400" cy="1"/>
          </a:xfrm>
          <a:prstGeom prst="line">
            <a:avLst/>
          </a:prstGeom>
          <a:ln w="19050">
            <a:solidFill>
              <a:schemeClr val="accent2"/>
            </a:solidFill>
            <a:tailEnd type="triangle"/>
          </a:ln>
          <a:effectLst>
            <a:outerShdw sx="100000" sy="100000" kx="0" ky="0" algn="b" rotWithShape="0" blurRad="38100" dist="20000" dir="5400000">
              <a:srgbClr val="000000">
                <a:alpha val="38000"/>
              </a:srgbClr>
            </a:outerShdw>
          </a:effectLst>
        </p:spPr>
        <p:txBody>
          <a:bodyPr lIns="45719" rIns="45719"/>
          <a:lstStyle/>
          <a:p>
            <a:pPr/>
          </a:p>
        </p:txBody>
      </p:sp>
      <p:sp>
        <p:nvSpPr>
          <p:cNvPr id="795" name="Connector 22"/>
          <p:cNvSpPr/>
          <p:nvPr/>
        </p:nvSpPr>
        <p:spPr>
          <a:xfrm>
            <a:off x="7315200" y="3584447"/>
            <a:ext cx="914400" cy="1"/>
          </a:xfrm>
          <a:prstGeom prst="line">
            <a:avLst/>
          </a:prstGeom>
          <a:ln w="19050">
            <a:solidFill>
              <a:schemeClr val="accent2"/>
            </a:solidFill>
            <a:tailEnd type="triangle"/>
          </a:ln>
          <a:effectLst>
            <a:outerShdw sx="100000" sy="100000" kx="0" ky="0" algn="b" rotWithShape="0" blurRad="38100" dist="20000" dir="5400000">
              <a:srgbClr val="000000">
                <a:alpha val="38000"/>
              </a:srgbClr>
            </a:outerShdw>
          </a:effectLst>
        </p:spPr>
        <p:txBody>
          <a:bodyPr lIns="45719" rIns="45719"/>
          <a:lstStyle/>
          <a:p>
            <a:pPr/>
          </a:p>
        </p:txBody>
      </p:sp>
      <p:sp>
        <p:nvSpPr>
          <p:cNvPr id="796" name="Connector 23"/>
          <p:cNvSpPr/>
          <p:nvPr/>
        </p:nvSpPr>
        <p:spPr>
          <a:xfrm>
            <a:off x="7315200" y="4087367"/>
            <a:ext cx="914400" cy="1"/>
          </a:xfrm>
          <a:prstGeom prst="line">
            <a:avLst/>
          </a:prstGeom>
          <a:ln w="19050">
            <a:solidFill>
              <a:schemeClr val="accent2"/>
            </a:solidFill>
            <a:tailEnd type="triangle"/>
          </a:ln>
          <a:effectLst>
            <a:outerShdw sx="100000" sy="100000" kx="0" ky="0" algn="b" rotWithShape="0" blurRad="38100" dist="20000" dir="5400000">
              <a:srgbClr val="000000">
                <a:alpha val="38000"/>
              </a:srgbClr>
            </a:outerShdw>
          </a:effectLst>
        </p:spPr>
        <p:txBody>
          <a:bodyPr lIns="45719" rIns="45719"/>
          <a:lstStyle/>
          <a:p>
            <a:pPr/>
          </a:p>
        </p:txBody>
      </p:sp>
      <p:sp>
        <p:nvSpPr>
          <p:cNvPr id="797" name="Connector 24"/>
          <p:cNvSpPr/>
          <p:nvPr/>
        </p:nvSpPr>
        <p:spPr>
          <a:xfrm>
            <a:off x="7315200" y="4590288"/>
            <a:ext cx="914400" cy="1"/>
          </a:xfrm>
          <a:prstGeom prst="line">
            <a:avLst/>
          </a:prstGeom>
          <a:ln w="19050">
            <a:solidFill>
              <a:schemeClr val="accent2"/>
            </a:solidFill>
            <a:tailEnd type="triangle"/>
          </a:ln>
          <a:effectLst>
            <a:outerShdw sx="100000" sy="100000" kx="0" ky="0" algn="b" rotWithShape="0" blurRad="38100" dist="20000" dir="5400000">
              <a:srgbClr val="000000">
                <a:alpha val="38000"/>
              </a:srgbClr>
            </a:outerShdw>
          </a:effectLst>
        </p:spPr>
        <p:txBody>
          <a:bodyPr lIns="45719" rIns="45719"/>
          <a:lstStyle/>
          <a:p>
            <a:pPr/>
          </a:p>
        </p:txBody>
      </p:sp>
      <p:sp>
        <p:nvSpPr>
          <p:cNvPr id="798" name="TextBox 25"/>
          <p:cNvSpPr txBox="1"/>
          <p:nvPr/>
        </p:nvSpPr>
        <p:spPr>
          <a:xfrm>
            <a:off x="4617720" y="5120640"/>
            <a:ext cx="2651761" cy="44196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lnSpc>
                <a:spcPct val="130000"/>
              </a:lnSpc>
              <a:defRPr sz="1100">
                <a:solidFill>
                  <a:srgbClr val="767676"/>
                </a:solidFill>
                <a:latin typeface="Courier New"/>
                <a:ea typeface="Courier New"/>
                <a:cs typeface="Courier New"/>
                <a:sym typeface="Courier New"/>
              </a:defRPr>
            </a:pPr>
            <a:r>
              <a:t>Tenant isolation:</a:t>
            </a:r>
            <a:endParaRPr>
              <a:solidFill>
                <a:srgbClr val="000000"/>
              </a:solidFill>
            </a:endParaRPr>
          </a:p>
          <a:p>
            <a:pPr algn="ctr">
              <a:lnSpc>
                <a:spcPct val="130000"/>
              </a:lnSpc>
              <a:defRPr sz="1100">
                <a:solidFill>
                  <a:srgbClr val="767676"/>
                </a:solidFill>
                <a:latin typeface="Courier New"/>
                <a:ea typeface="Courier New"/>
                <a:cs typeface="Courier New"/>
                <a:sym typeface="Courier New"/>
              </a:defRPr>
            </a:pPr>
            <a:r>
              <a:t>t-{md5(source_ip)[:8]}</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02" name="Title 1"/>
          <p:cNvSpPr txBox="1"/>
          <p:nvPr>
            <p:ph type="title"/>
          </p:nvPr>
        </p:nvSpPr>
        <p:spPr>
          <a:prstGeom prst="rect">
            <a:avLst/>
          </a:prstGeom>
        </p:spPr>
        <p:txBody>
          <a:bodyPr/>
          <a:lstStyle/>
          <a:p>
            <a:pPr>
              <a:defRPr spc="-200">
                <a:solidFill>
                  <a:srgbClr val="000000"/>
                </a:solidFill>
              </a:defRPr>
            </a:pPr>
            <a:r>
              <a:t>NVIDIA Triton Inference Server </a:t>
            </a:r>
          </a:p>
          <a:p>
            <a:pPr>
              <a:defRPr spc="-145" sz="2900">
                <a:solidFill>
                  <a:srgbClr val="000000"/>
                </a:solidFill>
              </a:defRPr>
            </a:pPr>
            <a:r>
              <a:t>— a model serving runtime     </a:t>
            </a:r>
          </a:p>
        </p:txBody>
      </p:sp>
      <p:sp>
        <p:nvSpPr>
          <p:cNvPr id="803" name="Loads multiple models simultaneously (TensorRT, ONNX, PyTorch, TensorFlow)…"/>
          <p:cNvSpPr txBox="1"/>
          <p:nvPr/>
        </p:nvSpPr>
        <p:spPr>
          <a:xfrm>
            <a:off x="1014954" y="1910878"/>
            <a:ext cx="10410859" cy="3323201"/>
          </a:xfrm>
          <a:prstGeom prst="rect">
            <a:avLst/>
          </a:prstGeom>
          <a:ln w="12700">
            <a:miter lim="400000"/>
          </a:ln>
          <a:extLst>
            <a:ext uri="{C572A759-6A51-4108-AA02-DFA0A04FC94B}">
              <ma14:wrappingTextBoxFlag xmlns:ma14="http://schemas.microsoft.com/office/mac/drawingml/2011/main" val="1"/>
            </a:ext>
          </a:extLst>
        </p:spPr>
        <p:txBody>
          <a:bodyPr lIns="36000" tIns="36000" rIns="36000" bIns="36000">
            <a:spAutoFit/>
          </a:bodyPr>
          <a:lstStyle/>
          <a:p>
            <a:pPr>
              <a:spcBef>
                <a:spcPts val="500"/>
              </a:spcBef>
              <a:defRPr sz="2300"/>
            </a:pPr>
            <a:r>
              <a:t>                                                     </a:t>
            </a:r>
          </a:p>
          <a:p>
            <a:pPr marL="228600" indent="-228600">
              <a:spcBef>
                <a:spcPts val="1000"/>
              </a:spcBef>
              <a:buSzPct val="100000"/>
              <a:buChar char="•"/>
              <a:defRPr sz="2300"/>
            </a:pPr>
            <a:r>
              <a:t> Loads multiple models simultaneously (TensorRT, ONNX, PyTorch, TensorFlow)                                         </a:t>
            </a:r>
          </a:p>
          <a:p>
            <a:pPr marL="228600" indent="-228600">
              <a:spcBef>
                <a:spcPts val="1000"/>
              </a:spcBef>
              <a:buSzPct val="100000"/>
              <a:buChar char="•"/>
              <a:defRPr sz="2300"/>
            </a:pPr>
            <a:r>
              <a:t> Handles scheduling, batching, and GPU memory management</a:t>
            </a:r>
          </a:p>
          <a:p>
            <a:pPr marL="228600" indent="-228600">
              <a:spcBef>
                <a:spcPts val="1000"/>
              </a:spcBef>
              <a:buSzPct val="100000"/>
              <a:buChar char="•"/>
              <a:defRPr sz="2300"/>
            </a:pPr>
            <a:r>
              <a:t> Exposes gRPC + HTTP inference APIs                                                                                 </a:t>
            </a:r>
          </a:p>
          <a:p>
            <a:pPr marL="228600" indent="-228600">
              <a:spcBef>
                <a:spcPts val="1000"/>
              </a:spcBef>
              <a:buSzPct val="100000"/>
              <a:buChar char="•"/>
              <a:defRPr sz="2300"/>
            </a:pPr>
            <a:r>
              <a:t> Supports shared memory IPC (zero-copy between co-located processes)                                                </a:t>
            </a:r>
          </a:p>
          <a:p>
            <a:pPr marL="228600" indent="-228600">
              <a:spcBef>
                <a:spcPts val="1000"/>
              </a:spcBef>
              <a:buSzPct val="100000"/>
              <a:buChar char="•"/>
              <a:defRPr sz="2300"/>
            </a:pPr>
            <a:r>
              <a:t> Model hot-swap without restart  </a:t>
            </a:r>
          </a:p>
          <a:p>
            <a:pPr marL="228600" indent="-228600">
              <a:spcBef>
                <a:spcPts val="1000"/>
              </a:spcBef>
              <a:buSzPct val="100000"/>
              <a:buChar char="•"/>
              <a:defRPr sz="2300"/>
            </a:pPr>
            <a:r>
              <a:t>Open source                                                                                                                                                                                              </a:t>
            </a:r>
          </a:p>
        </p:txBody>
      </p:sp>
      <p:pic>
        <p:nvPicPr>
          <p:cNvPr id="804" name="Image" descr="Image"/>
          <p:cNvPicPr>
            <a:picLocks noChangeAspect="1"/>
          </p:cNvPicPr>
          <p:nvPr/>
        </p:nvPicPr>
        <p:blipFill>
          <a:blip r:embed="rId3">
            <a:extLst/>
          </a:blip>
          <a:stretch>
            <a:fillRect/>
          </a:stretch>
        </p:blipFill>
        <p:spPr>
          <a:xfrm>
            <a:off x="6618816" y="-211667"/>
            <a:ext cx="3797301" cy="2133601"/>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08" name="Title 1"/>
          <p:cNvSpPr txBox="1"/>
          <p:nvPr>
            <p:ph type="title"/>
          </p:nvPr>
        </p:nvSpPr>
        <p:spPr>
          <a:prstGeom prst="rect">
            <a:avLst/>
          </a:prstGeom>
        </p:spPr>
        <p:txBody>
          <a:bodyPr/>
          <a:lstStyle>
            <a:lvl1pPr>
              <a:defRPr spc="-200">
                <a:solidFill>
                  <a:srgbClr val="000000"/>
                </a:solidFill>
              </a:defRPr>
            </a:lvl1pPr>
          </a:lstStyle>
          <a:p>
            <a:pPr/>
            <a:r>
              <a:t>Triton Inference Server + Sidecar</a:t>
            </a:r>
          </a:p>
        </p:txBody>
      </p:sp>
      <p:sp>
        <p:nvSpPr>
          <p:cNvPr id="809" name="Rectangle 2"/>
          <p:cNvSpPr/>
          <p:nvPr/>
        </p:nvSpPr>
        <p:spPr>
          <a:xfrm>
            <a:off x="929639" y="1405466"/>
            <a:ext cx="10332722" cy="4389121"/>
          </a:xfrm>
          <a:prstGeom prst="rect">
            <a:avLst/>
          </a:prstGeom>
          <a:solidFill>
            <a:srgbClr val="F2F2F2"/>
          </a:solidFill>
          <a:ln w="25400">
            <a:solidFill>
              <a:schemeClr val="accent2"/>
            </a:solidFill>
          </a:ln>
          <a:effectLst>
            <a:outerShdw sx="100000" sy="100000" kx="0" ky="0" algn="b" rotWithShape="0" blurRad="38100" dist="23000" dir="5400000">
              <a:srgbClr val="000000">
                <a:alpha val="35000"/>
              </a:srgbClr>
            </a:outerShdw>
          </a:effectLst>
        </p:spPr>
        <p:txBody>
          <a:bodyPr lIns="36000" tIns="36000" rIns="36000" bIns="36000" anchor="ctr"/>
          <a:lstStyle/>
          <a:p>
            <a:pPr algn="ctr">
              <a:defRPr>
                <a:solidFill>
                  <a:srgbClr val="FFFFFF"/>
                </a:solidFill>
              </a:defRPr>
            </a:pPr>
          </a:p>
        </p:txBody>
      </p:sp>
      <p:sp>
        <p:nvSpPr>
          <p:cNvPr id="810" name="TextBox 3"/>
          <p:cNvSpPr txBox="1"/>
          <p:nvPr/>
        </p:nvSpPr>
        <p:spPr>
          <a:xfrm>
            <a:off x="1158239" y="1496906"/>
            <a:ext cx="2651761" cy="269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200">
                <a:solidFill>
                  <a:schemeClr val="accent2"/>
                </a:solidFill>
                <a:latin typeface="Ericsson Hilda Bold"/>
                <a:ea typeface="Ericsson Hilda Bold"/>
                <a:cs typeface="Ericsson Hilda Bold"/>
                <a:sym typeface="Ericsson Hilda Bold"/>
              </a:defRPr>
            </a:lvl1pPr>
          </a:lstStyle>
          <a:p>
            <a:pPr/>
            <a:r>
              <a:t>Kubernetes Pod</a:t>
            </a:r>
          </a:p>
        </p:txBody>
      </p:sp>
      <p:sp>
        <p:nvSpPr>
          <p:cNvPr id="811" name="Rounded Rectangle 4"/>
          <p:cNvSpPr/>
          <p:nvPr/>
        </p:nvSpPr>
        <p:spPr>
          <a:xfrm>
            <a:off x="1386839" y="1954106"/>
            <a:ext cx="4114801" cy="1828801"/>
          </a:xfrm>
          <a:prstGeom prst="roundRect">
            <a:avLst>
              <a:gd name="adj" fmla="val 16667"/>
            </a:avLst>
          </a:prstGeom>
          <a:solidFill>
            <a:srgbClr val="FFFFFF"/>
          </a:solidFill>
          <a:ln w="19050">
            <a:solidFill>
              <a:schemeClr val="accent2"/>
            </a:solidFill>
          </a:ln>
          <a:effectLst>
            <a:outerShdw sx="100000" sy="100000" kx="0" ky="0" algn="b" rotWithShape="0" blurRad="38100" dist="23000" dir="5400000">
              <a:srgbClr val="000000">
                <a:alpha val="35000"/>
              </a:srgbClr>
            </a:outerShdw>
          </a:effectLst>
        </p:spPr>
        <p:txBody>
          <a:bodyPr lIns="36000" tIns="36000" rIns="36000" bIns="36000" anchor="ctr"/>
          <a:lstStyle/>
          <a:p>
            <a:pPr algn="ctr">
              <a:defRPr>
                <a:solidFill>
                  <a:srgbClr val="FFFFFF"/>
                </a:solidFill>
              </a:defRPr>
            </a:pPr>
          </a:p>
        </p:txBody>
      </p:sp>
      <p:sp>
        <p:nvSpPr>
          <p:cNvPr id="812" name="TextBox 5"/>
          <p:cNvSpPr txBox="1"/>
          <p:nvPr/>
        </p:nvSpPr>
        <p:spPr>
          <a:xfrm>
            <a:off x="1615439" y="2045546"/>
            <a:ext cx="3566161" cy="3073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400">
                <a:solidFill>
                  <a:schemeClr val="accent2"/>
                </a:solidFill>
                <a:latin typeface="Ericsson Hilda Bold"/>
                <a:ea typeface="Ericsson Hilda Bold"/>
                <a:cs typeface="Ericsson Hilda Bold"/>
                <a:sym typeface="Ericsson Hilda Bold"/>
              </a:defRPr>
            </a:lvl1pPr>
          </a:lstStyle>
          <a:p>
            <a:pPr/>
            <a:r>
              <a:t>Triton Inference Server</a:t>
            </a:r>
          </a:p>
        </p:txBody>
      </p:sp>
      <p:grpSp>
        <p:nvGrpSpPr>
          <p:cNvPr id="815" name="Rounded Rectangle 6"/>
          <p:cNvGrpSpPr/>
          <p:nvPr/>
        </p:nvGrpSpPr>
        <p:grpSpPr>
          <a:xfrm>
            <a:off x="1661160" y="2502746"/>
            <a:ext cx="1737361" cy="457201"/>
            <a:chOff x="0" y="0"/>
            <a:chExt cx="1737360" cy="457200"/>
          </a:xfrm>
        </p:grpSpPr>
        <p:sp>
          <p:nvSpPr>
            <p:cNvPr id="813" name="Rounded Rectangle"/>
            <p:cNvSpPr/>
            <p:nvPr/>
          </p:nvSpPr>
          <p:spPr>
            <a:xfrm>
              <a:off x="0" y="0"/>
              <a:ext cx="1737361" cy="457200"/>
            </a:xfrm>
            <a:prstGeom prst="roundRect">
              <a:avLst>
                <a:gd name="adj" fmla="val 16667"/>
              </a:avLst>
            </a:prstGeom>
            <a:solidFill>
              <a:srgbClr val="BDE0E1"/>
            </a:solidFill>
            <a:ln w="19050" cap="flat">
              <a:solidFill>
                <a:schemeClr val="accent2"/>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814" name="yolov8n_trt"/>
            <p:cNvSpPr txBox="1"/>
            <p:nvPr/>
          </p:nvSpPr>
          <p:spPr>
            <a:xfrm>
              <a:off x="77563" y="100330"/>
              <a:ext cx="1582234" cy="256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100">
                  <a:solidFill>
                    <a:schemeClr val="accent2"/>
                  </a:solidFill>
                </a:defRPr>
              </a:lvl1pPr>
            </a:lstStyle>
            <a:p>
              <a:pPr/>
              <a:r>
                <a:t>yolov8n_trt</a:t>
              </a:r>
            </a:p>
          </p:txBody>
        </p:sp>
      </p:grpSp>
      <p:grpSp>
        <p:nvGrpSpPr>
          <p:cNvPr id="818" name="Rounded Rectangle 7"/>
          <p:cNvGrpSpPr/>
          <p:nvPr/>
        </p:nvGrpSpPr>
        <p:grpSpPr>
          <a:xfrm>
            <a:off x="3581399" y="2502746"/>
            <a:ext cx="1737361" cy="457201"/>
            <a:chOff x="0" y="0"/>
            <a:chExt cx="1737360" cy="457200"/>
          </a:xfrm>
        </p:grpSpPr>
        <p:sp>
          <p:nvSpPr>
            <p:cNvPr id="816" name="Rounded Rectangle"/>
            <p:cNvSpPr/>
            <p:nvPr/>
          </p:nvSpPr>
          <p:spPr>
            <a:xfrm>
              <a:off x="0" y="0"/>
              <a:ext cx="1737361" cy="457200"/>
            </a:xfrm>
            <a:prstGeom prst="roundRect">
              <a:avLst>
                <a:gd name="adj" fmla="val 16667"/>
              </a:avLst>
            </a:prstGeom>
            <a:solidFill>
              <a:srgbClr val="BDE0E1"/>
            </a:solidFill>
            <a:ln w="19050" cap="flat">
              <a:solidFill>
                <a:schemeClr val="accent2"/>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817" name="yolov8xseg_trt"/>
            <p:cNvSpPr txBox="1"/>
            <p:nvPr/>
          </p:nvSpPr>
          <p:spPr>
            <a:xfrm>
              <a:off x="77563" y="100330"/>
              <a:ext cx="1582234" cy="256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100">
                  <a:solidFill>
                    <a:schemeClr val="accent2"/>
                  </a:solidFill>
                </a:defRPr>
              </a:lvl1pPr>
            </a:lstStyle>
            <a:p>
              <a:pPr/>
              <a:r>
                <a:t>yolov8xseg_trt</a:t>
              </a:r>
            </a:p>
          </p:txBody>
        </p:sp>
      </p:grpSp>
      <p:sp>
        <p:nvSpPr>
          <p:cNvPr id="819" name="TextBox 8"/>
          <p:cNvSpPr txBox="1"/>
          <p:nvPr/>
        </p:nvSpPr>
        <p:spPr>
          <a:xfrm>
            <a:off x="1706880" y="3051386"/>
            <a:ext cx="3566160" cy="256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100">
                <a:solidFill>
                  <a:srgbClr val="767676"/>
                </a:solidFill>
              </a:defRPr>
            </a:lvl1pPr>
          </a:lstStyle>
          <a:p>
            <a:pPr/>
            <a:r>
              <a:t>Shared Memory IPC (zero-copy)</a:t>
            </a:r>
          </a:p>
        </p:txBody>
      </p:sp>
      <p:sp>
        <p:nvSpPr>
          <p:cNvPr id="820" name="Rounded Rectangle 9"/>
          <p:cNvSpPr/>
          <p:nvPr/>
        </p:nvSpPr>
        <p:spPr>
          <a:xfrm>
            <a:off x="5958839" y="1954106"/>
            <a:ext cx="5029201" cy="1828801"/>
          </a:xfrm>
          <a:prstGeom prst="roundRect">
            <a:avLst>
              <a:gd name="adj" fmla="val 16667"/>
            </a:avLst>
          </a:prstGeom>
          <a:solidFill>
            <a:srgbClr val="FFFFFF"/>
          </a:solidFill>
          <a:ln w="19050">
            <a:solidFill>
              <a:schemeClr val="accent2"/>
            </a:solidFill>
          </a:ln>
          <a:effectLst>
            <a:outerShdw sx="100000" sy="100000" kx="0" ky="0" algn="b" rotWithShape="0" blurRad="38100" dist="23000" dir="5400000">
              <a:srgbClr val="000000">
                <a:alpha val="35000"/>
              </a:srgbClr>
            </a:outerShdw>
          </a:effectLst>
        </p:spPr>
        <p:txBody>
          <a:bodyPr lIns="36000" tIns="36000" rIns="36000" bIns="36000" anchor="ctr"/>
          <a:lstStyle/>
          <a:p>
            <a:pPr algn="ctr">
              <a:defRPr>
                <a:solidFill>
                  <a:srgbClr val="FFFFFF"/>
                </a:solidFill>
              </a:defRPr>
            </a:pPr>
          </a:p>
        </p:txBody>
      </p:sp>
      <p:sp>
        <p:nvSpPr>
          <p:cNvPr id="821" name="TextBox 10"/>
          <p:cNvSpPr txBox="1"/>
          <p:nvPr/>
        </p:nvSpPr>
        <p:spPr>
          <a:xfrm>
            <a:off x="6187439" y="2045546"/>
            <a:ext cx="3566161" cy="3073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400">
                <a:solidFill>
                  <a:schemeClr val="accent2"/>
                </a:solidFill>
                <a:latin typeface="Ericsson Hilda Bold"/>
                <a:ea typeface="Ericsson Hilda Bold"/>
                <a:cs typeface="Ericsson Hilda Bold"/>
                <a:sym typeface="Ericsson Hilda Bold"/>
              </a:defRPr>
            </a:lvl1pPr>
          </a:lstStyle>
          <a:p>
            <a:pPr/>
            <a:r>
              <a:t>Sidecar (gRPC + HTTP server)</a:t>
            </a:r>
          </a:p>
        </p:txBody>
      </p:sp>
      <p:sp>
        <p:nvSpPr>
          <p:cNvPr id="822" name="TextBox 11"/>
          <p:cNvSpPr txBox="1"/>
          <p:nvPr/>
        </p:nvSpPr>
        <p:spPr>
          <a:xfrm>
            <a:off x="6370319" y="2502746"/>
            <a:ext cx="4480561" cy="256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100">
                <a:solidFill>
                  <a:srgbClr val="242424"/>
                </a:solidFill>
              </a:defRPr>
            </a:lvl1pPr>
          </a:lstStyle>
          <a:p>
            <a:pPr/>
            <a:r>
              <a:t>  1. JPEG decode + resize 640×640</a:t>
            </a:r>
          </a:p>
        </p:txBody>
      </p:sp>
      <p:sp>
        <p:nvSpPr>
          <p:cNvPr id="823" name="TextBox 12"/>
          <p:cNvSpPr txBox="1"/>
          <p:nvPr/>
        </p:nvSpPr>
        <p:spPr>
          <a:xfrm>
            <a:off x="6370319" y="2822785"/>
            <a:ext cx="4480561" cy="256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100">
                <a:solidFill>
                  <a:srgbClr val="242424"/>
                </a:solidFill>
              </a:defRPr>
            </a:lvl1pPr>
          </a:lstStyle>
          <a:p>
            <a:pPr/>
            <a:r>
              <a:t>  2. Shared mem write → Triton infer</a:t>
            </a:r>
          </a:p>
        </p:txBody>
      </p:sp>
      <p:sp>
        <p:nvSpPr>
          <p:cNvPr id="824" name="TextBox 13"/>
          <p:cNvSpPr txBox="1"/>
          <p:nvPr/>
        </p:nvSpPr>
        <p:spPr>
          <a:xfrm>
            <a:off x="6370319" y="3142826"/>
            <a:ext cx="4480561" cy="256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100">
                <a:solidFill>
                  <a:srgbClr val="242424"/>
                </a:solidFill>
              </a:defRPr>
            </a:lvl1pPr>
          </a:lstStyle>
          <a:p>
            <a:pPr/>
            <a:r>
              <a:t>  3. Post-process: NMS / mask decode</a:t>
            </a:r>
          </a:p>
        </p:txBody>
      </p:sp>
      <p:sp>
        <p:nvSpPr>
          <p:cNvPr id="825" name="TextBox 14"/>
          <p:cNvSpPr txBox="1"/>
          <p:nvPr/>
        </p:nvSpPr>
        <p:spPr>
          <a:xfrm>
            <a:off x="6370319" y="3462866"/>
            <a:ext cx="4480561" cy="256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100">
                <a:solidFill>
                  <a:srgbClr val="242424"/>
                </a:solidFill>
              </a:defRPr>
            </a:lvl1pPr>
          </a:lstStyle>
          <a:p>
            <a:pPr/>
            <a:r>
              <a:t>  4. Return JSON detections</a:t>
            </a:r>
          </a:p>
        </p:txBody>
      </p:sp>
      <p:sp>
        <p:nvSpPr>
          <p:cNvPr id="826" name="Connector 15"/>
          <p:cNvSpPr/>
          <p:nvPr/>
        </p:nvSpPr>
        <p:spPr>
          <a:xfrm>
            <a:off x="5501639" y="2777066"/>
            <a:ext cx="457201" cy="1"/>
          </a:xfrm>
          <a:prstGeom prst="line">
            <a:avLst/>
          </a:prstGeom>
          <a:ln w="25400">
            <a:solidFill>
              <a:schemeClr val="accent2"/>
            </a:solidFill>
            <a:tailEnd type="triangle"/>
          </a:ln>
          <a:effectLst>
            <a:outerShdw sx="100000" sy="100000" kx="0" ky="0" algn="b" rotWithShape="0" blurRad="38100" dist="20000" dir="5400000">
              <a:srgbClr val="000000">
                <a:alpha val="38000"/>
              </a:srgbClr>
            </a:outerShdw>
          </a:effectLst>
        </p:spPr>
        <p:txBody>
          <a:bodyPr lIns="45719" rIns="45719"/>
          <a:lstStyle/>
          <a:p>
            <a:pPr/>
          </a:p>
        </p:txBody>
      </p:sp>
      <p:sp>
        <p:nvSpPr>
          <p:cNvPr id="827" name="TextBox 16"/>
          <p:cNvSpPr txBox="1"/>
          <p:nvPr/>
        </p:nvSpPr>
        <p:spPr>
          <a:xfrm>
            <a:off x="5227320" y="2509096"/>
            <a:ext cx="1005841"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nSpc>
                <a:spcPct val="130000"/>
              </a:lnSpc>
              <a:defRPr sz="1000">
                <a:solidFill>
                  <a:schemeClr val="accent2"/>
                </a:solidFill>
              </a:defRPr>
            </a:lvl1pPr>
          </a:lstStyle>
          <a:p>
            <a:pPr/>
            <a:r>
              <a:t>SHM</a:t>
            </a:r>
          </a:p>
        </p:txBody>
      </p:sp>
      <p:grpSp>
        <p:nvGrpSpPr>
          <p:cNvPr id="830" name="Rounded Rectangle 17"/>
          <p:cNvGrpSpPr/>
          <p:nvPr/>
        </p:nvGrpSpPr>
        <p:grpSpPr>
          <a:xfrm>
            <a:off x="1386839" y="4057226"/>
            <a:ext cx="9601201" cy="640081"/>
            <a:chOff x="0" y="0"/>
            <a:chExt cx="9601200" cy="640080"/>
          </a:xfrm>
        </p:grpSpPr>
        <p:sp>
          <p:nvSpPr>
            <p:cNvPr id="828" name="Rounded Rectangle"/>
            <p:cNvSpPr/>
            <p:nvPr/>
          </p:nvSpPr>
          <p:spPr>
            <a:xfrm>
              <a:off x="0" y="0"/>
              <a:ext cx="9601200" cy="640081"/>
            </a:xfrm>
            <a:prstGeom prst="roundRect">
              <a:avLst>
                <a:gd name="adj" fmla="val 16667"/>
              </a:avLst>
            </a:prstGeom>
            <a:solidFill>
              <a:srgbClr val="BDE0E1"/>
            </a:solidFill>
            <a:ln w="19050" cap="flat">
              <a:solidFill>
                <a:schemeClr val="accent2"/>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829" name="NVIDIA L40S — TensorRT FP16 — 48GB VRAM"/>
            <p:cNvSpPr txBox="1"/>
            <p:nvPr/>
          </p:nvSpPr>
          <p:spPr>
            <a:xfrm>
              <a:off x="86490" y="179070"/>
              <a:ext cx="9428220" cy="2819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300">
                  <a:solidFill>
                    <a:schemeClr val="accent2"/>
                  </a:solidFill>
                  <a:latin typeface="Ericsson Hilda Bold"/>
                  <a:ea typeface="Ericsson Hilda Bold"/>
                  <a:cs typeface="Ericsson Hilda Bold"/>
                  <a:sym typeface="Ericsson Hilda Bold"/>
                </a:defRPr>
              </a:lvl1pPr>
            </a:lstStyle>
            <a:p>
              <a:pPr/>
              <a:r>
                <a:t>NVIDIA L40S — TensorRT FP16 — 48GB VRAM</a:t>
              </a:r>
            </a:p>
          </p:txBody>
        </p:sp>
      </p:grpSp>
      <p:sp>
        <p:nvSpPr>
          <p:cNvPr id="831" name="TextBox 18"/>
          <p:cNvSpPr txBox="1"/>
          <p:nvPr/>
        </p:nvSpPr>
        <p:spPr>
          <a:xfrm>
            <a:off x="1432559" y="4880186"/>
            <a:ext cx="4480561" cy="50038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30000"/>
              </a:lnSpc>
              <a:defRPr sz="1200">
                <a:solidFill>
                  <a:srgbClr val="242424"/>
                </a:solidFill>
              </a:defRPr>
            </a:pPr>
            <a:r>
              <a:t>First boot: TRT engine build (~4 min on L40S)</a:t>
            </a:r>
            <a:endParaRPr>
              <a:solidFill>
                <a:srgbClr val="000000"/>
              </a:solidFill>
            </a:endParaRPr>
          </a:p>
          <a:p>
            <a:pPr>
              <a:lnSpc>
                <a:spcPct val="130000"/>
              </a:lnSpc>
              <a:defRPr sz="1200">
                <a:solidFill>
                  <a:srgbClr val="242424"/>
                </a:solidFill>
              </a:defRPr>
            </a:pPr>
            <a:r>
              <a:t>Subsequent: engines cached, ready in seconds</a:t>
            </a:r>
          </a:p>
        </p:txBody>
      </p:sp>
      <p:sp>
        <p:nvSpPr>
          <p:cNvPr id="832" name="TextBox 19"/>
          <p:cNvSpPr txBox="1"/>
          <p:nvPr/>
        </p:nvSpPr>
        <p:spPr>
          <a:xfrm>
            <a:off x="6461759" y="4880186"/>
            <a:ext cx="4480561" cy="50038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30000"/>
              </a:lnSpc>
              <a:defRPr sz="1200">
                <a:solidFill>
                  <a:srgbClr val="242424"/>
                </a:solidFill>
              </a:defRPr>
            </a:pPr>
            <a:r>
              <a:t>Models: YOLOv8n (detection, 6.3M params)</a:t>
            </a:r>
            <a:endParaRPr>
              <a:solidFill>
                <a:srgbClr val="000000"/>
              </a:solidFill>
            </a:endParaRPr>
          </a:p>
          <a:p>
            <a:pPr>
              <a:lnSpc>
                <a:spcPct val="130000"/>
              </a:lnSpc>
              <a:defRPr sz="1200">
                <a:solidFill>
                  <a:srgbClr val="242424"/>
                </a:solidFill>
              </a:defRPr>
            </a:pPr>
            <a:r>
              <a:t>              YOLOv8x-seg (segmentation, 71.8M params)</a:t>
            </a:r>
          </a:p>
        </p:txBody>
      </p:sp>
      <p:sp>
        <p:nvSpPr>
          <p:cNvPr id="833" name="Triton manages two TensorRT FP16 engines (yolov8n, yolov8x-seg) on the L40S. The sidecar talks to it via shared memory, writes input tensor, triggers inference, reads output tensor. No serialization, no network hop  between them."/>
          <p:cNvSpPr txBox="1"/>
          <p:nvPr/>
        </p:nvSpPr>
        <p:spPr>
          <a:xfrm>
            <a:off x="257499" y="5995246"/>
            <a:ext cx="11677002" cy="630801"/>
          </a:xfrm>
          <a:prstGeom prst="rect">
            <a:avLst/>
          </a:prstGeom>
          <a:ln w="12700">
            <a:miter lim="400000"/>
          </a:ln>
          <a:extLst>
            <a:ext uri="{C572A759-6A51-4108-AA02-DFA0A04FC94B}">
              <ma14:wrappingTextBoxFlag xmlns:ma14="http://schemas.microsoft.com/office/mac/drawingml/2011/main" val="1"/>
            </a:ext>
          </a:extLst>
        </p:spPr>
        <p:txBody>
          <a:bodyPr lIns="36000" tIns="36000" rIns="36000" bIns="36000">
            <a:spAutoFit/>
          </a:bodyPr>
          <a:lstStyle>
            <a:lvl1pPr>
              <a:buClr>
                <a:srgbClr val="181818"/>
              </a:buClr>
            </a:lvl1pPr>
          </a:lstStyle>
          <a:p>
            <a:pPr/>
            <a:r>
              <a:t>Triton manages two TensorRT FP16 engines (yolov8n, yolov8x-seg) on the L40S. The sidecar talks to it via shared memory, writes input tensor, triggers inference, reads output tensor. No serialization, no network hop  between them.  </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37" name="txtfooterCopy"/>
          <p:cNvSpPr txBox="1"/>
          <p:nvPr>
            <p:ph type="sldNum" sz="quarter" idx="2"/>
          </p:nvPr>
        </p:nvSpPr>
        <p:spPr>
          <a:xfrm>
            <a:off x="421637" y="6524625"/>
            <a:ext cx="127001" cy="127000"/>
          </a:xfrm>
          <a:prstGeom prst="rect">
            <a:avLst/>
          </a:prstGeom>
          <a:extLst>
            <a:ext uri="{C572A759-6A51-4108-AA02-DFA0A04FC94B}">
              <ma14:wrappingTextBoxFlag xmlns:ma14="http://schemas.microsoft.com/office/mac/drawingml/2011/main" val="1"/>
            </a:ext>
          </a:extLst>
        </p:spPr>
        <p:txBody>
          <a:bodyPr/>
          <a:lstStyle>
            <a:lvl1pPr>
              <a:defRPr sz="800">
                <a:solidFill>
                  <a:srgbClr val="181818"/>
                </a:solidFill>
                <a:latin typeface="Ericsson Hilda Regular"/>
                <a:ea typeface="Ericsson Hilda Regular"/>
                <a:cs typeface="Ericsson Hilda Regular"/>
                <a:sym typeface="Ericsson Hilda Regular"/>
              </a:defRPr>
            </a:lvl1pPr>
          </a:lstStyle>
          <a:p>
            <a:pPr/>
            <a:fld id="{86CB4B4D-7CA3-9044-876B-883B54F8677D}" type="slidenum"/>
          </a:p>
        </p:txBody>
      </p:sp>
      <p:sp>
        <p:nvSpPr>
          <p:cNvPr id="838" name="Title 1"/>
          <p:cNvSpPr txBox="1"/>
          <p:nvPr>
            <p:ph type="title"/>
          </p:nvPr>
        </p:nvSpPr>
        <p:spPr>
          <a:prstGeom prst="rect">
            <a:avLst/>
          </a:prstGeom>
        </p:spPr>
        <p:txBody>
          <a:bodyPr/>
          <a:lstStyle>
            <a:lvl1pPr>
              <a:defRPr spc="-200">
                <a:solidFill>
                  <a:srgbClr val="000000"/>
                </a:solidFill>
              </a:defRPr>
            </a:lvl1pPr>
          </a:lstStyle>
          <a:p>
            <a:pPr/>
            <a:r>
              <a:t>Deployment Sequence</a:t>
            </a:r>
          </a:p>
        </p:txBody>
      </p:sp>
      <p:grpSp>
        <p:nvGrpSpPr>
          <p:cNvPr id="841" name="Rounded Rectangle 2"/>
          <p:cNvGrpSpPr/>
          <p:nvPr/>
        </p:nvGrpSpPr>
        <p:grpSpPr>
          <a:xfrm>
            <a:off x="822960" y="1645920"/>
            <a:ext cx="1280161" cy="457201"/>
            <a:chOff x="0" y="0"/>
            <a:chExt cx="1280160" cy="457200"/>
          </a:xfrm>
        </p:grpSpPr>
        <p:sp>
          <p:nvSpPr>
            <p:cNvPr id="839" name="Rounded Rectangle"/>
            <p:cNvSpPr/>
            <p:nvPr/>
          </p:nvSpPr>
          <p:spPr>
            <a:xfrm>
              <a:off x="0" y="0"/>
              <a:ext cx="1280161" cy="457200"/>
            </a:xfrm>
            <a:prstGeom prst="roundRect">
              <a:avLst>
                <a:gd name="adj" fmla="val 16667"/>
              </a:avLst>
            </a:prstGeom>
            <a:solidFill>
              <a:srgbClr val="D6E2F5"/>
            </a:solidFill>
            <a:ln w="19050" cap="flat">
              <a:solidFill>
                <a:schemeClr val="accent1"/>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840" name="Client"/>
            <p:cNvSpPr txBox="1"/>
            <p:nvPr/>
          </p:nvSpPr>
          <p:spPr>
            <a:xfrm>
              <a:off x="77563" y="93980"/>
              <a:ext cx="1125034" cy="269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200">
                  <a:solidFill>
                    <a:schemeClr val="accent1"/>
                  </a:solidFill>
                  <a:latin typeface="Ericsson Hilda Bold"/>
                  <a:ea typeface="Ericsson Hilda Bold"/>
                  <a:cs typeface="Ericsson Hilda Bold"/>
                  <a:sym typeface="Ericsson Hilda Bold"/>
                </a:defRPr>
              </a:lvl1pPr>
            </a:lstStyle>
            <a:p>
              <a:pPr/>
              <a:r>
                <a:t>Client</a:t>
              </a:r>
            </a:p>
          </p:txBody>
        </p:sp>
      </p:grpSp>
      <p:sp>
        <p:nvSpPr>
          <p:cNvPr id="842" name="Connector 3"/>
          <p:cNvSpPr/>
          <p:nvPr/>
        </p:nvSpPr>
        <p:spPr>
          <a:xfrm flipH="1">
            <a:off x="1463039" y="2103120"/>
            <a:ext cx="1" cy="4114801"/>
          </a:xfrm>
          <a:prstGeom prst="line">
            <a:avLst/>
          </a:prstGeom>
          <a:ln w="12700">
            <a:solidFill>
              <a:srgbClr val="A0A0A0"/>
            </a:solidFill>
            <a:prstDash val="sysDash"/>
          </a:ln>
          <a:effectLst>
            <a:outerShdw sx="100000" sy="100000" kx="0" ky="0" algn="b" rotWithShape="0" blurRad="38100" dist="20000" dir="5400000">
              <a:srgbClr val="000000">
                <a:alpha val="38000"/>
              </a:srgbClr>
            </a:outerShdw>
          </a:effectLst>
        </p:spPr>
        <p:txBody>
          <a:bodyPr lIns="45719" rIns="45719"/>
          <a:lstStyle/>
          <a:p>
            <a:pPr/>
          </a:p>
        </p:txBody>
      </p:sp>
      <p:grpSp>
        <p:nvGrpSpPr>
          <p:cNvPr id="845" name="Rounded Rectangle 4"/>
          <p:cNvGrpSpPr/>
          <p:nvPr/>
        </p:nvGrpSpPr>
        <p:grpSpPr>
          <a:xfrm>
            <a:off x="3566159" y="1645920"/>
            <a:ext cx="1280161" cy="457201"/>
            <a:chOff x="0" y="0"/>
            <a:chExt cx="1280160" cy="457200"/>
          </a:xfrm>
        </p:grpSpPr>
        <p:sp>
          <p:nvSpPr>
            <p:cNvPr id="843" name="Rounded Rectangle"/>
            <p:cNvSpPr/>
            <p:nvPr/>
          </p:nvSpPr>
          <p:spPr>
            <a:xfrm>
              <a:off x="0" y="0"/>
              <a:ext cx="1280161" cy="457200"/>
            </a:xfrm>
            <a:prstGeom prst="roundRect">
              <a:avLst>
                <a:gd name="adj" fmla="val 16667"/>
              </a:avLst>
            </a:prstGeom>
            <a:solidFill>
              <a:srgbClr val="D6E2F5"/>
            </a:solidFill>
            <a:ln w="19050" cap="flat">
              <a:solidFill>
                <a:schemeClr val="accent1"/>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844" name="NEF-Shim"/>
            <p:cNvSpPr txBox="1"/>
            <p:nvPr/>
          </p:nvSpPr>
          <p:spPr>
            <a:xfrm>
              <a:off x="77563" y="93980"/>
              <a:ext cx="1125034" cy="269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200">
                  <a:solidFill>
                    <a:schemeClr val="accent1"/>
                  </a:solidFill>
                  <a:latin typeface="Ericsson Hilda Bold"/>
                  <a:ea typeface="Ericsson Hilda Bold"/>
                  <a:cs typeface="Ericsson Hilda Bold"/>
                  <a:sym typeface="Ericsson Hilda Bold"/>
                </a:defRPr>
              </a:lvl1pPr>
            </a:lstStyle>
            <a:p>
              <a:pPr/>
              <a:r>
                <a:t>NEF-Shim</a:t>
              </a:r>
            </a:p>
          </p:txBody>
        </p:sp>
      </p:grpSp>
      <p:sp>
        <p:nvSpPr>
          <p:cNvPr id="846" name="Connector 5"/>
          <p:cNvSpPr/>
          <p:nvPr/>
        </p:nvSpPr>
        <p:spPr>
          <a:xfrm flipH="1">
            <a:off x="4206240" y="2103120"/>
            <a:ext cx="1" cy="4114801"/>
          </a:xfrm>
          <a:prstGeom prst="line">
            <a:avLst/>
          </a:prstGeom>
          <a:ln w="12700">
            <a:solidFill>
              <a:srgbClr val="A0A0A0"/>
            </a:solidFill>
            <a:prstDash val="sysDash"/>
          </a:ln>
          <a:effectLst>
            <a:outerShdw sx="100000" sy="100000" kx="0" ky="0" algn="b" rotWithShape="0" blurRad="38100" dist="20000" dir="5400000">
              <a:srgbClr val="000000">
                <a:alpha val="38000"/>
              </a:srgbClr>
            </a:outerShdw>
          </a:effectLst>
        </p:spPr>
        <p:txBody>
          <a:bodyPr lIns="45719" rIns="45719"/>
          <a:lstStyle/>
          <a:p>
            <a:pPr/>
          </a:p>
        </p:txBody>
      </p:sp>
      <p:grpSp>
        <p:nvGrpSpPr>
          <p:cNvPr id="849" name="Rounded Rectangle 6"/>
          <p:cNvGrpSpPr/>
          <p:nvPr/>
        </p:nvGrpSpPr>
        <p:grpSpPr>
          <a:xfrm>
            <a:off x="6309359" y="1645920"/>
            <a:ext cx="1280161" cy="457201"/>
            <a:chOff x="0" y="0"/>
            <a:chExt cx="1280160" cy="457200"/>
          </a:xfrm>
        </p:grpSpPr>
        <p:sp>
          <p:nvSpPr>
            <p:cNvPr id="847" name="Rounded Rectangle"/>
            <p:cNvSpPr/>
            <p:nvPr/>
          </p:nvSpPr>
          <p:spPr>
            <a:xfrm>
              <a:off x="0" y="0"/>
              <a:ext cx="1280161" cy="457200"/>
            </a:xfrm>
            <a:prstGeom prst="roundRect">
              <a:avLst>
                <a:gd name="adj" fmla="val 16667"/>
              </a:avLst>
            </a:prstGeom>
            <a:solidFill>
              <a:srgbClr val="BDE0E1"/>
            </a:solidFill>
            <a:ln w="19050" cap="flat">
              <a:solidFill>
                <a:schemeClr val="accent2"/>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848" name="K8s API"/>
            <p:cNvSpPr txBox="1"/>
            <p:nvPr/>
          </p:nvSpPr>
          <p:spPr>
            <a:xfrm>
              <a:off x="77563" y="93980"/>
              <a:ext cx="1125034" cy="269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200">
                  <a:solidFill>
                    <a:schemeClr val="accent2"/>
                  </a:solidFill>
                  <a:latin typeface="Ericsson Hilda Bold"/>
                  <a:ea typeface="Ericsson Hilda Bold"/>
                  <a:cs typeface="Ericsson Hilda Bold"/>
                  <a:sym typeface="Ericsson Hilda Bold"/>
                </a:defRPr>
              </a:lvl1pPr>
            </a:lstStyle>
            <a:p>
              <a:pPr/>
              <a:r>
                <a:t>K8s API</a:t>
              </a:r>
            </a:p>
          </p:txBody>
        </p:sp>
      </p:grpSp>
      <p:sp>
        <p:nvSpPr>
          <p:cNvPr id="850" name="Connector 7"/>
          <p:cNvSpPr/>
          <p:nvPr/>
        </p:nvSpPr>
        <p:spPr>
          <a:xfrm flipH="1">
            <a:off x="6949440" y="2103120"/>
            <a:ext cx="1" cy="4114801"/>
          </a:xfrm>
          <a:prstGeom prst="line">
            <a:avLst/>
          </a:prstGeom>
          <a:ln w="12700">
            <a:solidFill>
              <a:srgbClr val="A0A0A0"/>
            </a:solidFill>
            <a:prstDash val="sysDash"/>
          </a:ln>
          <a:effectLst>
            <a:outerShdw sx="100000" sy="100000" kx="0" ky="0" algn="b" rotWithShape="0" blurRad="38100" dist="20000" dir="5400000">
              <a:srgbClr val="000000">
                <a:alpha val="38000"/>
              </a:srgbClr>
            </a:outerShdw>
          </a:effectLst>
        </p:spPr>
        <p:txBody>
          <a:bodyPr lIns="45719" rIns="45719"/>
          <a:lstStyle/>
          <a:p>
            <a:pPr/>
          </a:p>
        </p:txBody>
      </p:sp>
      <p:grpSp>
        <p:nvGrpSpPr>
          <p:cNvPr id="853" name="Rounded Rectangle 8"/>
          <p:cNvGrpSpPr/>
          <p:nvPr/>
        </p:nvGrpSpPr>
        <p:grpSpPr>
          <a:xfrm>
            <a:off x="9052559" y="1645920"/>
            <a:ext cx="1280161" cy="457201"/>
            <a:chOff x="0" y="0"/>
            <a:chExt cx="1280160" cy="457200"/>
          </a:xfrm>
        </p:grpSpPr>
        <p:sp>
          <p:nvSpPr>
            <p:cNvPr id="851" name="Rounded Rectangle"/>
            <p:cNvSpPr/>
            <p:nvPr/>
          </p:nvSpPr>
          <p:spPr>
            <a:xfrm>
              <a:off x="0" y="0"/>
              <a:ext cx="1280161" cy="457200"/>
            </a:xfrm>
            <a:prstGeom prst="roundRect">
              <a:avLst>
                <a:gd name="adj" fmla="val 16667"/>
              </a:avLst>
            </a:prstGeom>
            <a:solidFill>
              <a:srgbClr val="BDE0E1"/>
            </a:solidFill>
            <a:ln w="19050" cap="flat">
              <a:solidFill>
                <a:schemeClr val="accent2"/>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852" name="Pod"/>
            <p:cNvSpPr txBox="1"/>
            <p:nvPr/>
          </p:nvSpPr>
          <p:spPr>
            <a:xfrm>
              <a:off x="77563" y="93980"/>
              <a:ext cx="1125034" cy="269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200">
                  <a:solidFill>
                    <a:schemeClr val="accent2"/>
                  </a:solidFill>
                  <a:latin typeface="Ericsson Hilda Bold"/>
                  <a:ea typeface="Ericsson Hilda Bold"/>
                  <a:cs typeface="Ericsson Hilda Bold"/>
                  <a:sym typeface="Ericsson Hilda Bold"/>
                </a:defRPr>
              </a:lvl1pPr>
            </a:lstStyle>
            <a:p>
              <a:pPr/>
              <a:r>
                <a:t>Pod</a:t>
              </a:r>
            </a:p>
          </p:txBody>
        </p:sp>
      </p:grpSp>
      <p:sp>
        <p:nvSpPr>
          <p:cNvPr id="854" name="Connector 9"/>
          <p:cNvSpPr/>
          <p:nvPr/>
        </p:nvSpPr>
        <p:spPr>
          <a:xfrm flipH="1">
            <a:off x="9692640" y="2103120"/>
            <a:ext cx="1" cy="4114801"/>
          </a:xfrm>
          <a:prstGeom prst="line">
            <a:avLst/>
          </a:prstGeom>
          <a:ln w="12700">
            <a:solidFill>
              <a:srgbClr val="A0A0A0"/>
            </a:solidFill>
            <a:prstDash val="sysDash"/>
          </a:ln>
          <a:effectLst>
            <a:outerShdw sx="100000" sy="100000" kx="0" ky="0" algn="b" rotWithShape="0" blurRad="38100" dist="20000" dir="5400000">
              <a:srgbClr val="000000">
                <a:alpha val="38000"/>
              </a:srgbClr>
            </a:outerShdw>
          </a:effectLst>
        </p:spPr>
        <p:txBody>
          <a:bodyPr lIns="45719" rIns="45719"/>
          <a:lstStyle/>
          <a:p>
            <a:pPr/>
          </a:p>
        </p:txBody>
      </p:sp>
      <p:sp>
        <p:nvSpPr>
          <p:cNvPr id="855" name="Connector 10"/>
          <p:cNvSpPr/>
          <p:nvPr/>
        </p:nvSpPr>
        <p:spPr>
          <a:xfrm>
            <a:off x="1463039" y="2435860"/>
            <a:ext cx="2743201" cy="1"/>
          </a:xfrm>
          <a:prstGeom prst="line">
            <a:avLst/>
          </a:prstGeom>
          <a:ln w="19050">
            <a:solidFill>
              <a:schemeClr val="accent1"/>
            </a:solidFill>
            <a:tailEnd type="triangle"/>
          </a:ln>
          <a:effectLst>
            <a:outerShdw sx="100000" sy="100000" kx="0" ky="0" algn="b" rotWithShape="0" blurRad="38100" dist="20000" dir="5400000">
              <a:srgbClr val="000000">
                <a:alpha val="38000"/>
              </a:srgbClr>
            </a:outerShdw>
          </a:effectLst>
        </p:spPr>
        <p:txBody>
          <a:bodyPr lIns="45719" rIns="45719"/>
          <a:lstStyle/>
          <a:p>
            <a:pPr/>
          </a:p>
        </p:txBody>
      </p:sp>
      <p:sp>
        <p:nvSpPr>
          <p:cNvPr id="856" name="TextBox 11"/>
          <p:cNvSpPr txBox="1"/>
          <p:nvPr/>
        </p:nvSpPr>
        <p:spPr>
          <a:xfrm>
            <a:off x="1600200" y="2207260"/>
            <a:ext cx="2468881"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000">
                <a:solidFill>
                  <a:srgbClr val="242424"/>
                </a:solidFill>
              </a:defRPr>
            </a:lvl1pPr>
          </a:lstStyle>
          <a:p>
            <a:pPr/>
            <a:r>
              <a:t>GET /edge-cloud-zones</a:t>
            </a:r>
          </a:p>
        </p:txBody>
      </p:sp>
      <p:sp>
        <p:nvSpPr>
          <p:cNvPr id="857" name="Connector 12"/>
          <p:cNvSpPr/>
          <p:nvPr/>
        </p:nvSpPr>
        <p:spPr>
          <a:xfrm flipH="1" flipV="1">
            <a:off x="1463039" y="2710179"/>
            <a:ext cx="2743201" cy="1"/>
          </a:xfrm>
          <a:prstGeom prst="line">
            <a:avLst/>
          </a:prstGeom>
          <a:ln w="19050">
            <a:solidFill>
              <a:schemeClr val="accent1"/>
            </a:solidFill>
            <a:tailEnd type="triangle"/>
          </a:ln>
          <a:effectLst>
            <a:outerShdw sx="100000" sy="100000" kx="0" ky="0" algn="b" rotWithShape="0" blurRad="38100" dist="20000" dir="5400000">
              <a:srgbClr val="000000">
                <a:alpha val="38000"/>
              </a:srgbClr>
            </a:outerShdw>
          </a:effectLst>
        </p:spPr>
        <p:txBody>
          <a:bodyPr lIns="45719" rIns="45719"/>
          <a:lstStyle/>
          <a:p>
            <a:pPr/>
          </a:p>
        </p:txBody>
      </p:sp>
      <p:sp>
        <p:nvSpPr>
          <p:cNvPr id="858" name="TextBox 13"/>
          <p:cNvSpPr txBox="1"/>
          <p:nvPr/>
        </p:nvSpPr>
        <p:spPr>
          <a:xfrm>
            <a:off x="1600200" y="2481579"/>
            <a:ext cx="2468881"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000">
                <a:solidFill>
                  <a:srgbClr val="242424"/>
                </a:solidFill>
              </a:defRPr>
            </a:lvl1pPr>
          </a:lstStyle>
          <a:p>
            <a:pPr/>
            <a:r>
              <a:t>zone: LTH 5G Lab (L40S)</a:t>
            </a:r>
          </a:p>
        </p:txBody>
      </p:sp>
      <p:sp>
        <p:nvSpPr>
          <p:cNvPr id="859" name="Connector 14"/>
          <p:cNvSpPr/>
          <p:nvPr/>
        </p:nvSpPr>
        <p:spPr>
          <a:xfrm>
            <a:off x="1463039" y="2984500"/>
            <a:ext cx="2743201" cy="0"/>
          </a:xfrm>
          <a:prstGeom prst="line">
            <a:avLst/>
          </a:prstGeom>
          <a:ln w="19050">
            <a:solidFill>
              <a:schemeClr val="accent1"/>
            </a:solidFill>
            <a:tailEnd type="triangle"/>
          </a:ln>
          <a:effectLst>
            <a:outerShdw sx="100000" sy="100000" kx="0" ky="0" algn="b" rotWithShape="0" blurRad="38100" dist="20000" dir="5400000">
              <a:srgbClr val="000000">
                <a:alpha val="38000"/>
              </a:srgbClr>
            </a:outerShdw>
          </a:effectLst>
        </p:spPr>
        <p:txBody>
          <a:bodyPr lIns="45719" rIns="45719"/>
          <a:lstStyle/>
          <a:p>
            <a:pPr/>
          </a:p>
        </p:txBody>
      </p:sp>
      <p:sp>
        <p:nvSpPr>
          <p:cNvPr id="860" name="TextBox 15"/>
          <p:cNvSpPr txBox="1"/>
          <p:nvPr/>
        </p:nvSpPr>
        <p:spPr>
          <a:xfrm>
            <a:off x="1600200" y="2755900"/>
            <a:ext cx="2468881" cy="2438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000">
                <a:solidFill>
                  <a:srgbClr val="242424"/>
                </a:solidFill>
              </a:defRPr>
            </a:lvl1pPr>
          </a:lstStyle>
          <a:p>
            <a:pPr/>
            <a:r>
              <a:t>POST /apps (manifest)</a:t>
            </a:r>
          </a:p>
        </p:txBody>
      </p:sp>
      <p:sp>
        <p:nvSpPr>
          <p:cNvPr id="861" name="Connector 16"/>
          <p:cNvSpPr/>
          <p:nvPr/>
        </p:nvSpPr>
        <p:spPr>
          <a:xfrm flipH="1">
            <a:off x="1463039" y="3258820"/>
            <a:ext cx="2743201" cy="1"/>
          </a:xfrm>
          <a:prstGeom prst="line">
            <a:avLst/>
          </a:prstGeom>
          <a:ln w="19050">
            <a:solidFill>
              <a:schemeClr val="accent1"/>
            </a:solidFill>
            <a:tailEnd type="triangle"/>
          </a:ln>
          <a:effectLst>
            <a:outerShdw sx="100000" sy="100000" kx="0" ky="0" algn="b" rotWithShape="0" blurRad="38100" dist="20000" dir="5400000">
              <a:srgbClr val="000000">
                <a:alpha val="38000"/>
              </a:srgbClr>
            </a:outerShdw>
          </a:effectLst>
        </p:spPr>
        <p:txBody>
          <a:bodyPr lIns="45719" rIns="45719"/>
          <a:lstStyle/>
          <a:p>
            <a:pPr/>
          </a:p>
        </p:txBody>
      </p:sp>
      <p:sp>
        <p:nvSpPr>
          <p:cNvPr id="862" name="TextBox 17"/>
          <p:cNvSpPr txBox="1"/>
          <p:nvPr/>
        </p:nvSpPr>
        <p:spPr>
          <a:xfrm>
            <a:off x="1600200" y="3030220"/>
            <a:ext cx="2468881"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000">
                <a:solidFill>
                  <a:srgbClr val="242424"/>
                </a:solidFill>
              </a:defRPr>
            </a:lvl1pPr>
          </a:lstStyle>
          <a:p>
            <a:pPr/>
            <a:r>
              <a:t>appId: d8ecc4bc...</a:t>
            </a:r>
          </a:p>
        </p:txBody>
      </p:sp>
      <p:sp>
        <p:nvSpPr>
          <p:cNvPr id="863" name="Connector 18"/>
          <p:cNvSpPr/>
          <p:nvPr/>
        </p:nvSpPr>
        <p:spPr>
          <a:xfrm>
            <a:off x="1463039" y="3533140"/>
            <a:ext cx="2743201" cy="1"/>
          </a:xfrm>
          <a:prstGeom prst="line">
            <a:avLst/>
          </a:prstGeom>
          <a:ln w="19050">
            <a:solidFill>
              <a:schemeClr val="accent1"/>
            </a:solidFill>
            <a:tailEnd type="triangle"/>
          </a:ln>
          <a:effectLst>
            <a:outerShdw sx="100000" sy="100000" kx="0" ky="0" algn="b" rotWithShape="0" blurRad="38100" dist="20000" dir="5400000">
              <a:srgbClr val="000000">
                <a:alpha val="38000"/>
              </a:srgbClr>
            </a:outerShdw>
          </a:effectLst>
        </p:spPr>
        <p:txBody>
          <a:bodyPr lIns="45719" rIns="45719"/>
          <a:lstStyle/>
          <a:p>
            <a:pPr/>
          </a:p>
        </p:txBody>
      </p:sp>
      <p:sp>
        <p:nvSpPr>
          <p:cNvPr id="864" name="TextBox 19"/>
          <p:cNvSpPr txBox="1"/>
          <p:nvPr/>
        </p:nvSpPr>
        <p:spPr>
          <a:xfrm>
            <a:off x="1600200" y="3304540"/>
            <a:ext cx="2468881"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000">
                <a:solidFill>
                  <a:srgbClr val="242424"/>
                </a:solidFill>
              </a:defRPr>
            </a:lvl1pPr>
          </a:lstStyle>
          <a:p>
            <a:pPr/>
            <a:r>
              <a:t>POST /app-instances</a:t>
            </a:r>
          </a:p>
        </p:txBody>
      </p:sp>
      <p:sp>
        <p:nvSpPr>
          <p:cNvPr id="865" name="Connector 20"/>
          <p:cNvSpPr/>
          <p:nvPr/>
        </p:nvSpPr>
        <p:spPr>
          <a:xfrm>
            <a:off x="4206240" y="3807459"/>
            <a:ext cx="2743201" cy="1"/>
          </a:xfrm>
          <a:prstGeom prst="line">
            <a:avLst/>
          </a:prstGeom>
          <a:ln w="19050">
            <a:solidFill>
              <a:schemeClr val="accent1"/>
            </a:solidFill>
            <a:tailEnd type="triangle"/>
          </a:ln>
          <a:effectLst>
            <a:outerShdw sx="100000" sy="100000" kx="0" ky="0" algn="b" rotWithShape="0" blurRad="38100" dist="20000" dir="5400000">
              <a:srgbClr val="000000">
                <a:alpha val="38000"/>
              </a:srgbClr>
            </a:outerShdw>
          </a:effectLst>
        </p:spPr>
        <p:txBody>
          <a:bodyPr lIns="45719" rIns="45719"/>
          <a:lstStyle/>
          <a:p>
            <a:pPr/>
          </a:p>
        </p:txBody>
      </p:sp>
      <p:sp>
        <p:nvSpPr>
          <p:cNvPr id="866" name="TextBox 21"/>
          <p:cNvSpPr txBox="1"/>
          <p:nvPr/>
        </p:nvSpPr>
        <p:spPr>
          <a:xfrm>
            <a:off x="4343400" y="3578859"/>
            <a:ext cx="2468881"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000">
                <a:solidFill>
                  <a:srgbClr val="242424"/>
                </a:solidFill>
              </a:defRPr>
            </a:lvl1pPr>
          </a:lstStyle>
          <a:p>
            <a:pPr/>
            <a:r>
              <a:t>kubectl apply deploy+svc</a:t>
            </a:r>
          </a:p>
        </p:txBody>
      </p:sp>
      <p:sp>
        <p:nvSpPr>
          <p:cNvPr id="867" name="Connector 22"/>
          <p:cNvSpPr/>
          <p:nvPr/>
        </p:nvSpPr>
        <p:spPr>
          <a:xfrm>
            <a:off x="6949440" y="4081779"/>
            <a:ext cx="2743201" cy="1"/>
          </a:xfrm>
          <a:prstGeom prst="line">
            <a:avLst/>
          </a:prstGeom>
          <a:ln w="19050">
            <a:solidFill>
              <a:schemeClr val="accent1"/>
            </a:solidFill>
            <a:tailEnd type="triangle"/>
          </a:ln>
          <a:effectLst>
            <a:outerShdw sx="100000" sy="100000" kx="0" ky="0" algn="b" rotWithShape="0" blurRad="38100" dist="20000" dir="5400000">
              <a:srgbClr val="000000">
                <a:alpha val="38000"/>
              </a:srgbClr>
            </a:outerShdw>
          </a:effectLst>
        </p:spPr>
        <p:txBody>
          <a:bodyPr lIns="45719" rIns="45719"/>
          <a:lstStyle/>
          <a:p>
            <a:pPr/>
          </a:p>
        </p:txBody>
      </p:sp>
      <p:sp>
        <p:nvSpPr>
          <p:cNvPr id="868" name="TextBox 23"/>
          <p:cNvSpPr txBox="1"/>
          <p:nvPr/>
        </p:nvSpPr>
        <p:spPr>
          <a:xfrm>
            <a:off x="7086600" y="3853179"/>
            <a:ext cx="2468881"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000">
                <a:solidFill>
                  <a:srgbClr val="242424"/>
                </a:solidFill>
              </a:defRPr>
            </a:lvl1pPr>
          </a:lstStyle>
          <a:p>
            <a:pPr/>
            <a:r>
              <a:t>create pod</a:t>
            </a:r>
          </a:p>
        </p:txBody>
      </p:sp>
      <p:sp>
        <p:nvSpPr>
          <p:cNvPr id="869" name="Connector 24"/>
          <p:cNvSpPr/>
          <p:nvPr/>
        </p:nvSpPr>
        <p:spPr>
          <a:xfrm>
            <a:off x="9801860" y="4330699"/>
            <a:ext cx="1" cy="274321"/>
          </a:xfrm>
          <a:prstGeom prst="line">
            <a:avLst/>
          </a:prstGeom>
          <a:ln w="19050">
            <a:solidFill>
              <a:schemeClr val="accent2"/>
            </a:solidFill>
            <a:tailEnd type="triangle"/>
          </a:ln>
          <a:effectLst>
            <a:outerShdw sx="100000" sy="100000" kx="0" ky="0" algn="b" rotWithShape="0" blurRad="38100" dist="20000" dir="5400000">
              <a:srgbClr val="000000">
                <a:alpha val="38000"/>
              </a:srgbClr>
            </a:outerShdw>
          </a:effectLst>
        </p:spPr>
        <p:txBody>
          <a:bodyPr lIns="45719" rIns="45719"/>
          <a:lstStyle/>
          <a:p>
            <a:pPr/>
          </a:p>
        </p:txBody>
      </p:sp>
      <p:sp>
        <p:nvSpPr>
          <p:cNvPr id="870" name="TextBox 25"/>
          <p:cNvSpPr txBox="1"/>
          <p:nvPr/>
        </p:nvSpPr>
        <p:spPr>
          <a:xfrm>
            <a:off x="9939019" y="4239259"/>
            <a:ext cx="2194561"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000">
                <a:solidFill>
                  <a:schemeClr val="accent2"/>
                </a:solidFill>
              </a:defRPr>
            </a:lvl1pPr>
          </a:lstStyle>
          <a:p>
            <a:pPr/>
            <a:r>
              <a:t>build TRT engines (~4min)</a:t>
            </a:r>
          </a:p>
        </p:txBody>
      </p:sp>
      <p:sp>
        <p:nvSpPr>
          <p:cNvPr id="871" name="Connector 26"/>
          <p:cNvSpPr/>
          <p:nvPr/>
        </p:nvSpPr>
        <p:spPr>
          <a:xfrm>
            <a:off x="1463039" y="4721859"/>
            <a:ext cx="2743201" cy="1"/>
          </a:xfrm>
          <a:prstGeom prst="line">
            <a:avLst/>
          </a:prstGeom>
          <a:ln w="19050">
            <a:solidFill>
              <a:schemeClr val="accent1"/>
            </a:solidFill>
            <a:tailEnd type="triangle"/>
          </a:ln>
          <a:effectLst>
            <a:outerShdw sx="100000" sy="100000" kx="0" ky="0" algn="b" rotWithShape="0" blurRad="38100" dist="20000" dir="5400000">
              <a:srgbClr val="000000">
                <a:alpha val="38000"/>
              </a:srgbClr>
            </a:outerShdw>
          </a:effectLst>
        </p:spPr>
        <p:txBody>
          <a:bodyPr lIns="45719" rIns="45719"/>
          <a:lstStyle/>
          <a:p>
            <a:pPr/>
          </a:p>
        </p:txBody>
      </p:sp>
      <p:sp>
        <p:nvSpPr>
          <p:cNvPr id="872" name="TextBox 27"/>
          <p:cNvSpPr txBox="1"/>
          <p:nvPr/>
        </p:nvSpPr>
        <p:spPr>
          <a:xfrm>
            <a:off x="1600200" y="4493259"/>
            <a:ext cx="2468881"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000">
                <a:solidFill>
                  <a:srgbClr val="242424"/>
                </a:solidFill>
              </a:defRPr>
            </a:lvl1pPr>
          </a:lstStyle>
          <a:p>
            <a:pPr/>
            <a:r>
              <a:t>GET /status (poll)</a:t>
            </a:r>
          </a:p>
        </p:txBody>
      </p:sp>
      <p:sp>
        <p:nvSpPr>
          <p:cNvPr id="873" name="Connector 28"/>
          <p:cNvSpPr/>
          <p:nvPr/>
        </p:nvSpPr>
        <p:spPr>
          <a:xfrm>
            <a:off x="4206240" y="4996179"/>
            <a:ext cx="2743201" cy="1"/>
          </a:xfrm>
          <a:prstGeom prst="line">
            <a:avLst/>
          </a:prstGeom>
          <a:ln w="19050">
            <a:solidFill>
              <a:schemeClr val="accent1"/>
            </a:solidFill>
            <a:tailEnd type="triangle"/>
          </a:ln>
          <a:effectLst>
            <a:outerShdw sx="100000" sy="100000" kx="0" ky="0" algn="b" rotWithShape="0" blurRad="38100" dist="20000" dir="5400000">
              <a:srgbClr val="000000">
                <a:alpha val="38000"/>
              </a:srgbClr>
            </a:outerShdw>
          </a:effectLst>
        </p:spPr>
        <p:txBody>
          <a:bodyPr lIns="45719" rIns="45719"/>
          <a:lstStyle/>
          <a:p>
            <a:pPr/>
          </a:p>
        </p:txBody>
      </p:sp>
      <p:sp>
        <p:nvSpPr>
          <p:cNvPr id="874" name="TextBox 29"/>
          <p:cNvSpPr txBox="1"/>
          <p:nvPr/>
        </p:nvSpPr>
        <p:spPr>
          <a:xfrm>
            <a:off x="4343400" y="4767579"/>
            <a:ext cx="2468881"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000">
                <a:solidFill>
                  <a:srgbClr val="242424"/>
                </a:solidFill>
              </a:defRPr>
            </a:lvl1pPr>
          </a:lstStyle>
          <a:p>
            <a:pPr/>
            <a:r>
              <a:t>kubectl get pod (polling)</a:t>
            </a:r>
          </a:p>
        </p:txBody>
      </p:sp>
      <p:sp>
        <p:nvSpPr>
          <p:cNvPr id="875" name="Connector 30"/>
          <p:cNvSpPr/>
          <p:nvPr/>
        </p:nvSpPr>
        <p:spPr>
          <a:xfrm flipH="1">
            <a:off x="6949440" y="5270500"/>
            <a:ext cx="2743201" cy="0"/>
          </a:xfrm>
          <a:prstGeom prst="line">
            <a:avLst/>
          </a:prstGeom>
          <a:ln w="19050">
            <a:solidFill>
              <a:schemeClr val="accent1"/>
            </a:solidFill>
            <a:tailEnd type="triangle"/>
          </a:ln>
          <a:effectLst>
            <a:outerShdw sx="100000" sy="100000" kx="0" ky="0" algn="b" rotWithShape="0" blurRad="38100" dist="20000" dir="5400000">
              <a:srgbClr val="000000">
                <a:alpha val="38000"/>
              </a:srgbClr>
            </a:outerShdw>
          </a:effectLst>
        </p:spPr>
        <p:txBody>
          <a:bodyPr lIns="45719" rIns="45719"/>
          <a:lstStyle/>
          <a:p>
            <a:pPr/>
          </a:p>
        </p:txBody>
      </p:sp>
      <p:sp>
        <p:nvSpPr>
          <p:cNvPr id="876" name="TextBox 31"/>
          <p:cNvSpPr txBox="1"/>
          <p:nvPr/>
        </p:nvSpPr>
        <p:spPr>
          <a:xfrm>
            <a:off x="7086600" y="5041900"/>
            <a:ext cx="2468881" cy="2438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000">
                <a:solidFill>
                  <a:srgbClr val="242424"/>
                </a:solidFill>
              </a:defRPr>
            </a:lvl1pPr>
          </a:lstStyle>
          <a:p>
            <a:pPr/>
            <a:r>
              <a:t>readiness probe OK</a:t>
            </a:r>
          </a:p>
        </p:txBody>
      </p:sp>
      <p:sp>
        <p:nvSpPr>
          <p:cNvPr id="877" name="Connector 32"/>
          <p:cNvSpPr/>
          <p:nvPr/>
        </p:nvSpPr>
        <p:spPr>
          <a:xfrm flipH="1">
            <a:off x="1463039" y="5544820"/>
            <a:ext cx="2743201" cy="1"/>
          </a:xfrm>
          <a:prstGeom prst="line">
            <a:avLst/>
          </a:prstGeom>
          <a:ln w="19050">
            <a:solidFill>
              <a:schemeClr val="accent1"/>
            </a:solidFill>
            <a:tailEnd type="triangle"/>
          </a:ln>
          <a:effectLst>
            <a:outerShdw sx="100000" sy="100000" kx="0" ky="0" algn="b" rotWithShape="0" blurRad="38100" dist="20000" dir="5400000">
              <a:srgbClr val="000000">
                <a:alpha val="38000"/>
              </a:srgbClr>
            </a:outerShdw>
          </a:effectLst>
        </p:spPr>
        <p:txBody>
          <a:bodyPr lIns="45719" rIns="45719"/>
          <a:lstStyle/>
          <a:p>
            <a:pPr/>
          </a:p>
        </p:txBody>
      </p:sp>
      <p:sp>
        <p:nvSpPr>
          <p:cNvPr id="878" name="TextBox 33"/>
          <p:cNvSpPr txBox="1"/>
          <p:nvPr/>
        </p:nvSpPr>
        <p:spPr>
          <a:xfrm>
            <a:off x="1600200" y="5316220"/>
            <a:ext cx="2468881"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000">
                <a:solidFill>
                  <a:srgbClr val="242424"/>
                </a:solidFill>
              </a:defRPr>
            </a:lvl1pPr>
          </a:lstStyle>
          <a:p>
            <a:pPr/>
            <a:r>
              <a:t>status: ready</a:t>
            </a:r>
          </a:p>
        </p:txBody>
      </p:sp>
      <p:sp>
        <p:nvSpPr>
          <p:cNvPr id="879" name="Connector 34"/>
          <p:cNvSpPr/>
          <p:nvPr/>
        </p:nvSpPr>
        <p:spPr>
          <a:xfrm>
            <a:off x="1463039" y="5819140"/>
            <a:ext cx="2743201" cy="1"/>
          </a:xfrm>
          <a:prstGeom prst="line">
            <a:avLst/>
          </a:prstGeom>
          <a:ln w="19050">
            <a:solidFill>
              <a:schemeClr val="accent1"/>
            </a:solidFill>
            <a:tailEnd type="triangle"/>
          </a:ln>
          <a:effectLst>
            <a:outerShdw sx="100000" sy="100000" kx="0" ky="0" algn="b" rotWithShape="0" blurRad="38100" dist="20000" dir="5400000">
              <a:srgbClr val="000000">
                <a:alpha val="38000"/>
              </a:srgbClr>
            </a:outerShdw>
          </a:effectLst>
        </p:spPr>
        <p:txBody>
          <a:bodyPr lIns="45719" rIns="45719"/>
          <a:lstStyle/>
          <a:p>
            <a:pPr/>
          </a:p>
        </p:txBody>
      </p:sp>
      <p:sp>
        <p:nvSpPr>
          <p:cNvPr id="880" name="TextBox 35"/>
          <p:cNvSpPr txBox="1"/>
          <p:nvPr/>
        </p:nvSpPr>
        <p:spPr>
          <a:xfrm>
            <a:off x="1600200" y="5590540"/>
            <a:ext cx="2468881"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000">
                <a:solidFill>
                  <a:srgbClr val="242424"/>
                </a:solidFill>
              </a:defRPr>
            </a:lvl1pPr>
          </a:lstStyle>
          <a:p>
            <a:pPr/>
            <a:r>
              <a:t>GET /endpoints</a:t>
            </a:r>
          </a:p>
        </p:txBody>
      </p:sp>
      <p:sp>
        <p:nvSpPr>
          <p:cNvPr id="881" name="Connector 36"/>
          <p:cNvSpPr/>
          <p:nvPr/>
        </p:nvSpPr>
        <p:spPr>
          <a:xfrm flipH="1">
            <a:off x="1463039" y="6093459"/>
            <a:ext cx="2743201" cy="1"/>
          </a:xfrm>
          <a:prstGeom prst="line">
            <a:avLst/>
          </a:prstGeom>
          <a:ln w="19050">
            <a:solidFill>
              <a:schemeClr val="accent1"/>
            </a:solidFill>
            <a:tailEnd type="triangle"/>
          </a:ln>
          <a:effectLst>
            <a:outerShdw sx="100000" sy="100000" kx="0" ky="0" algn="b" rotWithShape="0" blurRad="38100" dist="20000" dir="5400000">
              <a:srgbClr val="000000">
                <a:alpha val="38000"/>
              </a:srgbClr>
            </a:outerShdw>
          </a:effectLst>
        </p:spPr>
        <p:txBody>
          <a:bodyPr lIns="45719" rIns="45719"/>
          <a:lstStyle/>
          <a:p>
            <a:pPr/>
          </a:p>
        </p:txBody>
      </p:sp>
      <p:sp>
        <p:nvSpPr>
          <p:cNvPr id="882" name="TextBox 37"/>
          <p:cNvSpPr txBox="1"/>
          <p:nvPr/>
        </p:nvSpPr>
        <p:spPr>
          <a:xfrm>
            <a:off x="1600200" y="5864859"/>
            <a:ext cx="2468881"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000">
                <a:solidFill>
                  <a:srgbClr val="242424"/>
                </a:solidFill>
              </a:defRPr>
            </a:lvl1pPr>
          </a:lstStyle>
          <a:p>
            <a:pPr/>
            <a:r>
              <a:t>grpc: host:31xxx, http: .../proxy</a:t>
            </a:r>
          </a:p>
        </p:txBody>
      </p:sp>
      <p:sp>
        <p:nvSpPr>
          <p:cNvPr id="883" name="TextBox 38"/>
          <p:cNvSpPr txBox="1"/>
          <p:nvPr/>
        </p:nvSpPr>
        <p:spPr>
          <a:xfrm>
            <a:off x="11483339" y="6446520"/>
            <a:ext cx="175261" cy="2438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gn="r">
              <a:defRPr sz="1000">
                <a:solidFill>
                  <a:srgbClr val="767676"/>
                </a:solidFill>
              </a:defRPr>
            </a:lvl1pPr>
          </a:lstStyle>
          <a:p>
            <a:pPr/>
            <a:r>
              <a:t>9</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87" name="Title 1"/>
          <p:cNvSpPr txBox="1"/>
          <p:nvPr>
            <p:ph type="title"/>
          </p:nvPr>
        </p:nvSpPr>
        <p:spPr>
          <a:prstGeom prst="rect">
            <a:avLst/>
          </a:prstGeom>
        </p:spPr>
        <p:txBody>
          <a:bodyPr/>
          <a:lstStyle>
            <a:lvl1pPr>
              <a:defRPr spc="-200">
                <a:solidFill>
                  <a:srgbClr val="000000"/>
                </a:solidFill>
              </a:defRPr>
            </a:lvl1pPr>
          </a:lstStyle>
          <a:p>
            <a:pPr/>
            <a:r>
              <a:t>Application Manifest</a:t>
            </a:r>
          </a:p>
        </p:txBody>
      </p:sp>
      <p:sp>
        <p:nvSpPr>
          <p:cNvPr id="888" name="APP_MANIFEST = {…"/>
          <p:cNvSpPr txBox="1"/>
          <p:nvPr/>
        </p:nvSpPr>
        <p:spPr>
          <a:xfrm>
            <a:off x="458508" y="1295145"/>
            <a:ext cx="5534781" cy="5215501"/>
          </a:xfrm>
          <a:prstGeom prst="rect">
            <a:avLst/>
          </a:prstGeom>
          <a:solidFill>
            <a:srgbClr val="DDDDDD"/>
          </a:solidFill>
          <a:ln w="12700">
            <a:miter lim="400000"/>
          </a:ln>
          <a:extLst>
            <a:ext uri="{C572A759-6A51-4108-AA02-DFA0A04FC94B}">
              <ma14:wrappingTextBoxFlag xmlns:ma14="http://schemas.microsoft.com/office/mac/drawingml/2011/main" val="1"/>
            </a:ext>
          </a:extLst>
        </p:spPr>
        <p:txBody>
          <a:bodyPr lIns="36000" tIns="36000" rIns="36000" bIns="36000">
            <a:spAutoFit/>
          </a:bodyPr>
          <a:lstStyle/>
          <a:p>
            <a:pPr>
              <a:defRPr sz="1300">
                <a:latin typeface="0xProto Nerd Font"/>
                <a:ea typeface="0xProto Nerd Font"/>
                <a:cs typeface="0xProto Nerd Font"/>
                <a:sym typeface="0xProto Nerd Font"/>
              </a:defRPr>
            </a:pPr>
            <a:r>
              <a:t>APP_MANIFEST = {                                                                                                     </a:t>
            </a:r>
          </a:p>
          <a:p>
            <a:pPr>
              <a:defRPr sz="1300">
                <a:latin typeface="0xProto Nerd Font"/>
                <a:ea typeface="0xProto Nerd Font"/>
                <a:cs typeface="0xProto Nerd Font"/>
                <a:sym typeface="0xProto Nerd Font"/>
              </a:defRPr>
            </a:pPr>
            <a:r>
              <a:t>      "appName": "edgevision-yolov8",                                                                                  </a:t>
            </a:r>
          </a:p>
          <a:p>
            <a:pPr>
              <a:defRPr sz="1300">
                <a:latin typeface="0xProto Nerd Font"/>
                <a:ea typeface="0xProto Nerd Font"/>
                <a:cs typeface="0xProto Nerd Font"/>
                <a:sym typeface="0xProto Nerd Font"/>
              </a:defRPr>
            </a:pPr>
            <a:r>
              <a:t>      "appProvider": "lth-frtn90",                                                                                     </a:t>
            </a:r>
          </a:p>
          <a:p>
            <a:pPr>
              <a:defRPr sz="1300">
                <a:latin typeface="0xProto Nerd Font"/>
                <a:ea typeface="0xProto Nerd Font"/>
                <a:cs typeface="0xProto Nerd Font"/>
                <a:sym typeface="0xProto Nerd Font"/>
              </a:defRPr>
            </a:pPr>
            <a:r>
              <a:t>      "appSoftwareVersion": "1.0.0",                                                                                   </a:t>
            </a:r>
          </a:p>
          <a:p>
            <a:pPr>
              <a:defRPr sz="1300">
                <a:latin typeface="0xProto Nerd Font"/>
                <a:ea typeface="0xProto Nerd Font"/>
                <a:cs typeface="0xProto Nerd Font"/>
                <a:sym typeface="0xProto Nerd Font"/>
              </a:defRPr>
            </a:pPr>
            <a:r>
              <a:t>      "packageType": "CONTAINER",                                                                                      </a:t>
            </a:r>
          </a:p>
          <a:p>
            <a:pPr>
              <a:defRPr sz="1300">
                <a:latin typeface="0xProto Nerd Font"/>
                <a:ea typeface="0xProto Nerd Font"/>
                <a:cs typeface="0xProto Nerd Font"/>
                <a:sym typeface="0xProto Nerd Font"/>
              </a:defRPr>
            </a:pPr>
            <a:r>
              <a:t>      "containerSpec": {                                                                                               </a:t>
            </a:r>
          </a:p>
          <a:p>
            <a:pPr>
              <a:defRPr sz="1300">
                <a:latin typeface="0xProto Nerd Font"/>
                <a:ea typeface="0xProto Nerd Font"/>
                <a:cs typeface="0xProto Nerd Font"/>
                <a:sym typeface="0xProto Nerd Font"/>
              </a:defRPr>
            </a:pPr>
            <a:r>
              <a:t>          "imageRegistry": "ghcr.io/ekeroid/5glab",                                                                    </a:t>
            </a:r>
          </a:p>
          <a:p>
            <a:pPr>
              <a:defRPr sz="1300">
                <a:latin typeface="0xProto Nerd Font"/>
                <a:ea typeface="0xProto Nerd Font"/>
                <a:cs typeface="0xProto Nerd Font"/>
                <a:sym typeface="0xProto Nerd Font"/>
              </a:defRPr>
            </a:pPr>
            <a:r>
              <a:t>          "imageName": "edgevision-infer",                                                                             </a:t>
            </a:r>
          </a:p>
          <a:p>
            <a:pPr>
              <a:defRPr sz="1300">
                <a:latin typeface="0xProto Nerd Font"/>
                <a:ea typeface="0xProto Nerd Font"/>
                <a:cs typeface="0xProto Nerd Font"/>
                <a:sym typeface="0xProto Nerd Font"/>
              </a:defRPr>
            </a:pPr>
            <a:r>
              <a:t>          "imageTag": "latest",                                                                                        </a:t>
            </a:r>
          </a:p>
          <a:p>
            <a:pPr>
              <a:defRPr sz="1300">
                <a:latin typeface="0xProto Nerd Font"/>
                <a:ea typeface="0xProto Nerd Font"/>
                <a:cs typeface="0xProto Nerd Font"/>
                <a:sym typeface="0xProto Nerd Font"/>
              </a:defRPr>
            </a:pPr>
            <a:r>
              <a:t>      },                                                                                                               </a:t>
            </a:r>
          </a:p>
          <a:p>
            <a:pPr>
              <a:defRPr sz="1300">
                <a:latin typeface="0xProto Nerd Font"/>
                <a:ea typeface="0xProto Nerd Font"/>
                <a:cs typeface="0xProto Nerd Font"/>
                <a:sym typeface="0xProto Nerd Font"/>
              </a:defRPr>
            </a:pPr>
            <a:r>
              <a:t>      "requiredResources": {                                                                                           </a:t>
            </a:r>
          </a:p>
          <a:p>
            <a:pPr>
              <a:defRPr sz="1300">
                <a:latin typeface="0xProto Nerd Font"/>
                <a:ea typeface="0xProto Nerd Font"/>
                <a:cs typeface="0xProto Nerd Font"/>
                <a:sym typeface="0xProto Nerd Font"/>
              </a:defRPr>
            </a:pPr>
            <a:r>
              <a:t>          "cpu": 4,                                                                                                    </a:t>
            </a:r>
          </a:p>
          <a:p>
            <a:pPr>
              <a:defRPr sz="1300">
                <a:latin typeface="0xProto Nerd Font"/>
                <a:ea typeface="0xProto Nerd Font"/>
                <a:cs typeface="0xProto Nerd Font"/>
                <a:sym typeface="0xProto Nerd Font"/>
              </a:defRPr>
            </a:pPr>
            <a:r>
              <a:t>          "memory": 8192,                                                                                              </a:t>
            </a:r>
          </a:p>
          <a:p>
            <a:pPr>
              <a:defRPr sz="1300">
                <a:latin typeface="0xProto Nerd Font"/>
                <a:ea typeface="0xProto Nerd Font"/>
                <a:cs typeface="0xProto Nerd Font"/>
                <a:sym typeface="0xProto Nerd Font"/>
              </a:defRPr>
            </a:pPr>
            <a:r>
              <a:t>          "gpu": 1,                                                                                                    </a:t>
            </a:r>
          </a:p>
          <a:p>
            <a:pPr>
              <a:defRPr sz="1300">
                <a:latin typeface="0xProto Nerd Font"/>
                <a:ea typeface="0xProto Nerd Font"/>
                <a:cs typeface="0xProto Nerd Font"/>
                <a:sym typeface="0xProto Nerd Font"/>
              </a:defRPr>
            </a:pPr>
            <a:r>
              <a:t>      },                                                                                                               </a:t>
            </a:r>
          </a:p>
          <a:p>
            <a:pPr>
              <a:defRPr sz="1300">
                <a:latin typeface="0xProto Nerd Font"/>
                <a:ea typeface="0xProto Nerd Font"/>
                <a:cs typeface="0xProto Nerd Font"/>
                <a:sym typeface="0xProto Nerd Font"/>
              </a:defRPr>
            </a:pPr>
            <a:r>
              <a:t>      "componentSpec": [                                                                                               </a:t>
            </a:r>
          </a:p>
          <a:p>
            <a:pPr>
              <a:defRPr sz="1300">
                <a:latin typeface="0xProto Nerd Font"/>
                <a:ea typeface="0xProto Nerd Font"/>
                <a:cs typeface="0xProto Nerd Font"/>
                <a:sym typeface="0xProto Nerd Font"/>
              </a:defRPr>
            </a:pPr>
            <a:r>
              <a:t>          {                                                                                                            </a:t>
            </a:r>
          </a:p>
          <a:p>
            <a:pPr>
              <a:defRPr sz="1300">
                <a:latin typeface="0xProto Nerd Font"/>
                <a:ea typeface="0xProto Nerd Font"/>
                <a:cs typeface="0xProto Nerd Font"/>
                <a:sym typeface="0xProto Nerd Font"/>
              </a:defRPr>
            </a:pPr>
            <a:r>
              <a:t>              "componentName": "triton",                        </a:t>
            </a:r>
          </a:p>
          <a:p>
            <a:pPr>
              <a:defRPr sz="1300">
                <a:latin typeface="0xProto Nerd Font"/>
                <a:ea typeface="0xProto Nerd Font"/>
                <a:cs typeface="0xProto Nerd Font"/>
                <a:sym typeface="0xProto Nerd Font"/>
              </a:defRPr>
            </a:pPr>
            <a:r>
              <a:t>              "networkInterfaces": [                                                                                   </a:t>
            </a:r>
          </a:p>
          <a:p>
            <a:pPr>
              <a:defRPr sz="1300">
                <a:latin typeface="0xProto Nerd Font"/>
                <a:ea typeface="0xProto Nerd Font"/>
                <a:cs typeface="0xProto Nerd Font"/>
                <a:sym typeface="0xProto Nerd Font"/>
              </a:defRPr>
            </a:pPr>
            <a:r>
              <a:t>                  {"port": 8000, "protocol": "TCP",        </a:t>
            </a:r>
          </a:p>
          <a:p>
            <a:pPr>
              <a:defRPr sz="1300">
                <a:latin typeface="0xProto Nerd Font"/>
                <a:ea typeface="0xProto Nerd Font"/>
                <a:cs typeface="0xProto Nerd Font"/>
                <a:sym typeface="0xProto Nerd Font"/>
              </a:defRPr>
            </a:pPr>
            <a:r>
              <a:t>                   "name": "http-inference"},                                         </a:t>
            </a:r>
          </a:p>
          <a:p>
            <a:pPr>
              <a:defRPr sz="1300">
                <a:latin typeface="0xProto Nerd Font"/>
                <a:ea typeface="0xProto Nerd Font"/>
                <a:cs typeface="0xProto Nerd Font"/>
                <a:sym typeface="0xProto Nerd Font"/>
              </a:defRPr>
            </a:pPr>
            <a:r>
              <a:t>                  {"port": 8002, "protocol": "TCP", </a:t>
            </a:r>
          </a:p>
          <a:p>
            <a:pPr>
              <a:defRPr sz="1300">
                <a:latin typeface="0xProto Nerd Font"/>
                <a:ea typeface="0xProto Nerd Font"/>
                <a:cs typeface="0xProto Nerd Font"/>
                <a:sym typeface="0xProto Nerd Font"/>
              </a:defRPr>
            </a:pPr>
            <a:r>
              <a:t>                   "name": "metrics"},                                                </a:t>
            </a:r>
          </a:p>
          <a:p>
            <a:pPr>
              <a:defRPr sz="1300">
                <a:latin typeface="0xProto Nerd Font"/>
                <a:ea typeface="0xProto Nerd Font"/>
                <a:cs typeface="0xProto Nerd Font"/>
                <a:sym typeface="0xProto Nerd Font"/>
              </a:defRPr>
            </a:pPr>
            <a:r>
              <a:t>              ],                                                                                                       </a:t>
            </a:r>
          </a:p>
          <a:p>
            <a:pPr>
              <a:defRPr sz="1300">
                <a:latin typeface="0xProto Nerd Font"/>
                <a:ea typeface="0xProto Nerd Font"/>
                <a:cs typeface="0xProto Nerd Font"/>
                <a:sym typeface="0xProto Nerd Font"/>
              </a:defRPr>
            </a:pPr>
            <a:r>
              <a:t>          }                                                                                                            </a:t>
            </a:r>
          </a:p>
          <a:p>
            <a:pPr>
              <a:defRPr sz="1300">
                <a:latin typeface="0xProto Nerd Font"/>
                <a:ea typeface="0xProto Nerd Font"/>
                <a:cs typeface="0xProto Nerd Font"/>
                <a:sym typeface="0xProto Nerd Font"/>
              </a:defRPr>
            </a:pPr>
            <a:r>
              <a:t>      ],                                                                                                               </a:t>
            </a:r>
          </a:p>
          <a:p>
            <a:pPr>
              <a:defRPr sz="1300">
                <a:latin typeface="0xProto Nerd Font"/>
                <a:ea typeface="0xProto Nerd Font"/>
                <a:cs typeface="0xProto Nerd Font"/>
                <a:sym typeface="0xProto Nerd Font"/>
              </a:defRPr>
            </a:pPr>
            <a:r>
              <a:t>  }                                                                                                                                                                                    </a:t>
            </a:r>
          </a:p>
        </p:txBody>
      </p:sp>
      <p:sp>
        <p:nvSpPr>
          <p:cNvPr id="889" name="This is what gets POSTed to…"/>
          <p:cNvSpPr txBox="1"/>
          <p:nvPr/>
        </p:nvSpPr>
        <p:spPr>
          <a:xfrm>
            <a:off x="6145134" y="1285187"/>
            <a:ext cx="5629812" cy="2027801"/>
          </a:xfrm>
          <a:prstGeom prst="rect">
            <a:avLst/>
          </a:prstGeom>
          <a:ln w="12700">
            <a:miter lim="400000"/>
          </a:ln>
          <a:extLst>
            <a:ext uri="{C572A759-6A51-4108-AA02-DFA0A04FC94B}">
              <ma14:wrappingTextBoxFlag xmlns:ma14="http://schemas.microsoft.com/office/mac/drawingml/2011/main" val="1"/>
            </a:ext>
          </a:extLst>
        </p:spPr>
        <p:txBody>
          <a:bodyPr lIns="36000" tIns="36000" rIns="36000" bIns="36000">
            <a:spAutoFit/>
          </a:bodyPr>
          <a:lstStyle/>
          <a:p>
            <a:pPr/>
            <a:r>
              <a:t>This is what gets POSTed to </a:t>
            </a:r>
          </a:p>
          <a:p>
            <a:pPr/>
          </a:p>
          <a:p>
            <a:pPr/>
            <a:r>
              <a:rPr>
                <a:latin typeface="0xProto Nerd Font"/>
                <a:ea typeface="0xProto Nerd Font"/>
                <a:cs typeface="0xProto Nerd Font"/>
                <a:sym typeface="0xProto Nerd Font"/>
              </a:rPr>
              <a:t>POST /edge-app-management/</a:t>
            </a:r>
            <a:r>
              <a:t>v0/apps </a:t>
            </a:r>
          </a:p>
          <a:p>
            <a:pPr/>
          </a:p>
          <a:p>
            <a:pPr/>
            <a:r>
              <a:t>during the edge offload flow. The NEF-shim receives it </a:t>
            </a:r>
          </a:p>
          <a:p>
            <a:pPr/>
            <a:r>
              <a:t>and translates it into a Kubernetes Deployment + Service.</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93" name="Title 1"/>
          <p:cNvSpPr txBox="1"/>
          <p:nvPr>
            <p:ph type="title"/>
          </p:nvPr>
        </p:nvSpPr>
        <p:spPr>
          <a:prstGeom prst="rect">
            <a:avLst/>
          </a:prstGeom>
        </p:spPr>
        <p:txBody>
          <a:bodyPr/>
          <a:lstStyle>
            <a:lvl1pPr>
              <a:defRPr spc="-200">
                <a:solidFill>
                  <a:srgbClr val="000000"/>
                </a:solidFill>
              </a:defRPr>
            </a:lvl1pPr>
          </a:lstStyle>
          <a:p>
            <a:pPr/>
            <a:r>
              <a:t>Inference Sequence (Runtime)</a:t>
            </a:r>
          </a:p>
        </p:txBody>
      </p:sp>
      <p:grpSp>
        <p:nvGrpSpPr>
          <p:cNvPr id="896" name="Rounded Rectangle 2"/>
          <p:cNvGrpSpPr/>
          <p:nvPr/>
        </p:nvGrpSpPr>
        <p:grpSpPr>
          <a:xfrm>
            <a:off x="640080" y="1645920"/>
            <a:ext cx="1097281" cy="457201"/>
            <a:chOff x="0" y="0"/>
            <a:chExt cx="1097280" cy="457200"/>
          </a:xfrm>
        </p:grpSpPr>
        <p:sp>
          <p:nvSpPr>
            <p:cNvPr id="894" name="Rounded Rectangle"/>
            <p:cNvSpPr/>
            <p:nvPr/>
          </p:nvSpPr>
          <p:spPr>
            <a:xfrm>
              <a:off x="0" y="0"/>
              <a:ext cx="1097281" cy="457200"/>
            </a:xfrm>
            <a:prstGeom prst="roundRect">
              <a:avLst>
                <a:gd name="adj" fmla="val 16667"/>
              </a:avLst>
            </a:prstGeom>
            <a:solidFill>
              <a:srgbClr val="D6E2F5"/>
            </a:solidFill>
            <a:ln w="19050" cap="flat">
              <a:solidFill>
                <a:schemeClr val="accent1"/>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895" name="Client"/>
            <p:cNvSpPr txBox="1"/>
            <p:nvPr/>
          </p:nvSpPr>
          <p:spPr>
            <a:xfrm>
              <a:off x="77563" y="93980"/>
              <a:ext cx="942154" cy="269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200">
                  <a:solidFill>
                    <a:schemeClr val="accent1"/>
                  </a:solidFill>
                  <a:latin typeface="Ericsson Hilda Bold"/>
                  <a:ea typeface="Ericsson Hilda Bold"/>
                  <a:cs typeface="Ericsson Hilda Bold"/>
                  <a:sym typeface="Ericsson Hilda Bold"/>
                </a:defRPr>
              </a:lvl1pPr>
            </a:lstStyle>
            <a:p>
              <a:pPr/>
              <a:r>
                <a:t>Client</a:t>
              </a:r>
            </a:p>
          </p:txBody>
        </p:sp>
      </p:grpSp>
      <p:sp>
        <p:nvSpPr>
          <p:cNvPr id="897" name="Connector 3"/>
          <p:cNvSpPr/>
          <p:nvPr/>
        </p:nvSpPr>
        <p:spPr>
          <a:xfrm flipH="1">
            <a:off x="1188719" y="2103120"/>
            <a:ext cx="1" cy="3664764"/>
          </a:xfrm>
          <a:prstGeom prst="line">
            <a:avLst/>
          </a:prstGeom>
          <a:ln w="12700">
            <a:solidFill>
              <a:srgbClr val="A0A0A0"/>
            </a:solidFill>
            <a:prstDash val="sysDash"/>
          </a:ln>
          <a:effectLst>
            <a:outerShdw sx="100000" sy="100000" kx="0" ky="0" algn="b" rotWithShape="0" blurRad="38100" dist="20000" dir="5400000">
              <a:srgbClr val="000000">
                <a:alpha val="38000"/>
              </a:srgbClr>
            </a:outerShdw>
          </a:effectLst>
        </p:spPr>
        <p:txBody>
          <a:bodyPr lIns="45719" rIns="45719"/>
          <a:lstStyle/>
          <a:p>
            <a:pPr/>
          </a:p>
        </p:txBody>
      </p:sp>
      <p:grpSp>
        <p:nvGrpSpPr>
          <p:cNvPr id="900" name="Rounded Rectangle 4"/>
          <p:cNvGrpSpPr/>
          <p:nvPr/>
        </p:nvGrpSpPr>
        <p:grpSpPr>
          <a:xfrm>
            <a:off x="3657600" y="1645920"/>
            <a:ext cx="1097281" cy="457201"/>
            <a:chOff x="0" y="0"/>
            <a:chExt cx="1097280" cy="457200"/>
          </a:xfrm>
        </p:grpSpPr>
        <p:sp>
          <p:nvSpPr>
            <p:cNvPr id="898" name="Rounded Rectangle"/>
            <p:cNvSpPr/>
            <p:nvPr/>
          </p:nvSpPr>
          <p:spPr>
            <a:xfrm>
              <a:off x="0" y="0"/>
              <a:ext cx="1097281" cy="457200"/>
            </a:xfrm>
            <a:prstGeom prst="roundRect">
              <a:avLst>
                <a:gd name="adj" fmla="val 16667"/>
              </a:avLst>
            </a:prstGeom>
            <a:solidFill>
              <a:srgbClr val="BDE0E1"/>
            </a:solidFill>
            <a:ln w="19050" cap="flat">
              <a:solidFill>
                <a:schemeClr val="accent2"/>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899" name="Sidecar"/>
            <p:cNvSpPr txBox="1"/>
            <p:nvPr/>
          </p:nvSpPr>
          <p:spPr>
            <a:xfrm>
              <a:off x="77563" y="93980"/>
              <a:ext cx="942154" cy="269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200">
                  <a:solidFill>
                    <a:schemeClr val="accent2"/>
                  </a:solidFill>
                  <a:latin typeface="Ericsson Hilda Bold"/>
                  <a:ea typeface="Ericsson Hilda Bold"/>
                  <a:cs typeface="Ericsson Hilda Bold"/>
                  <a:sym typeface="Ericsson Hilda Bold"/>
                </a:defRPr>
              </a:lvl1pPr>
            </a:lstStyle>
            <a:p>
              <a:pPr/>
              <a:r>
                <a:t>Sidecar</a:t>
              </a:r>
            </a:p>
          </p:txBody>
        </p:sp>
      </p:grpSp>
      <p:sp>
        <p:nvSpPr>
          <p:cNvPr id="901" name="Connector 5"/>
          <p:cNvSpPr/>
          <p:nvPr/>
        </p:nvSpPr>
        <p:spPr>
          <a:xfrm flipH="1">
            <a:off x="4206240" y="2103120"/>
            <a:ext cx="1" cy="3664764"/>
          </a:xfrm>
          <a:prstGeom prst="line">
            <a:avLst/>
          </a:prstGeom>
          <a:ln w="12700">
            <a:solidFill>
              <a:srgbClr val="A0A0A0"/>
            </a:solidFill>
            <a:prstDash val="sysDash"/>
          </a:ln>
          <a:effectLst>
            <a:outerShdw sx="100000" sy="100000" kx="0" ky="0" algn="b" rotWithShape="0" blurRad="38100" dist="20000" dir="5400000">
              <a:srgbClr val="000000">
                <a:alpha val="38000"/>
              </a:srgbClr>
            </a:outerShdw>
          </a:effectLst>
        </p:spPr>
        <p:txBody>
          <a:bodyPr lIns="45719" rIns="45719"/>
          <a:lstStyle/>
          <a:p>
            <a:pPr/>
          </a:p>
        </p:txBody>
      </p:sp>
      <p:grpSp>
        <p:nvGrpSpPr>
          <p:cNvPr id="904" name="Rounded Rectangle 6"/>
          <p:cNvGrpSpPr/>
          <p:nvPr/>
        </p:nvGrpSpPr>
        <p:grpSpPr>
          <a:xfrm>
            <a:off x="6400800" y="1645920"/>
            <a:ext cx="1097281" cy="457201"/>
            <a:chOff x="0" y="0"/>
            <a:chExt cx="1097280" cy="457200"/>
          </a:xfrm>
        </p:grpSpPr>
        <p:sp>
          <p:nvSpPr>
            <p:cNvPr id="902" name="Rounded Rectangle"/>
            <p:cNvSpPr/>
            <p:nvPr/>
          </p:nvSpPr>
          <p:spPr>
            <a:xfrm>
              <a:off x="0" y="0"/>
              <a:ext cx="1097281" cy="457200"/>
            </a:xfrm>
            <a:prstGeom prst="roundRect">
              <a:avLst>
                <a:gd name="adj" fmla="val 16667"/>
              </a:avLst>
            </a:prstGeom>
            <a:solidFill>
              <a:srgbClr val="BDE0E1"/>
            </a:solidFill>
            <a:ln w="19050" cap="flat">
              <a:solidFill>
                <a:schemeClr val="accent2"/>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903" name="Triton"/>
            <p:cNvSpPr txBox="1"/>
            <p:nvPr/>
          </p:nvSpPr>
          <p:spPr>
            <a:xfrm>
              <a:off x="77563" y="93980"/>
              <a:ext cx="942154" cy="269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200">
                  <a:solidFill>
                    <a:schemeClr val="accent2"/>
                  </a:solidFill>
                  <a:latin typeface="Ericsson Hilda Bold"/>
                  <a:ea typeface="Ericsson Hilda Bold"/>
                  <a:cs typeface="Ericsson Hilda Bold"/>
                  <a:sym typeface="Ericsson Hilda Bold"/>
                </a:defRPr>
              </a:lvl1pPr>
            </a:lstStyle>
            <a:p>
              <a:pPr/>
              <a:r>
                <a:t>Triton</a:t>
              </a:r>
            </a:p>
          </p:txBody>
        </p:sp>
      </p:grpSp>
      <p:sp>
        <p:nvSpPr>
          <p:cNvPr id="905" name="Connector 7"/>
          <p:cNvSpPr/>
          <p:nvPr/>
        </p:nvSpPr>
        <p:spPr>
          <a:xfrm>
            <a:off x="6949440" y="2103120"/>
            <a:ext cx="1" cy="3664764"/>
          </a:xfrm>
          <a:prstGeom prst="line">
            <a:avLst/>
          </a:prstGeom>
          <a:ln w="12700">
            <a:solidFill>
              <a:srgbClr val="A0A0A0"/>
            </a:solidFill>
            <a:prstDash val="sysDash"/>
          </a:ln>
          <a:effectLst>
            <a:outerShdw sx="100000" sy="100000" kx="0" ky="0" algn="b" rotWithShape="0" blurRad="38100" dist="20000" dir="5400000">
              <a:srgbClr val="000000">
                <a:alpha val="38000"/>
              </a:srgbClr>
            </a:outerShdw>
          </a:effectLst>
        </p:spPr>
        <p:txBody>
          <a:bodyPr lIns="45719" rIns="45719"/>
          <a:lstStyle/>
          <a:p>
            <a:pPr/>
          </a:p>
        </p:txBody>
      </p:sp>
      <p:grpSp>
        <p:nvGrpSpPr>
          <p:cNvPr id="908" name="Rounded Rectangle 8"/>
          <p:cNvGrpSpPr/>
          <p:nvPr/>
        </p:nvGrpSpPr>
        <p:grpSpPr>
          <a:xfrm>
            <a:off x="9144000" y="1645920"/>
            <a:ext cx="1097281" cy="457201"/>
            <a:chOff x="0" y="0"/>
            <a:chExt cx="1097280" cy="457200"/>
          </a:xfrm>
        </p:grpSpPr>
        <p:sp>
          <p:nvSpPr>
            <p:cNvPr id="906" name="Rounded Rectangle"/>
            <p:cNvSpPr/>
            <p:nvPr/>
          </p:nvSpPr>
          <p:spPr>
            <a:xfrm>
              <a:off x="0" y="0"/>
              <a:ext cx="1097281" cy="457200"/>
            </a:xfrm>
            <a:prstGeom prst="roundRect">
              <a:avLst>
                <a:gd name="adj" fmla="val 16667"/>
              </a:avLst>
            </a:prstGeom>
            <a:solidFill>
              <a:srgbClr val="BDE0E1"/>
            </a:solidFill>
            <a:ln w="19050" cap="flat">
              <a:solidFill>
                <a:schemeClr val="accent2"/>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907" name="GPU"/>
            <p:cNvSpPr txBox="1"/>
            <p:nvPr/>
          </p:nvSpPr>
          <p:spPr>
            <a:xfrm>
              <a:off x="77563" y="93980"/>
              <a:ext cx="942154" cy="269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200">
                  <a:solidFill>
                    <a:schemeClr val="accent2"/>
                  </a:solidFill>
                  <a:latin typeface="Ericsson Hilda Bold"/>
                  <a:ea typeface="Ericsson Hilda Bold"/>
                  <a:cs typeface="Ericsson Hilda Bold"/>
                  <a:sym typeface="Ericsson Hilda Bold"/>
                </a:defRPr>
              </a:lvl1pPr>
            </a:lstStyle>
            <a:p>
              <a:pPr/>
              <a:r>
                <a:t>GPU</a:t>
              </a:r>
            </a:p>
          </p:txBody>
        </p:sp>
      </p:grpSp>
      <p:sp>
        <p:nvSpPr>
          <p:cNvPr id="909" name="Connector 9"/>
          <p:cNvSpPr/>
          <p:nvPr/>
        </p:nvSpPr>
        <p:spPr>
          <a:xfrm>
            <a:off x="9692640" y="2103120"/>
            <a:ext cx="1" cy="3664764"/>
          </a:xfrm>
          <a:prstGeom prst="line">
            <a:avLst/>
          </a:prstGeom>
          <a:ln w="12700">
            <a:solidFill>
              <a:srgbClr val="A0A0A0"/>
            </a:solidFill>
            <a:prstDash val="sysDash"/>
          </a:ln>
          <a:effectLst>
            <a:outerShdw sx="100000" sy="100000" kx="0" ky="0" algn="b" rotWithShape="0" blurRad="38100" dist="20000" dir="5400000">
              <a:srgbClr val="000000">
                <a:alpha val="38000"/>
              </a:srgbClr>
            </a:outerShdw>
          </a:effectLst>
        </p:spPr>
        <p:txBody>
          <a:bodyPr lIns="45719" rIns="45719"/>
          <a:lstStyle/>
          <a:p>
            <a:pPr/>
          </a:p>
        </p:txBody>
      </p:sp>
      <p:sp>
        <p:nvSpPr>
          <p:cNvPr id="910" name="Connector 10"/>
          <p:cNvSpPr/>
          <p:nvPr/>
        </p:nvSpPr>
        <p:spPr>
          <a:xfrm>
            <a:off x="1188719" y="2413000"/>
            <a:ext cx="3017522" cy="0"/>
          </a:xfrm>
          <a:prstGeom prst="line">
            <a:avLst/>
          </a:prstGeom>
          <a:ln w="19050">
            <a:solidFill>
              <a:schemeClr val="accent1"/>
            </a:solidFill>
            <a:tailEnd type="triangle"/>
          </a:ln>
          <a:effectLst>
            <a:outerShdw sx="100000" sy="100000" kx="0" ky="0" algn="b" rotWithShape="0" blurRad="38100" dist="20000" dir="5400000">
              <a:srgbClr val="000000">
                <a:alpha val="38000"/>
              </a:srgbClr>
            </a:outerShdw>
          </a:effectLst>
        </p:spPr>
        <p:txBody>
          <a:bodyPr lIns="45719" rIns="45719"/>
          <a:lstStyle/>
          <a:p>
            <a:pPr/>
          </a:p>
        </p:txBody>
      </p:sp>
      <p:sp>
        <p:nvSpPr>
          <p:cNvPr id="911" name="TextBox 11"/>
          <p:cNvSpPr txBox="1"/>
          <p:nvPr/>
        </p:nvSpPr>
        <p:spPr>
          <a:xfrm>
            <a:off x="1325880" y="2184400"/>
            <a:ext cx="2834641" cy="2438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000">
                <a:solidFill>
                  <a:srgbClr val="242424"/>
                </a:solidFill>
              </a:defRPr>
            </a:lvl1pPr>
          </a:lstStyle>
          <a:p>
            <a:pPr/>
            <a:r>
              <a:t>gRPC: InferRequest(jpeg, model)</a:t>
            </a:r>
          </a:p>
        </p:txBody>
      </p:sp>
      <p:sp>
        <p:nvSpPr>
          <p:cNvPr id="912" name="Connector 12"/>
          <p:cNvSpPr/>
          <p:nvPr/>
        </p:nvSpPr>
        <p:spPr>
          <a:xfrm>
            <a:off x="4292568" y="2567940"/>
            <a:ext cx="1" cy="228601"/>
          </a:xfrm>
          <a:prstGeom prst="line">
            <a:avLst/>
          </a:prstGeom>
          <a:ln w="19050">
            <a:solidFill>
              <a:schemeClr val="accent2"/>
            </a:solidFill>
            <a:tailEnd type="triangle"/>
          </a:ln>
          <a:effectLst>
            <a:outerShdw sx="100000" sy="100000" kx="0" ky="0" algn="b" rotWithShape="0" blurRad="38100" dist="20000" dir="5400000">
              <a:srgbClr val="000000">
                <a:alpha val="38000"/>
              </a:srgbClr>
            </a:outerShdw>
          </a:effectLst>
        </p:spPr>
        <p:txBody>
          <a:bodyPr lIns="45719" rIns="45719"/>
          <a:lstStyle/>
          <a:p>
            <a:pPr/>
          </a:p>
        </p:txBody>
      </p:sp>
      <p:sp>
        <p:nvSpPr>
          <p:cNvPr id="913" name="TextBox 13"/>
          <p:cNvSpPr txBox="1"/>
          <p:nvPr/>
        </p:nvSpPr>
        <p:spPr>
          <a:xfrm>
            <a:off x="4388437" y="2560320"/>
            <a:ext cx="2468881"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000">
                <a:solidFill>
                  <a:schemeClr val="accent2"/>
                </a:solidFill>
              </a:defRPr>
            </a:lvl1pPr>
          </a:lstStyle>
          <a:p>
            <a:pPr/>
            <a:r>
              <a:t>decode + resize 640×640</a:t>
            </a:r>
          </a:p>
        </p:txBody>
      </p:sp>
      <p:sp>
        <p:nvSpPr>
          <p:cNvPr id="914" name="Connector 14"/>
          <p:cNvSpPr/>
          <p:nvPr/>
        </p:nvSpPr>
        <p:spPr>
          <a:xfrm>
            <a:off x="4206240" y="3017520"/>
            <a:ext cx="2743201" cy="1"/>
          </a:xfrm>
          <a:prstGeom prst="line">
            <a:avLst/>
          </a:prstGeom>
          <a:ln w="19050">
            <a:solidFill>
              <a:schemeClr val="accent1"/>
            </a:solidFill>
            <a:tailEnd type="triangle"/>
          </a:ln>
          <a:effectLst>
            <a:outerShdw sx="100000" sy="100000" kx="0" ky="0" algn="b" rotWithShape="0" blurRad="38100" dist="20000" dir="5400000">
              <a:srgbClr val="000000">
                <a:alpha val="38000"/>
              </a:srgbClr>
            </a:outerShdw>
          </a:effectLst>
        </p:spPr>
        <p:txBody>
          <a:bodyPr lIns="45719" rIns="45719"/>
          <a:lstStyle/>
          <a:p>
            <a:pPr/>
          </a:p>
        </p:txBody>
      </p:sp>
      <p:sp>
        <p:nvSpPr>
          <p:cNvPr id="915" name="TextBox 15"/>
          <p:cNvSpPr txBox="1"/>
          <p:nvPr/>
        </p:nvSpPr>
        <p:spPr>
          <a:xfrm>
            <a:off x="4343400" y="2788920"/>
            <a:ext cx="2834641"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000">
                <a:solidFill>
                  <a:srgbClr val="242424"/>
                </a:solidFill>
              </a:defRPr>
            </a:lvl1pPr>
          </a:lstStyle>
          <a:p>
            <a:pPr/>
            <a:r>
              <a:t>SHM write + infer()</a:t>
            </a:r>
          </a:p>
        </p:txBody>
      </p:sp>
      <p:sp>
        <p:nvSpPr>
          <p:cNvPr id="916" name="Connector 16"/>
          <p:cNvSpPr/>
          <p:nvPr/>
        </p:nvSpPr>
        <p:spPr>
          <a:xfrm>
            <a:off x="6949440" y="3383279"/>
            <a:ext cx="2743201" cy="1"/>
          </a:xfrm>
          <a:prstGeom prst="line">
            <a:avLst/>
          </a:prstGeom>
          <a:ln w="19050">
            <a:solidFill>
              <a:schemeClr val="accent1"/>
            </a:solidFill>
            <a:tailEnd type="triangle"/>
          </a:ln>
          <a:effectLst>
            <a:outerShdw sx="100000" sy="100000" kx="0" ky="0" algn="b" rotWithShape="0" blurRad="38100" dist="20000" dir="5400000">
              <a:srgbClr val="000000">
                <a:alpha val="38000"/>
              </a:srgbClr>
            </a:outerShdw>
          </a:effectLst>
        </p:spPr>
        <p:txBody>
          <a:bodyPr lIns="45719" rIns="45719"/>
          <a:lstStyle/>
          <a:p>
            <a:pPr/>
          </a:p>
        </p:txBody>
      </p:sp>
      <p:sp>
        <p:nvSpPr>
          <p:cNvPr id="917" name="TextBox 17"/>
          <p:cNvSpPr txBox="1"/>
          <p:nvPr/>
        </p:nvSpPr>
        <p:spPr>
          <a:xfrm>
            <a:off x="7086600" y="3154679"/>
            <a:ext cx="2834641"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000">
                <a:solidFill>
                  <a:srgbClr val="242424"/>
                </a:solidFill>
              </a:defRPr>
            </a:lvl1pPr>
          </a:lstStyle>
          <a:p>
            <a:pPr/>
            <a:r>
              <a:t>TensorRT FP16 forward</a:t>
            </a:r>
          </a:p>
        </p:txBody>
      </p:sp>
      <p:sp>
        <p:nvSpPr>
          <p:cNvPr id="918" name="Connector 18"/>
          <p:cNvSpPr/>
          <p:nvPr/>
        </p:nvSpPr>
        <p:spPr>
          <a:xfrm flipH="1">
            <a:off x="6949440" y="3749040"/>
            <a:ext cx="2743201" cy="1"/>
          </a:xfrm>
          <a:prstGeom prst="line">
            <a:avLst/>
          </a:prstGeom>
          <a:ln w="19050">
            <a:solidFill>
              <a:schemeClr val="accent1"/>
            </a:solidFill>
            <a:tailEnd type="triangle"/>
          </a:ln>
          <a:effectLst>
            <a:outerShdw sx="100000" sy="100000" kx="0" ky="0" algn="b" rotWithShape="0" blurRad="38100" dist="20000" dir="5400000">
              <a:srgbClr val="000000">
                <a:alpha val="38000"/>
              </a:srgbClr>
            </a:outerShdw>
          </a:effectLst>
        </p:spPr>
        <p:txBody>
          <a:bodyPr lIns="45719" rIns="45719"/>
          <a:lstStyle/>
          <a:p>
            <a:pPr/>
          </a:p>
        </p:txBody>
      </p:sp>
      <p:sp>
        <p:nvSpPr>
          <p:cNvPr id="919" name="TextBox 19"/>
          <p:cNvSpPr txBox="1"/>
          <p:nvPr/>
        </p:nvSpPr>
        <p:spPr>
          <a:xfrm>
            <a:off x="7086600" y="3520440"/>
            <a:ext cx="2834641"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000">
                <a:solidFill>
                  <a:srgbClr val="242424"/>
                </a:solidFill>
              </a:defRPr>
            </a:lvl1pPr>
          </a:lstStyle>
          <a:p>
            <a:pPr/>
            <a:r>
              <a:t>output tensors</a:t>
            </a:r>
          </a:p>
        </p:txBody>
      </p:sp>
      <p:sp>
        <p:nvSpPr>
          <p:cNvPr id="920" name="Connector 20"/>
          <p:cNvSpPr/>
          <p:nvPr/>
        </p:nvSpPr>
        <p:spPr>
          <a:xfrm flipH="1">
            <a:off x="4206240" y="4114800"/>
            <a:ext cx="2743201" cy="0"/>
          </a:xfrm>
          <a:prstGeom prst="line">
            <a:avLst/>
          </a:prstGeom>
          <a:ln w="19050">
            <a:solidFill>
              <a:schemeClr val="accent1"/>
            </a:solidFill>
            <a:tailEnd type="triangle"/>
          </a:ln>
          <a:effectLst>
            <a:outerShdw sx="100000" sy="100000" kx="0" ky="0" algn="b" rotWithShape="0" blurRad="38100" dist="20000" dir="5400000">
              <a:srgbClr val="000000">
                <a:alpha val="38000"/>
              </a:srgbClr>
            </a:outerShdw>
          </a:effectLst>
        </p:spPr>
        <p:txBody>
          <a:bodyPr lIns="45719" rIns="45719"/>
          <a:lstStyle/>
          <a:p>
            <a:pPr/>
          </a:p>
        </p:txBody>
      </p:sp>
      <p:sp>
        <p:nvSpPr>
          <p:cNvPr id="921" name="TextBox 21"/>
          <p:cNvSpPr txBox="1"/>
          <p:nvPr/>
        </p:nvSpPr>
        <p:spPr>
          <a:xfrm>
            <a:off x="4343400" y="3886200"/>
            <a:ext cx="2834641" cy="2438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000">
                <a:solidFill>
                  <a:srgbClr val="242424"/>
                </a:solidFill>
              </a:defRPr>
            </a:lvl1pPr>
          </a:lstStyle>
          <a:p>
            <a:pPr/>
            <a:r>
              <a:t>SHM read results</a:t>
            </a:r>
          </a:p>
        </p:txBody>
      </p:sp>
      <p:sp>
        <p:nvSpPr>
          <p:cNvPr id="922" name="Connector 22"/>
          <p:cNvSpPr/>
          <p:nvPr/>
        </p:nvSpPr>
        <p:spPr>
          <a:xfrm>
            <a:off x="4292568" y="4396740"/>
            <a:ext cx="1" cy="228601"/>
          </a:xfrm>
          <a:prstGeom prst="line">
            <a:avLst/>
          </a:prstGeom>
          <a:ln w="19050">
            <a:solidFill>
              <a:schemeClr val="accent2"/>
            </a:solidFill>
            <a:tailEnd type="triangle"/>
          </a:ln>
          <a:effectLst>
            <a:outerShdw sx="100000" sy="100000" kx="0" ky="0" algn="b" rotWithShape="0" blurRad="38100" dist="20000" dir="5400000">
              <a:srgbClr val="000000">
                <a:alpha val="38000"/>
              </a:srgbClr>
            </a:outerShdw>
          </a:effectLst>
        </p:spPr>
        <p:txBody>
          <a:bodyPr lIns="45719" rIns="45719"/>
          <a:lstStyle/>
          <a:p>
            <a:pPr/>
          </a:p>
        </p:txBody>
      </p:sp>
      <p:sp>
        <p:nvSpPr>
          <p:cNvPr id="923" name="TextBox 23"/>
          <p:cNvSpPr txBox="1"/>
          <p:nvPr/>
        </p:nvSpPr>
        <p:spPr>
          <a:xfrm>
            <a:off x="4401137" y="4399343"/>
            <a:ext cx="2468881"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000">
                <a:solidFill>
                  <a:schemeClr val="accent2"/>
                </a:solidFill>
              </a:defRPr>
            </a:lvl1pPr>
          </a:lstStyle>
          <a:p>
            <a:pPr/>
            <a:r>
              <a:t>NMS + mask decode</a:t>
            </a:r>
          </a:p>
        </p:txBody>
      </p:sp>
      <p:sp>
        <p:nvSpPr>
          <p:cNvPr id="924" name="Connector 24"/>
          <p:cNvSpPr/>
          <p:nvPr/>
        </p:nvSpPr>
        <p:spPr>
          <a:xfrm flipH="1" flipV="1">
            <a:off x="1188720" y="4846320"/>
            <a:ext cx="3017521" cy="1"/>
          </a:xfrm>
          <a:prstGeom prst="line">
            <a:avLst/>
          </a:prstGeom>
          <a:ln w="19050">
            <a:solidFill>
              <a:schemeClr val="accent1"/>
            </a:solidFill>
            <a:tailEnd type="triangle"/>
          </a:ln>
          <a:effectLst>
            <a:outerShdw sx="100000" sy="100000" kx="0" ky="0" algn="b" rotWithShape="0" blurRad="38100" dist="20000" dir="5400000">
              <a:srgbClr val="000000">
                <a:alpha val="38000"/>
              </a:srgbClr>
            </a:outerShdw>
          </a:effectLst>
        </p:spPr>
        <p:txBody>
          <a:bodyPr lIns="45719" rIns="45719"/>
          <a:lstStyle/>
          <a:p>
            <a:pPr/>
          </a:p>
        </p:txBody>
      </p:sp>
      <p:sp>
        <p:nvSpPr>
          <p:cNvPr id="925" name="TextBox 25"/>
          <p:cNvSpPr txBox="1"/>
          <p:nvPr/>
        </p:nvSpPr>
        <p:spPr>
          <a:xfrm>
            <a:off x="1325880" y="4617720"/>
            <a:ext cx="2834641"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000">
                <a:solidFill>
                  <a:srgbClr val="242424"/>
                </a:solidFill>
              </a:defRPr>
            </a:lvl1pPr>
          </a:lstStyle>
          <a:p>
            <a:pPr/>
            <a:r>
              <a:t>InferResponse(detections[])</a:t>
            </a:r>
          </a:p>
        </p:txBody>
      </p:sp>
      <p:sp>
        <p:nvSpPr>
          <p:cNvPr id="926" name="TextBox 26"/>
          <p:cNvSpPr txBox="1"/>
          <p:nvPr/>
        </p:nvSpPr>
        <p:spPr>
          <a:xfrm>
            <a:off x="433983" y="6126479"/>
            <a:ext cx="10881360" cy="281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nSpc>
                <a:spcPct val="130000"/>
              </a:lnSpc>
              <a:defRPr sz="1300">
                <a:solidFill>
                  <a:schemeClr val="accent1"/>
                </a:solidFill>
                <a:latin typeface="Ericsson Hilda Bold"/>
                <a:ea typeface="Ericsson Hilda Bold"/>
                <a:cs typeface="Ericsson Hilda Bold"/>
                <a:sym typeface="Ericsson Hilda Bold"/>
              </a:defRPr>
            </a:lvl1pPr>
          </a:lstStyle>
          <a:p>
            <a:pPr/>
            <a:r>
              <a:t>End-to-end: ~18ms (gRPC) | ~25ms (HTTP)    —    Local CPU: ~120ms (detect) / ~530ms (segmentation)</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30" name="Title 1"/>
          <p:cNvSpPr txBox="1"/>
          <p:nvPr>
            <p:ph type="title"/>
          </p:nvPr>
        </p:nvSpPr>
        <p:spPr>
          <a:prstGeom prst="rect">
            <a:avLst/>
          </a:prstGeom>
        </p:spPr>
        <p:txBody>
          <a:bodyPr/>
          <a:lstStyle/>
          <a:p>
            <a:pPr>
              <a:defRPr spc="-200">
                <a:solidFill>
                  <a:srgbClr val="000000"/>
                </a:solidFill>
              </a:defRPr>
            </a:pPr>
            <a:r>
              <a:t>Latency Breakdown </a:t>
            </a:r>
            <a:r>
              <a:rPr>
                <a:solidFill>
                  <a:schemeClr val="accent6">
                    <a:satOff val="-29700"/>
                    <a:lumOff val="-12666"/>
                  </a:schemeClr>
                </a:solidFill>
              </a:rPr>
              <a:t>(Placeholder)</a:t>
            </a:r>
          </a:p>
        </p:txBody>
      </p:sp>
      <p:sp>
        <p:nvSpPr>
          <p:cNvPr id="931" name="TextBox 2"/>
          <p:cNvSpPr txBox="1"/>
          <p:nvPr/>
        </p:nvSpPr>
        <p:spPr>
          <a:xfrm>
            <a:off x="502919" y="1645920"/>
            <a:ext cx="3075870" cy="345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700">
                <a:solidFill>
                  <a:srgbClr val="242424"/>
                </a:solidFill>
                <a:latin typeface="Ericsson Hilda Bold"/>
                <a:ea typeface="Ericsson Hilda Bold"/>
                <a:cs typeface="Ericsson Hilda Bold"/>
                <a:sym typeface="Ericsson Hilda Bold"/>
              </a:defRPr>
            </a:lvl1pPr>
          </a:lstStyle>
          <a:p>
            <a:pPr/>
            <a:r>
              <a:t>Component</a:t>
            </a:r>
          </a:p>
        </p:txBody>
      </p:sp>
      <p:sp>
        <p:nvSpPr>
          <p:cNvPr id="932" name="TextBox 3"/>
          <p:cNvSpPr txBox="1"/>
          <p:nvPr/>
        </p:nvSpPr>
        <p:spPr>
          <a:xfrm>
            <a:off x="3677049" y="1645920"/>
            <a:ext cx="1737361" cy="345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nSpc>
                <a:spcPct val="130000"/>
              </a:lnSpc>
              <a:defRPr sz="1700">
                <a:solidFill>
                  <a:srgbClr val="242424"/>
                </a:solidFill>
                <a:latin typeface="Ericsson Hilda Bold"/>
                <a:ea typeface="Ericsson Hilda Bold"/>
                <a:cs typeface="Ericsson Hilda Bold"/>
                <a:sym typeface="Ericsson Hilda Bold"/>
              </a:defRPr>
            </a:lvl1pPr>
          </a:lstStyle>
          <a:p>
            <a:pPr/>
            <a:r>
              <a:t>Time (ms)</a:t>
            </a:r>
          </a:p>
        </p:txBody>
      </p:sp>
      <p:sp>
        <p:nvSpPr>
          <p:cNvPr id="933" name="TextBox 4"/>
          <p:cNvSpPr txBox="1"/>
          <p:nvPr/>
        </p:nvSpPr>
        <p:spPr>
          <a:xfrm>
            <a:off x="502919" y="2075179"/>
            <a:ext cx="4023361" cy="269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200">
                <a:solidFill>
                  <a:srgbClr val="242424"/>
                </a:solidFill>
              </a:defRPr>
            </a:lvl1pPr>
          </a:lstStyle>
          <a:p>
            <a:pPr/>
            <a:r>
              <a:t>5G UL (JPEG upload, ~50KB)</a:t>
            </a:r>
          </a:p>
        </p:txBody>
      </p:sp>
      <p:sp>
        <p:nvSpPr>
          <p:cNvPr id="934" name="Rounded Rectangle 5"/>
          <p:cNvSpPr/>
          <p:nvPr/>
        </p:nvSpPr>
        <p:spPr>
          <a:xfrm>
            <a:off x="3631329" y="2057400"/>
            <a:ext cx="1600201" cy="320041"/>
          </a:xfrm>
          <a:prstGeom prst="roundRect">
            <a:avLst>
              <a:gd name="adj" fmla="val 16667"/>
            </a:avLst>
          </a:prstGeom>
          <a:solidFill>
            <a:schemeClr val="accent1"/>
          </a:solidFill>
          <a:ln w="12700">
            <a:miter lim="400000"/>
          </a:ln>
          <a:effectLst>
            <a:outerShdw sx="100000" sy="100000" kx="0" ky="0" algn="b" rotWithShape="0" blurRad="38100" dist="23000" dir="5400000">
              <a:srgbClr val="000000">
                <a:alpha val="35000"/>
              </a:srgbClr>
            </a:outerShdw>
          </a:effectLst>
        </p:spPr>
        <p:txBody>
          <a:bodyPr lIns="36000" tIns="36000" rIns="36000" bIns="36000" anchor="ctr"/>
          <a:lstStyle/>
          <a:p>
            <a:pPr algn="ctr">
              <a:defRPr>
                <a:solidFill>
                  <a:srgbClr val="FFFFFF"/>
                </a:solidFill>
              </a:defRPr>
            </a:pPr>
          </a:p>
        </p:txBody>
      </p:sp>
      <p:sp>
        <p:nvSpPr>
          <p:cNvPr id="935" name="TextBox 6"/>
          <p:cNvSpPr txBox="1"/>
          <p:nvPr/>
        </p:nvSpPr>
        <p:spPr>
          <a:xfrm>
            <a:off x="5368688" y="2082800"/>
            <a:ext cx="822962" cy="2692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200">
                <a:solidFill>
                  <a:schemeClr val="accent1"/>
                </a:solidFill>
                <a:latin typeface="Ericsson Hilda Bold"/>
                <a:ea typeface="Ericsson Hilda Bold"/>
                <a:cs typeface="Ericsson Hilda Bold"/>
                <a:sym typeface="Ericsson Hilda Bold"/>
              </a:defRPr>
            </a:lvl1pPr>
          </a:lstStyle>
          <a:p>
            <a:pPr/>
            <a:r>
              <a:t>3.2</a:t>
            </a:r>
          </a:p>
        </p:txBody>
      </p:sp>
      <p:sp>
        <p:nvSpPr>
          <p:cNvPr id="936" name="TextBox 7"/>
          <p:cNvSpPr txBox="1"/>
          <p:nvPr/>
        </p:nvSpPr>
        <p:spPr>
          <a:xfrm>
            <a:off x="502919" y="2794000"/>
            <a:ext cx="4023361" cy="2692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200">
                <a:solidFill>
                  <a:srgbClr val="242424"/>
                </a:solidFill>
              </a:defRPr>
            </a:lvl1pPr>
          </a:lstStyle>
          <a:p>
            <a:pPr/>
            <a:r>
              <a:t>Sidecar: decode + preprocess</a:t>
            </a:r>
          </a:p>
        </p:txBody>
      </p:sp>
      <p:sp>
        <p:nvSpPr>
          <p:cNvPr id="937" name="Rounded Rectangle 8"/>
          <p:cNvSpPr/>
          <p:nvPr/>
        </p:nvSpPr>
        <p:spPr>
          <a:xfrm>
            <a:off x="3631329" y="2788920"/>
            <a:ext cx="750094" cy="320041"/>
          </a:xfrm>
          <a:prstGeom prst="roundRect">
            <a:avLst>
              <a:gd name="adj" fmla="val 16667"/>
            </a:avLst>
          </a:prstGeom>
          <a:solidFill>
            <a:schemeClr val="accent2"/>
          </a:solidFill>
          <a:ln w="12700">
            <a:miter lim="400000"/>
          </a:ln>
          <a:effectLst>
            <a:outerShdw sx="100000" sy="100000" kx="0" ky="0" algn="b" rotWithShape="0" blurRad="38100" dist="23000" dir="5400000">
              <a:srgbClr val="000000">
                <a:alpha val="35000"/>
              </a:srgbClr>
            </a:outerShdw>
          </a:effectLst>
        </p:spPr>
        <p:txBody>
          <a:bodyPr lIns="36000" tIns="36000" rIns="36000" bIns="36000" anchor="ctr"/>
          <a:lstStyle/>
          <a:p>
            <a:pPr algn="ctr">
              <a:defRPr>
                <a:solidFill>
                  <a:srgbClr val="FFFFFF"/>
                </a:solidFill>
              </a:defRPr>
            </a:pPr>
          </a:p>
        </p:txBody>
      </p:sp>
      <p:sp>
        <p:nvSpPr>
          <p:cNvPr id="938" name="TextBox 9"/>
          <p:cNvSpPr txBox="1"/>
          <p:nvPr/>
        </p:nvSpPr>
        <p:spPr>
          <a:xfrm>
            <a:off x="4518581" y="2791619"/>
            <a:ext cx="822961" cy="269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200">
                <a:solidFill>
                  <a:schemeClr val="accent2"/>
                </a:solidFill>
                <a:latin typeface="Ericsson Hilda Bold"/>
                <a:ea typeface="Ericsson Hilda Bold"/>
                <a:cs typeface="Ericsson Hilda Bold"/>
                <a:sym typeface="Ericsson Hilda Bold"/>
              </a:defRPr>
            </a:lvl1pPr>
          </a:lstStyle>
          <a:p>
            <a:pPr/>
            <a:r>
              <a:t>1.5</a:t>
            </a:r>
          </a:p>
        </p:txBody>
      </p:sp>
      <p:sp>
        <p:nvSpPr>
          <p:cNvPr id="939" name="TextBox 10"/>
          <p:cNvSpPr txBox="1"/>
          <p:nvPr/>
        </p:nvSpPr>
        <p:spPr>
          <a:xfrm>
            <a:off x="502919" y="3550920"/>
            <a:ext cx="4023361" cy="269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200">
                <a:solidFill>
                  <a:srgbClr val="242424"/>
                </a:solidFill>
              </a:defRPr>
            </a:lvl1pPr>
          </a:lstStyle>
          <a:p>
            <a:pPr/>
            <a:r>
              <a:t>Triton: TensorRT inference</a:t>
            </a:r>
          </a:p>
        </p:txBody>
      </p:sp>
      <p:sp>
        <p:nvSpPr>
          <p:cNvPr id="940" name="Rounded Rectangle 11"/>
          <p:cNvSpPr/>
          <p:nvPr/>
        </p:nvSpPr>
        <p:spPr>
          <a:xfrm>
            <a:off x="3631329" y="3520440"/>
            <a:ext cx="2400301" cy="320041"/>
          </a:xfrm>
          <a:prstGeom prst="roundRect">
            <a:avLst>
              <a:gd name="adj" fmla="val 16667"/>
            </a:avLst>
          </a:prstGeom>
          <a:solidFill>
            <a:schemeClr val="accent2"/>
          </a:solidFill>
          <a:ln w="12700">
            <a:miter lim="400000"/>
          </a:ln>
          <a:effectLst>
            <a:outerShdw sx="100000" sy="100000" kx="0" ky="0" algn="b" rotWithShape="0" blurRad="38100" dist="23000" dir="5400000">
              <a:srgbClr val="000000">
                <a:alpha val="35000"/>
              </a:srgbClr>
            </a:outerShdw>
          </a:effectLst>
        </p:spPr>
        <p:txBody>
          <a:bodyPr lIns="36000" tIns="36000" rIns="36000" bIns="36000" anchor="ctr"/>
          <a:lstStyle/>
          <a:p>
            <a:pPr algn="ctr">
              <a:defRPr>
                <a:solidFill>
                  <a:srgbClr val="FFFFFF"/>
                </a:solidFill>
              </a:defRPr>
            </a:pPr>
          </a:p>
        </p:txBody>
      </p:sp>
      <p:sp>
        <p:nvSpPr>
          <p:cNvPr id="941" name="TextBox 12"/>
          <p:cNvSpPr txBox="1"/>
          <p:nvPr/>
        </p:nvSpPr>
        <p:spPr>
          <a:xfrm>
            <a:off x="6168788" y="3550920"/>
            <a:ext cx="822962" cy="269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200">
                <a:solidFill>
                  <a:schemeClr val="accent2"/>
                </a:solidFill>
                <a:latin typeface="Ericsson Hilda Bold"/>
                <a:ea typeface="Ericsson Hilda Bold"/>
                <a:cs typeface="Ericsson Hilda Bold"/>
                <a:sym typeface="Ericsson Hilda Bold"/>
              </a:defRPr>
            </a:lvl1pPr>
          </a:lstStyle>
          <a:p>
            <a:pPr/>
            <a:r>
              <a:t>4.8</a:t>
            </a:r>
          </a:p>
        </p:txBody>
      </p:sp>
      <p:sp>
        <p:nvSpPr>
          <p:cNvPr id="942" name="TextBox 13"/>
          <p:cNvSpPr txBox="1"/>
          <p:nvPr/>
        </p:nvSpPr>
        <p:spPr>
          <a:xfrm>
            <a:off x="502919" y="4295140"/>
            <a:ext cx="4023361" cy="269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200">
                <a:solidFill>
                  <a:srgbClr val="242424"/>
                </a:solidFill>
              </a:defRPr>
            </a:lvl1pPr>
          </a:lstStyle>
          <a:p>
            <a:pPr/>
            <a:r>
              <a:t>Sidecar: NMS + postprocess</a:t>
            </a:r>
          </a:p>
        </p:txBody>
      </p:sp>
      <p:sp>
        <p:nvSpPr>
          <p:cNvPr id="943" name="Rounded Rectangle 14"/>
          <p:cNvSpPr/>
          <p:nvPr/>
        </p:nvSpPr>
        <p:spPr>
          <a:xfrm>
            <a:off x="3631329" y="4251959"/>
            <a:ext cx="1050132" cy="320041"/>
          </a:xfrm>
          <a:prstGeom prst="roundRect">
            <a:avLst>
              <a:gd name="adj" fmla="val 16667"/>
            </a:avLst>
          </a:prstGeom>
          <a:solidFill>
            <a:schemeClr val="accent2"/>
          </a:solidFill>
          <a:ln w="12700">
            <a:miter lim="400000"/>
          </a:ln>
          <a:effectLst>
            <a:outerShdw sx="100000" sy="100000" kx="0" ky="0" algn="b" rotWithShape="0" blurRad="38100" dist="23000" dir="5400000">
              <a:srgbClr val="000000">
                <a:alpha val="35000"/>
              </a:srgbClr>
            </a:outerShdw>
          </a:effectLst>
        </p:spPr>
        <p:txBody>
          <a:bodyPr lIns="36000" tIns="36000" rIns="36000" bIns="36000" anchor="ctr"/>
          <a:lstStyle/>
          <a:p>
            <a:pPr algn="ctr">
              <a:defRPr>
                <a:solidFill>
                  <a:srgbClr val="FFFFFF"/>
                </a:solidFill>
              </a:defRPr>
            </a:pPr>
          </a:p>
        </p:txBody>
      </p:sp>
      <p:sp>
        <p:nvSpPr>
          <p:cNvPr id="944" name="TextBox 15"/>
          <p:cNvSpPr txBox="1"/>
          <p:nvPr/>
        </p:nvSpPr>
        <p:spPr>
          <a:xfrm>
            <a:off x="4818620" y="4251959"/>
            <a:ext cx="822961" cy="269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200">
                <a:solidFill>
                  <a:schemeClr val="accent2"/>
                </a:solidFill>
                <a:latin typeface="Ericsson Hilda Bold"/>
                <a:ea typeface="Ericsson Hilda Bold"/>
                <a:cs typeface="Ericsson Hilda Bold"/>
                <a:sym typeface="Ericsson Hilda Bold"/>
              </a:defRPr>
            </a:lvl1pPr>
          </a:lstStyle>
          <a:p>
            <a:pPr/>
            <a:r>
              <a:t>2.1</a:t>
            </a:r>
          </a:p>
        </p:txBody>
      </p:sp>
      <p:sp>
        <p:nvSpPr>
          <p:cNvPr id="945" name="TextBox 16"/>
          <p:cNvSpPr txBox="1"/>
          <p:nvPr/>
        </p:nvSpPr>
        <p:spPr>
          <a:xfrm>
            <a:off x="502919" y="5001259"/>
            <a:ext cx="4023361" cy="269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200">
                <a:solidFill>
                  <a:srgbClr val="242424"/>
                </a:solidFill>
              </a:defRPr>
            </a:lvl1pPr>
          </a:lstStyle>
          <a:p>
            <a:pPr/>
            <a:r>
              <a:t>5G DL (JSON response, &lt;1KB)</a:t>
            </a:r>
          </a:p>
        </p:txBody>
      </p:sp>
      <p:sp>
        <p:nvSpPr>
          <p:cNvPr id="946" name="Rounded Rectangle 17"/>
          <p:cNvSpPr/>
          <p:nvPr/>
        </p:nvSpPr>
        <p:spPr>
          <a:xfrm>
            <a:off x="3631329" y="4983479"/>
            <a:ext cx="600076" cy="320041"/>
          </a:xfrm>
          <a:prstGeom prst="roundRect">
            <a:avLst>
              <a:gd name="adj" fmla="val 16667"/>
            </a:avLst>
          </a:prstGeom>
          <a:solidFill>
            <a:schemeClr val="accent1"/>
          </a:solidFill>
          <a:ln w="12700">
            <a:miter lim="400000"/>
          </a:ln>
          <a:effectLst>
            <a:outerShdw sx="100000" sy="100000" kx="0" ky="0" algn="b" rotWithShape="0" blurRad="38100" dist="23000" dir="5400000">
              <a:srgbClr val="000000">
                <a:alpha val="35000"/>
              </a:srgbClr>
            </a:outerShdw>
          </a:effectLst>
        </p:spPr>
        <p:txBody>
          <a:bodyPr lIns="36000" tIns="36000" rIns="36000" bIns="36000" anchor="ctr"/>
          <a:lstStyle/>
          <a:p>
            <a:pPr algn="ctr">
              <a:defRPr>
                <a:solidFill>
                  <a:srgbClr val="FFFFFF"/>
                </a:solidFill>
              </a:defRPr>
            </a:pPr>
          </a:p>
        </p:txBody>
      </p:sp>
      <p:sp>
        <p:nvSpPr>
          <p:cNvPr id="947" name="TextBox 18"/>
          <p:cNvSpPr txBox="1"/>
          <p:nvPr/>
        </p:nvSpPr>
        <p:spPr>
          <a:xfrm>
            <a:off x="4419999" y="5001259"/>
            <a:ext cx="822961" cy="269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200">
                <a:solidFill>
                  <a:schemeClr val="accent1"/>
                </a:solidFill>
                <a:latin typeface="Ericsson Hilda Bold"/>
                <a:ea typeface="Ericsson Hilda Bold"/>
                <a:cs typeface="Ericsson Hilda Bold"/>
                <a:sym typeface="Ericsson Hilda Bold"/>
              </a:defRPr>
            </a:lvl1pPr>
          </a:lstStyle>
          <a:p>
            <a:pPr/>
            <a:r>
              <a:t>1.2</a:t>
            </a:r>
          </a:p>
        </p:txBody>
      </p:sp>
      <p:sp>
        <p:nvSpPr>
          <p:cNvPr id="948" name="Connector 19"/>
          <p:cNvSpPr/>
          <p:nvPr/>
        </p:nvSpPr>
        <p:spPr>
          <a:xfrm>
            <a:off x="457200" y="5852159"/>
            <a:ext cx="10972800" cy="1"/>
          </a:xfrm>
          <a:prstGeom prst="line">
            <a:avLst/>
          </a:prstGeom>
          <a:ln w="12700">
            <a:solidFill>
              <a:srgbClr val="E0E0E0"/>
            </a:solidFill>
          </a:ln>
          <a:effectLst>
            <a:outerShdw sx="100000" sy="100000" kx="0" ky="0" algn="b" rotWithShape="0" blurRad="38100" dist="20000" dir="5400000">
              <a:srgbClr val="000000">
                <a:alpha val="38000"/>
              </a:srgbClr>
            </a:outerShdw>
          </a:effectLst>
        </p:spPr>
        <p:txBody>
          <a:bodyPr lIns="45719" rIns="45719"/>
          <a:lstStyle/>
          <a:p>
            <a:pPr/>
          </a:p>
        </p:txBody>
      </p:sp>
      <p:sp>
        <p:nvSpPr>
          <p:cNvPr id="949" name="TextBox 20"/>
          <p:cNvSpPr txBox="1"/>
          <p:nvPr/>
        </p:nvSpPr>
        <p:spPr>
          <a:xfrm>
            <a:off x="502919" y="5943600"/>
            <a:ext cx="4480561" cy="3073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400">
                <a:solidFill>
                  <a:srgbClr val="000000"/>
                </a:solidFill>
                <a:latin typeface="Ericsson Hilda Bold"/>
                <a:ea typeface="Ericsson Hilda Bold"/>
                <a:cs typeface="Ericsson Hilda Bold"/>
                <a:sym typeface="Ericsson Hilda Bold"/>
              </a:defRPr>
            </a:lvl1pPr>
          </a:lstStyle>
          <a:p>
            <a:pPr/>
            <a:r>
              <a:t>Total round-trip (gRPC, YOLOv8n)</a:t>
            </a:r>
          </a:p>
        </p:txBody>
      </p:sp>
      <p:sp>
        <p:nvSpPr>
          <p:cNvPr id="950" name="TextBox 21"/>
          <p:cNvSpPr txBox="1"/>
          <p:nvPr/>
        </p:nvSpPr>
        <p:spPr>
          <a:xfrm>
            <a:off x="3677049" y="5943600"/>
            <a:ext cx="1737361" cy="3073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nSpc>
                <a:spcPct val="130000"/>
              </a:lnSpc>
              <a:defRPr sz="1400">
                <a:solidFill>
                  <a:schemeClr val="accent1"/>
                </a:solidFill>
                <a:latin typeface="Ericsson Hilda Bold"/>
                <a:ea typeface="Ericsson Hilda Bold"/>
                <a:cs typeface="Ericsson Hilda Bold"/>
                <a:sym typeface="Ericsson Hilda Bold"/>
              </a:defRPr>
            </a:lvl1pPr>
          </a:lstStyle>
          <a:p>
            <a:pPr/>
            <a:r>
              <a:t>~13 ms</a:t>
            </a:r>
          </a:p>
        </p:txBody>
      </p:sp>
      <p:sp>
        <p:nvSpPr>
          <p:cNvPr id="951" name="TextBox 22"/>
          <p:cNvSpPr txBox="1"/>
          <p:nvPr/>
        </p:nvSpPr>
        <p:spPr>
          <a:xfrm>
            <a:off x="7043582" y="1698784"/>
            <a:ext cx="5104977" cy="1634491"/>
          </a:xfrm>
          <a:prstGeom prst="rect">
            <a:avLst/>
          </a:prstGeom>
          <a:ln w="19050">
            <a:solidFill>
              <a:schemeClr val="accent2"/>
            </a:solidFill>
          </a:ln>
          <a:extLst>
            <a:ext uri="{C572A759-6A51-4108-AA02-DFA0A04FC94B}">
              <ma14:wrappingTextBoxFlag xmlns:ma14="http://schemas.microsoft.com/office/mac/drawingml/2011/main" val="1"/>
            </a:ext>
          </a:extLst>
        </p:spPr>
        <p:txBody>
          <a:bodyPr lIns="45719" rIns="45719">
            <a:spAutoFit/>
          </a:bodyPr>
          <a:lstStyle/>
          <a:p>
            <a:pPr>
              <a:lnSpc>
                <a:spcPct val="130000"/>
              </a:lnSpc>
              <a:defRPr sz="1400">
                <a:solidFill>
                  <a:srgbClr val="242424"/>
                </a:solidFill>
                <a:latin typeface="Courier New"/>
                <a:ea typeface="Courier New"/>
                <a:cs typeface="Courier New"/>
                <a:sym typeface="Courier New"/>
              </a:defRPr>
            </a:pPr>
            <a:r>
              <a:t>Comparison:</a:t>
            </a:r>
            <a:endParaRPr>
              <a:solidFill>
                <a:srgbClr val="000000"/>
              </a:solidFill>
            </a:endParaRPr>
          </a:p>
          <a:p>
            <a:pPr>
              <a:lnSpc>
                <a:spcPct val="130000"/>
              </a:lnSpc>
              <a:defRPr sz="1400">
                <a:solidFill>
                  <a:srgbClr val="242424"/>
                </a:solidFill>
                <a:latin typeface="Courier New"/>
                <a:ea typeface="Courier New"/>
                <a:cs typeface="Courier New"/>
                <a:sym typeface="Courier New"/>
              </a:defRPr>
            </a:pPr>
            <a:r>
              <a:t>  Edge GPU (gRPC):     ~18ms  — YOLOv8n detect</a:t>
            </a:r>
            <a:endParaRPr>
              <a:solidFill>
                <a:srgbClr val="000000"/>
              </a:solidFill>
            </a:endParaRPr>
          </a:p>
          <a:p>
            <a:pPr>
              <a:lnSpc>
                <a:spcPct val="130000"/>
              </a:lnSpc>
              <a:defRPr sz="1400">
                <a:solidFill>
                  <a:srgbClr val="242424"/>
                </a:solidFill>
                <a:latin typeface="Courier New"/>
                <a:ea typeface="Courier New"/>
                <a:cs typeface="Courier New"/>
                <a:sym typeface="Courier New"/>
              </a:defRPr>
            </a:pPr>
            <a:r>
              <a:t>  Edge GPU (HTTP):      ~25m  — YOLOv8n detect</a:t>
            </a:r>
            <a:endParaRPr>
              <a:solidFill>
                <a:srgbClr val="000000"/>
              </a:solidFill>
            </a:endParaRPr>
          </a:p>
          <a:p>
            <a:pPr>
              <a:lnSpc>
                <a:spcPct val="130000"/>
              </a:lnSpc>
              <a:defRPr sz="1400">
                <a:solidFill>
                  <a:srgbClr val="242424"/>
                </a:solidFill>
                <a:latin typeface="Courier New"/>
                <a:ea typeface="Courier New"/>
                <a:cs typeface="Courier New"/>
                <a:sym typeface="Courier New"/>
              </a:defRPr>
            </a:pPr>
            <a:r>
              <a:t>  Edge GPU (gRPC):     ~22ms  — YOLOv8x-seg</a:t>
            </a:r>
            <a:endParaRPr>
              <a:solidFill>
                <a:srgbClr val="000000"/>
              </a:solidFill>
            </a:endParaRPr>
          </a:p>
          <a:p>
            <a:pPr>
              <a:lnSpc>
                <a:spcPct val="130000"/>
              </a:lnSpc>
              <a:defRPr sz="1400">
                <a:solidFill>
                  <a:srgbClr val="242424"/>
                </a:solidFill>
                <a:latin typeface="Courier New"/>
                <a:ea typeface="Courier New"/>
                <a:cs typeface="Courier New"/>
                <a:sym typeface="Courier New"/>
              </a:defRPr>
            </a:pPr>
            <a:r>
              <a:t>  Local CPU (M1 Pro):  ~120ms — YOLOv8n detect</a:t>
            </a:r>
            <a:endParaRPr>
              <a:solidFill>
                <a:srgbClr val="000000"/>
              </a:solidFill>
            </a:endParaRPr>
          </a:p>
          <a:p>
            <a:pPr>
              <a:lnSpc>
                <a:spcPct val="130000"/>
              </a:lnSpc>
              <a:defRPr sz="1400">
                <a:solidFill>
                  <a:srgbClr val="242424"/>
                </a:solidFill>
                <a:latin typeface="Courier New"/>
                <a:ea typeface="Courier New"/>
                <a:cs typeface="Courier New"/>
                <a:sym typeface="Courier New"/>
              </a:defRPr>
            </a:pPr>
            <a:r>
              <a:t>  Local CPU (M1 Pro):  ~530ms — YOLOv8x-seg</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5" name="Title 1"/>
          <p:cNvSpPr txBox="1"/>
          <p:nvPr>
            <p:ph type="title"/>
          </p:nvPr>
        </p:nvSpPr>
        <p:spPr>
          <a:xfrm>
            <a:off x="479423" y="476250"/>
            <a:ext cx="9432468" cy="1081088"/>
          </a:xfrm>
          <a:prstGeom prst="rect">
            <a:avLst/>
          </a:prstGeom>
        </p:spPr>
        <p:txBody>
          <a:bodyPr/>
          <a:lstStyle/>
          <a:p>
            <a:pPr>
              <a:defRPr spc="-200">
                <a:solidFill>
                  <a:srgbClr val="000000"/>
                </a:solidFill>
              </a:defRPr>
            </a:pPr>
            <a:r>
              <a:t>Transport: gRPC vs HTTP Fallback </a:t>
            </a:r>
            <a:r>
              <a:rPr>
                <a:solidFill>
                  <a:schemeClr val="accent6">
                    <a:satOff val="-29700"/>
                    <a:lumOff val="-12666"/>
                  </a:schemeClr>
                </a:solidFill>
              </a:rPr>
              <a:t>(placeholder)</a:t>
            </a:r>
          </a:p>
        </p:txBody>
      </p:sp>
      <p:sp>
        <p:nvSpPr>
          <p:cNvPr id="956" name="Rectangle 2"/>
          <p:cNvSpPr/>
          <p:nvPr/>
        </p:nvSpPr>
        <p:spPr>
          <a:xfrm>
            <a:off x="731519" y="2011679"/>
            <a:ext cx="5029201" cy="3200401"/>
          </a:xfrm>
          <a:prstGeom prst="rect">
            <a:avLst/>
          </a:prstGeom>
          <a:solidFill>
            <a:srgbClr val="FFFFFF"/>
          </a:solidFill>
          <a:ln w="19050">
            <a:solidFill>
              <a:schemeClr val="accent1"/>
            </a:solidFill>
          </a:ln>
          <a:effectLst>
            <a:outerShdw sx="100000" sy="100000" kx="0" ky="0" algn="b" rotWithShape="0" blurRad="38100" dist="23000" dir="5400000">
              <a:srgbClr val="000000">
                <a:alpha val="35000"/>
              </a:srgbClr>
            </a:outerShdw>
          </a:effectLst>
        </p:spPr>
        <p:txBody>
          <a:bodyPr lIns="36000" tIns="36000" rIns="36000" bIns="36000" anchor="ctr"/>
          <a:lstStyle/>
          <a:p>
            <a:pPr algn="ctr">
              <a:defRPr>
                <a:solidFill>
                  <a:srgbClr val="FFFFFF"/>
                </a:solidFill>
              </a:defRPr>
            </a:pPr>
          </a:p>
        </p:txBody>
      </p:sp>
      <p:sp>
        <p:nvSpPr>
          <p:cNvPr id="957" name="TextBox 3"/>
          <p:cNvSpPr txBox="1"/>
          <p:nvPr/>
        </p:nvSpPr>
        <p:spPr>
          <a:xfrm>
            <a:off x="960119" y="2103120"/>
            <a:ext cx="4480561" cy="472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2500">
                <a:solidFill>
                  <a:schemeClr val="accent1"/>
                </a:solidFill>
                <a:latin typeface="Ericsson Hilda Bold"/>
                <a:ea typeface="Ericsson Hilda Bold"/>
                <a:cs typeface="Ericsson Hilda Bold"/>
                <a:sym typeface="Ericsson Hilda Bold"/>
              </a:defRPr>
            </a:lvl1pPr>
          </a:lstStyle>
          <a:p>
            <a:pPr/>
            <a:r>
              <a:t>gRPC (Primary — 5G only)</a:t>
            </a:r>
          </a:p>
        </p:txBody>
      </p:sp>
      <p:sp>
        <p:nvSpPr>
          <p:cNvPr id="958" name="TextBox 4"/>
          <p:cNvSpPr txBox="1"/>
          <p:nvPr/>
        </p:nvSpPr>
        <p:spPr>
          <a:xfrm>
            <a:off x="960119" y="2674620"/>
            <a:ext cx="4480561" cy="24663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50000"/>
              </a:lnSpc>
              <a:defRPr>
                <a:solidFill>
                  <a:srgbClr val="242424"/>
                </a:solidFill>
              </a:defRPr>
            </a:pPr>
            <a:r>
              <a:t>• NodePort exposed on 5G network</a:t>
            </a:r>
            <a:endParaRPr>
              <a:solidFill>
                <a:srgbClr val="000000"/>
              </a:solidFill>
            </a:endParaRPr>
          </a:p>
          <a:p>
            <a:pPr>
              <a:lnSpc>
                <a:spcPct val="150000"/>
              </a:lnSpc>
              <a:defRPr>
                <a:solidFill>
                  <a:srgbClr val="242424"/>
                </a:solidFill>
              </a:defRPr>
            </a:pPr>
            <a:r>
              <a:t>• Binary protobuf (smaller payload)</a:t>
            </a:r>
            <a:endParaRPr>
              <a:solidFill>
                <a:srgbClr val="000000"/>
              </a:solidFill>
            </a:endParaRPr>
          </a:p>
          <a:p>
            <a:pPr>
              <a:lnSpc>
                <a:spcPct val="150000"/>
              </a:lnSpc>
              <a:defRPr>
                <a:solidFill>
                  <a:srgbClr val="242424"/>
                </a:solidFill>
              </a:defRPr>
            </a:pPr>
            <a:r>
              <a:t>• Single persistent TCP connection</a:t>
            </a:r>
            <a:endParaRPr>
              <a:solidFill>
                <a:srgbClr val="000000"/>
              </a:solidFill>
            </a:endParaRPr>
          </a:p>
          <a:p>
            <a:pPr>
              <a:lnSpc>
                <a:spcPct val="150000"/>
              </a:lnSpc>
              <a:defRPr>
                <a:solidFill>
                  <a:srgbClr val="242424"/>
                </a:solidFill>
              </a:defRPr>
            </a:pPr>
            <a:r>
              <a:t>• ~18ms round-trip</a:t>
            </a:r>
            <a:endParaRPr>
              <a:solidFill>
                <a:srgbClr val="000000"/>
              </a:solidFill>
            </a:endParaRPr>
          </a:p>
          <a:p>
            <a:pPr>
              <a:lnSpc>
                <a:spcPct val="150000"/>
              </a:lnSpc>
              <a:defRPr>
                <a:solidFill>
                  <a:srgbClr val="242424"/>
                </a:solidFill>
              </a:defRPr>
            </a:pPr>
            <a:r>
              <a:t>• Requires pod readiness (kube-proxy)</a:t>
            </a:r>
            <a:endParaRPr>
              <a:solidFill>
                <a:srgbClr val="000000"/>
              </a:solidFill>
            </a:endParaRPr>
          </a:p>
          <a:p>
            <a:pPr>
              <a:lnSpc>
                <a:spcPct val="150000"/>
              </a:lnSpc>
              <a:defRPr>
                <a:solidFill>
                  <a:srgbClr val="242424"/>
                </a:solidFill>
              </a:defRPr>
            </a:pPr>
            <a:r>
              <a:t>• Blocked when on VPN</a:t>
            </a:r>
          </a:p>
        </p:txBody>
      </p:sp>
      <p:sp>
        <p:nvSpPr>
          <p:cNvPr id="959" name="Rectangle 5"/>
          <p:cNvSpPr/>
          <p:nvPr/>
        </p:nvSpPr>
        <p:spPr>
          <a:xfrm>
            <a:off x="6400800" y="2011679"/>
            <a:ext cx="5029200" cy="3200401"/>
          </a:xfrm>
          <a:prstGeom prst="rect">
            <a:avLst/>
          </a:prstGeom>
          <a:solidFill>
            <a:srgbClr val="FFFFFF"/>
          </a:solidFill>
          <a:ln w="19050">
            <a:solidFill>
              <a:srgbClr val="A0A0A0"/>
            </a:solidFill>
          </a:ln>
          <a:effectLst>
            <a:outerShdw sx="100000" sy="100000" kx="0" ky="0" algn="b" rotWithShape="0" blurRad="38100" dist="23000" dir="5400000">
              <a:srgbClr val="000000">
                <a:alpha val="35000"/>
              </a:srgbClr>
            </a:outerShdw>
          </a:effectLst>
        </p:spPr>
        <p:txBody>
          <a:bodyPr lIns="36000" tIns="36000" rIns="36000" bIns="36000" anchor="ctr"/>
          <a:lstStyle/>
          <a:p>
            <a:pPr algn="ctr">
              <a:defRPr>
                <a:solidFill>
                  <a:srgbClr val="FFFFFF"/>
                </a:solidFill>
              </a:defRPr>
            </a:pPr>
          </a:p>
        </p:txBody>
      </p:sp>
      <p:sp>
        <p:nvSpPr>
          <p:cNvPr id="960" name="TextBox 6"/>
          <p:cNvSpPr txBox="1"/>
          <p:nvPr/>
        </p:nvSpPr>
        <p:spPr>
          <a:xfrm>
            <a:off x="6629400" y="2103120"/>
            <a:ext cx="4805965" cy="472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2500">
                <a:solidFill>
                  <a:srgbClr val="242424"/>
                </a:solidFill>
                <a:latin typeface="Ericsson Hilda Bold"/>
                <a:ea typeface="Ericsson Hilda Bold"/>
                <a:cs typeface="Ericsson Hilda Bold"/>
                <a:sym typeface="Ericsson Hilda Bold"/>
              </a:defRPr>
            </a:lvl1pPr>
          </a:lstStyle>
          <a:p>
            <a:pPr/>
            <a:r>
              <a:t>HTTP (Fallback — any network)</a:t>
            </a:r>
          </a:p>
        </p:txBody>
      </p:sp>
      <p:sp>
        <p:nvSpPr>
          <p:cNvPr id="961" name="TextBox 7"/>
          <p:cNvSpPr txBox="1"/>
          <p:nvPr/>
        </p:nvSpPr>
        <p:spPr>
          <a:xfrm>
            <a:off x="6629400" y="2674620"/>
            <a:ext cx="4480560" cy="24663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50000"/>
              </a:lnSpc>
              <a:defRPr>
                <a:solidFill>
                  <a:srgbClr val="242424"/>
                </a:solidFill>
              </a:defRPr>
            </a:pPr>
            <a:r>
              <a:t>• NGINX Ingress reverse proxy</a:t>
            </a:r>
            <a:endParaRPr>
              <a:solidFill>
                <a:srgbClr val="000000"/>
              </a:solidFill>
            </a:endParaRPr>
          </a:p>
          <a:p>
            <a:pPr>
              <a:lnSpc>
                <a:spcPct val="150000"/>
              </a:lnSpc>
              <a:defRPr>
                <a:solidFill>
                  <a:srgbClr val="242424"/>
                </a:solidFill>
              </a:defRPr>
            </a:pPr>
            <a:r>
              <a:t>• JPEG POST, JSON response</a:t>
            </a:r>
            <a:endParaRPr>
              <a:solidFill>
                <a:srgbClr val="000000"/>
              </a:solidFill>
            </a:endParaRPr>
          </a:p>
          <a:p>
            <a:pPr>
              <a:lnSpc>
                <a:spcPct val="150000"/>
              </a:lnSpc>
              <a:defRPr>
                <a:solidFill>
                  <a:srgbClr val="242424"/>
                </a:solidFill>
              </a:defRPr>
            </a:pPr>
            <a:r>
              <a:t>• New connection per request</a:t>
            </a:r>
            <a:endParaRPr>
              <a:solidFill>
                <a:srgbClr val="000000"/>
              </a:solidFill>
            </a:endParaRPr>
          </a:p>
          <a:p>
            <a:pPr>
              <a:lnSpc>
                <a:spcPct val="150000"/>
              </a:lnSpc>
              <a:defRPr>
                <a:solidFill>
                  <a:srgbClr val="242424"/>
                </a:solidFill>
              </a:defRPr>
            </a:pPr>
            <a:r>
              <a:t>• ~25ms round-trip</a:t>
            </a:r>
            <a:endParaRPr>
              <a:solidFill>
                <a:srgbClr val="000000"/>
              </a:solidFill>
            </a:endParaRPr>
          </a:p>
          <a:p>
            <a:pPr>
              <a:lnSpc>
                <a:spcPct val="150000"/>
              </a:lnSpc>
              <a:defRPr>
                <a:solidFill>
                  <a:srgbClr val="242424"/>
                </a:solidFill>
              </a:defRPr>
            </a:pPr>
            <a:r>
              <a:t>• Works over VPN and WiFi</a:t>
            </a:r>
            <a:endParaRPr>
              <a:solidFill>
                <a:srgbClr val="000000"/>
              </a:solidFill>
            </a:endParaRPr>
          </a:p>
          <a:p>
            <a:pPr>
              <a:lnSpc>
                <a:spcPct val="150000"/>
              </a:lnSpc>
              <a:defRPr>
                <a:solidFill>
                  <a:srgbClr val="242424"/>
                </a:solidFill>
              </a:defRPr>
            </a:pPr>
            <a:r>
              <a:t>• Auto-fallback on gRPC failure</a:t>
            </a:r>
          </a:p>
        </p:txBody>
      </p:sp>
      <p:sp>
        <p:nvSpPr>
          <p:cNvPr id="962" name="Connector 8"/>
          <p:cNvSpPr/>
          <p:nvPr/>
        </p:nvSpPr>
        <p:spPr>
          <a:xfrm>
            <a:off x="5760720" y="3657600"/>
            <a:ext cx="640081" cy="0"/>
          </a:xfrm>
          <a:prstGeom prst="line">
            <a:avLst/>
          </a:prstGeom>
          <a:ln w="25400">
            <a:solidFill>
              <a:srgbClr val="767676"/>
            </a:solidFill>
            <a:tailEnd type="triangle"/>
          </a:ln>
          <a:effectLst>
            <a:outerShdw sx="100000" sy="100000" kx="0" ky="0" algn="b" rotWithShape="0" blurRad="38100" dist="20000" dir="5400000">
              <a:srgbClr val="000000">
                <a:alpha val="38000"/>
              </a:srgbClr>
            </a:outerShdw>
          </a:effectLst>
        </p:spPr>
        <p:txBody>
          <a:bodyPr lIns="45719" rIns="45719"/>
          <a:lstStyle/>
          <a:p>
            <a:pPr/>
          </a:p>
        </p:txBody>
      </p:sp>
      <p:sp>
        <p:nvSpPr>
          <p:cNvPr id="963" name="TextBox 9"/>
          <p:cNvSpPr txBox="1"/>
          <p:nvPr/>
        </p:nvSpPr>
        <p:spPr>
          <a:xfrm>
            <a:off x="5532120" y="3291840"/>
            <a:ext cx="1097281"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nSpc>
                <a:spcPct val="130000"/>
              </a:lnSpc>
              <a:defRPr sz="1000">
                <a:solidFill>
                  <a:srgbClr val="767676"/>
                </a:solidFill>
              </a:defRPr>
            </a:lvl1pPr>
          </a:lstStyle>
          <a:p>
            <a:pPr/>
            <a:r>
              <a:t>fallback</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67" name="Title 1"/>
          <p:cNvSpPr txBox="1"/>
          <p:nvPr>
            <p:ph type="title"/>
          </p:nvPr>
        </p:nvSpPr>
        <p:spPr>
          <a:prstGeom prst="rect">
            <a:avLst/>
          </a:prstGeom>
        </p:spPr>
        <p:txBody>
          <a:bodyPr/>
          <a:lstStyle>
            <a:lvl1pPr>
              <a:defRPr spc="-200">
                <a:solidFill>
                  <a:srgbClr val="000000"/>
                </a:solidFill>
              </a:defRPr>
            </a:lvl1pPr>
          </a:lstStyle>
          <a:p>
            <a:pPr/>
            <a:r>
              <a:t>Development &amp; Deployment Workflow</a:t>
            </a:r>
          </a:p>
        </p:txBody>
      </p:sp>
      <p:grpSp>
        <p:nvGrpSpPr>
          <p:cNvPr id="970" name="Rounded Rectangle 2"/>
          <p:cNvGrpSpPr/>
          <p:nvPr/>
        </p:nvGrpSpPr>
        <p:grpSpPr>
          <a:xfrm>
            <a:off x="457200" y="1828800"/>
            <a:ext cx="2286000" cy="640081"/>
            <a:chOff x="0" y="0"/>
            <a:chExt cx="2286000" cy="640080"/>
          </a:xfrm>
        </p:grpSpPr>
        <p:sp>
          <p:nvSpPr>
            <p:cNvPr id="968" name="Rounded Rectangle"/>
            <p:cNvSpPr/>
            <p:nvPr/>
          </p:nvSpPr>
          <p:spPr>
            <a:xfrm>
              <a:off x="0" y="0"/>
              <a:ext cx="2286000" cy="640081"/>
            </a:xfrm>
            <a:prstGeom prst="roundRect">
              <a:avLst>
                <a:gd name="adj" fmla="val 16667"/>
              </a:avLst>
            </a:prstGeom>
            <a:solidFill>
              <a:srgbClr val="D6E2F5"/>
            </a:solidFill>
            <a:ln w="19050" cap="flat">
              <a:solidFill>
                <a:schemeClr val="accent1"/>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969" name="Git Push"/>
            <p:cNvSpPr txBox="1"/>
            <p:nvPr/>
          </p:nvSpPr>
          <p:spPr>
            <a:xfrm>
              <a:off x="86490" y="179070"/>
              <a:ext cx="2113020" cy="2819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300">
                  <a:solidFill>
                    <a:schemeClr val="accent1"/>
                  </a:solidFill>
                  <a:latin typeface="Ericsson Hilda Bold"/>
                  <a:ea typeface="Ericsson Hilda Bold"/>
                  <a:cs typeface="Ericsson Hilda Bold"/>
                  <a:sym typeface="Ericsson Hilda Bold"/>
                </a:defRPr>
              </a:lvl1pPr>
            </a:lstStyle>
            <a:p>
              <a:pPr/>
              <a:r>
                <a:t>Git Push</a:t>
              </a:r>
            </a:p>
          </p:txBody>
        </p:sp>
      </p:grpSp>
      <p:sp>
        <p:nvSpPr>
          <p:cNvPr id="971" name="TextBox 3"/>
          <p:cNvSpPr txBox="1"/>
          <p:nvPr/>
        </p:nvSpPr>
        <p:spPr>
          <a:xfrm>
            <a:off x="502919" y="2560320"/>
            <a:ext cx="2194562" cy="4711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lnSpc>
                <a:spcPct val="130000"/>
              </a:lnSpc>
              <a:defRPr sz="1100">
                <a:solidFill>
                  <a:srgbClr val="242424"/>
                </a:solidFill>
              </a:defRPr>
            </a:pPr>
            <a:r>
              <a:t>Code changes</a:t>
            </a:r>
            <a:endParaRPr>
              <a:solidFill>
                <a:srgbClr val="000000"/>
              </a:solidFill>
            </a:endParaRPr>
          </a:p>
          <a:p>
            <a:pPr algn="ctr">
              <a:lnSpc>
                <a:spcPct val="130000"/>
              </a:lnSpc>
              <a:defRPr sz="1100">
                <a:solidFill>
                  <a:srgbClr val="242424"/>
                </a:solidFill>
              </a:defRPr>
            </a:pPr>
            <a:r>
              <a:t>pushed to repo</a:t>
            </a:r>
          </a:p>
        </p:txBody>
      </p:sp>
      <p:grpSp>
        <p:nvGrpSpPr>
          <p:cNvPr id="974" name="Rounded Rectangle 4"/>
          <p:cNvGrpSpPr/>
          <p:nvPr/>
        </p:nvGrpSpPr>
        <p:grpSpPr>
          <a:xfrm>
            <a:off x="3200400" y="1828800"/>
            <a:ext cx="2286000" cy="640081"/>
            <a:chOff x="0" y="0"/>
            <a:chExt cx="2286000" cy="640080"/>
          </a:xfrm>
        </p:grpSpPr>
        <p:sp>
          <p:nvSpPr>
            <p:cNvPr id="972" name="Rounded Rectangle"/>
            <p:cNvSpPr/>
            <p:nvPr/>
          </p:nvSpPr>
          <p:spPr>
            <a:xfrm>
              <a:off x="0" y="0"/>
              <a:ext cx="2286000" cy="640081"/>
            </a:xfrm>
            <a:prstGeom prst="roundRect">
              <a:avLst>
                <a:gd name="adj" fmla="val 16667"/>
              </a:avLst>
            </a:prstGeom>
            <a:solidFill>
              <a:srgbClr val="D6E2F5"/>
            </a:solidFill>
            <a:ln w="19050" cap="flat">
              <a:solidFill>
                <a:schemeClr val="accent1"/>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973" name="Container Build"/>
            <p:cNvSpPr txBox="1"/>
            <p:nvPr/>
          </p:nvSpPr>
          <p:spPr>
            <a:xfrm>
              <a:off x="86490" y="179070"/>
              <a:ext cx="2113020" cy="2819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300">
                  <a:solidFill>
                    <a:schemeClr val="accent1"/>
                  </a:solidFill>
                  <a:latin typeface="Ericsson Hilda Bold"/>
                  <a:ea typeface="Ericsson Hilda Bold"/>
                  <a:cs typeface="Ericsson Hilda Bold"/>
                  <a:sym typeface="Ericsson Hilda Bold"/>
                </a:defRPr>
              </a:lvl1pPr>
            </a:lstStyle>
            <a:p>
              <a:pPr/>
              <a:r>
                <a:t>Container Build</a:t>
              </a:r>
            </a:p>
          </p:txBody>
        </p:sp>
      </p:grpSp>
      <p:sp>
        <p:nvSpPr>
          <p:cNvPr id="975" name="TextBox 5"/>
          <p:cNvSpPr txBox="1"/>
          <p:nvPr/>
        </p:nvSpPr>
        <p:spPr>
          <a:xfrm>
            <a:off x="3246120" y="2560320"/>
            <a:ext cx="2194561" cy="4711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lnSpc>
                <a:spcPct val="130000"/>
              </a:lnSpc>
              <a:defRPr sz="1100">
                <a:solidFill>
                  <a:srgbClr val="242424"/>
                </a:solidFill>
              </a:defRPr>
            </a:pPr>
            <a:r>
              <a:t>Docker build</a:t>
            </a:r>
            <a:endParaRPr>
              <a:solidFill>
                <a:srgbClr val="000000"/>
              </a:solidFill>
            </a:endParaRPr>
          </a:p>
          <a:p>
            <a:pPr algn="ctr">
              <a:lnSpc>
                <a:spcPct val="130000"/>
              </a:lnSpc>
              <a:defRPr sz="1100">
                <a:solidFill>
                  <a:srgbClr val="242424"/>
                </a:solidFill>
              </a:defRPr>
            </a:pPr>
            <a:r>
              <a:t>(triton + sidecar)</a:t>
            </a:r>
          </a:p>
        </p:txBody>
      </p:sp>
      <p:grpSp>
        <p:nvGrpSpPr>
          <p:cNvPr id="978" name="Rounded Rectangle 6"/>
          <p:cNvGrpSpPr/>
          <p:nvPr/>
        </p:nvGrpSpPr>
        <p:grpSpPr>
          <a:xfrm>
            <a:off x="5943600" y="1828800"/>
            <a:ext cx="2286000" cy="640081"/>
            <a:chOff x="0" y="0"/>
            <a:chExt cx="2286000" cy="640080"/>
          </a:xfrm>
        </p:grpSpPr>
        <p:sp>
          <p:nvSpPr>
            <p:cNvPr id="976" name="Rounded Rectangle"/>
            <p:cNvSpPr/>
            <p:nvPr/>
          </p:nvSpPr>
          <p:spPr>
            <a:xfrm>
              <a:off x="0" y="0"/>
              <a:ext cx="2286000" cy="640081"/>
            </a:xfrm>
            <a:prstGeom prst="roundRect">
              <a:avLst>
                <a:gd name="adj" fmla="val 16667"/>
              </a:avLst>
            </a:prstGeom>
            <a:solidFill>
              <a:srgbClr val="D6E2F5"/>
            </a:solidFill>
            <a:ln w="19050" cap="flat">
              <a:solidFill>
                <a:schemeClr val="accent1"/>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977" name="Registry"/>
            <p:cNvSpPr txBox="1"/>
            <p:nvPr/>
          </p:nvSpPr>
          <p:spPr>
            <a:xfrm>
              <a:off x="86490" y="179070"/>
              <a:ext cx="2113020" cy="2819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300">
                  <a:solidFill>
                    <a:schemeClr val="accent1"/>
                  </a:solidFill>
                  <a:latin typeface="Ericsson Hilda Bold"/>
                  <a:ea typeface="Ericsson Hilda Bold"/>
                  <a:cs typeface="Ericsson Hilda Bold"/>
                  <a:sym typeface="Ericsson Hilda Bold"/>
                </a:defRPr>
              </a:lvl1pPr>
            </a:lstStyle>
            <a:p>
              <a:pPr/>
              <a:r>
                <a:t>Registry</a:t>
              </a:r>
            </a:p>
          </p:txBody>
        </p:sp>
      </p:grpSp>
      <p:sp>
        <p:nvSpPr>
          <p:cNvPr id="979" name="TextBox 7"/>
          <p:cNvSpPr txBox="1"/>
          <p:nvPr/>
        </p:nvSpPr>
        <p:spPr>
          <a:xfrm>
            <a:off x="5989320" y="2560320"/>
            <a:ext cx="2194561" cy="4711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lnSpc>
                <a:spcPct val="130000"/>
              </a:lnSpc>
              <a:defRPr sz="1100">
                <a:solidFill>
                  <a:srgbClr val="242424"/>
                </a:solidFill>
              </a:defRPr>
            </a:pPr>
            <a:r>
              <a:t>ghcr.io/</a:t>
            </a:r>
            <a:endParaRPr>
              <a:solidFill>
                <a:srgbClr val="000000"/>
              </a:solidFill>
            </a:endParaRPr>
          </a:p>
          <a:p>
            <a:pPr algn="ctr">
              <a:lnSpc>
                <a:spcPct val="130000"/>
              </a:lnSpc>
              <a:defRPr sz="1100">
                <a:solidFill>
                  <a:srgbClr val="242424"/>
                </a:solidFill>
              </a:defRPr>
            </a:pPr>
            <a:r>
              <a:t>edgevision-triton</a:t>
            </a:r>
          </a:p>
        </p:txBody>
      </p:sp>
      <p:grpSp>
        <p:nvGrpSpPr>
          <p:cNvPr id="982" name="Rounded Rectangle 8"/>
          <p:cNvGrpSpPr/>
          <p:nvPr/>
        </p:nvGrpSpPr>
        <p:grpSpPr>
          <a:xfrm>
            <a:off x="8686800" y="1828800"/>
            <a:ext cx="2286000" cy="640081"/>
            <a:chOff x="0" y="0"/>
            <a:chExt cx="2286000" cy="640080"/>
          </a:xfrm>
        </p:grpSpPr>
        <p:sp>
          <p:nvSpPr>
            <p:cNvPr id="980" name="Rounded Rectangle"/>
            <p:cNvSpPr/>
            <p:nvPr/>
          </p:nvSpPr>
          <p:spPr>
            <a:xfrm>
              <a:off x="0" y="0"/>
              <a:ext cx="2286000" cy="640081"/>
            </a:xfrm>
            <a:prstGeom prst="roundRect">
              <a:avLst>
                <a:gd name="adj" fmla="val 16667"/>
              </a:avLst>
            </a:prstGeom>
            <a:solidFill>
              <a:srgbClr val="D6E2F5"/>
            </a:solidFill>
            <a:ln w="19050" cap="flat">
              <a:solidFill>
                <a:schemeClr val="accent1"/>
              </a:solidFill>
              <a:prstDash val="solid"/>
              <a:round/>
            </a:ln>
            <a:effectLst>
              <a:outerShdw sx="100000" sy="100000" kx="0" ky="0" algn="b" rotWithShape="0" blurRad="38100" dist="23000" dir="5400000">
                <a:srgbClr val="000000">
                  <a:alpha val="35000"/>
                </a:srgbClr>
              </a:outerShdw>
            </a:effectLst>
          </p:spPr>
          <p:txBody>
            <a:bodyPr wrap="square" lIns="36000" tIns="36000" rIns="36000" bIns="36000" numCol="1" anchor="ctr">
              <a:noAutofit/>
            </a:bodyPr>
            <a:lstStyle/>
            <a:p>
              <a:pPr algn="ctr">
                <a:defRPr>
                  <a:solidFill>
                    <a:srgbClr val="FFFFFF"/>
                  </a:solidFill>
                </a:defRPr>
              </a:pPr>
            </a:p>
          </p:txBody>
        </p:sp>
        <p:sp>
          <p:nvSpPr>
            <p:cNvPr id="981" name="K8s Deploy"/>
            <p:cNvSpPr txBox="1"/>
            <p:nvPr/>
          </p:nvSpPr>
          <p:spPr>
            <a:xfrm>
              <a:off x="86490" y="179070"/>
              <a:ext cx="2113020" cy="2819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300">
                  <a:solidFill>
                    <a:schemeClr val="accent1"/>
                  </a:solidFill>
                  <a:latin typeface="Ericsson Hilda Bold"/>
                  <a:ea typeface="Ericsson Hilda Bold"/>
                  <a:cs typeface="Ericsson Hilda Bold"/>
                  <a:sym typeface="Ericsson Hilda Bold"/>
                </a:defRPr>
              </a:lvl1pPr>
            </a:lstStyle>
            <a:p>
              <a:pPr/>
              <a:r>
                <a:t>K8s Deploy</a:t>
              </a:r>
            </a:p>
          </p:txBody>
        </p:sp>
      </p:grpSp>
      <p:sp>
        <p:nvSpPr>
          <p:cNvPr id="983" name="TextBox 9"/>
          <p:cNvSpPr txBox="1"/>
          <p:nvPr/>
        </p:nvSpPr>
        <p:spPr>
          <a:xfrm>
            <a:off x="8732519" y="2560320"/>
            <a:ext cx="2194561" cy="4711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lnSpc>
                <a:spcPct val="130000"/>
              </a:lnSpc>
              <a:defRPr sz="1100">
                <a:solidFill>
                  <a:srgbClr val="242424"/>
                </a:solidFill>
              </a:defRPr>
            </a:pPr>
            <a:r>
              <a:t>NEF-shim pulls</a:t>
            </a:r>
            <a:endParaRPr>
              <a:solidFill>
                <a:srgbClr val="000000"/>
              </a:solidFill>
            </a:endParaRPr>
          </a:p>
          <a:p>
            <a:pPr algn="ctr">
              <a:lnSpc>
                <a:spcPct val="130000"/>
              </a:lnSpc>
              <a:defRPr sz="1100">
                <a:solidFill>
                  <a:srgbClr val="242424"/>
                </a:solidFill>
              </a:defRPr>
            </a:pPr>
            <a:r>
              <a:t>image on demand</a:t>
            </a:r>
          </a:p>
        </p:txBody>
      </p:sp>
      <p:sp>
        <p:nvSpPr>
          <p:cNvPr id="984" name="Connector 10"/>
          <p:cNvSpPr/>
          <p:nvPr/>
        </p:nvSpPr>
        <p:spPr>
          <a:xfrm>
            <a:off x="2743200" y="2148839"/>
            <a:ext cx="457200" cy="1"/>
          </a:xfrm>
          <a:prstGeom prst="line">
            <a:avLst/>
          </a:prstGeom>
          <a:ln w="25400">
            <a:solidFill>
              <a:schemeClr val="accent1"/>
            </a:solidFill>
            <a:tailEnd type="triangle"/>
          </a:ln>
          <a:effectLst>
            <a:outerShdw sx="100000" sy="100000" kx="0" ky="0" algn="b" rotWithShape="0" blurRad="38100" dist="20000" dir="5400000">
              <a:srgbClr val="000000">
                <a:alpha val="38000"/>
              </a:srgbClr>
            </a:outerShdw>
          </a:effectLst>
        </p:spPr>
        <p:txBody>
          <a:bodyPr lIns="45719" rIns="45719"/>
          <a:lstStyle/>
          <a:p>
            <a:pPr/>
          </a:p>
        </p:txBody>
      </p:sp>
      <p:sp>
        <p:nvSpPr>
          <p:cNvPr id="985" name="Connector 11"/>
          <p:cNvSpPr/>
          <p:nvPr/>
        </p:nvSpPr>
        <p:spPr>
          <a:xfrm>
            <a:off x="5486400" y="2148839"/>
            <a:ext cx="457200" cy="1"/>
          </a:xfrm>
          <a:prstGeom prst="line">
            <a:avLst/>
          </a:prstGeom>
          <a:ln w="25400">
            <a:solidFill>
              <a:schemeClr val="accent1"/>
            </a:solidFill>
            <a:tailEnd type="triangle"/>
          </a:ln>
          <a:effectLst>
            <a:outerShdw sx="100000" sy="100000" kx="0" ky="0" algn="b" rotWithShape="0" blurRad="38100" dist="20000" dir="5400000">
              <a:srgbClr val="000000">
                <a:alpha val="38000"/>
              </a:srgbClr>
            </a:outerShdw>
          </a:effectLst>
        </p:spPr>
        <p:txBody>
          <a:bodyPr lIns="45719" rIns="45719"/>
          <a:lstStyle/>
          <a:p>
            <a:pPr/>
          </a:p>
        </p:txBody>
      </p:sp>
      <p:sp>
        <p:nvSpPr>
          <p:cNvPr id="986" name="Connector 12"/>
          <p:cNvSpPr/>
          <p:nvPr/>
        </p:nvSpPr>
        <p:spPr>
          <a:xfrm>
            <a:off x="8229600" y="2148839"/>
            <a:ext cx="457200" cy="1"/>
          </a:xfrm>
          <a:prstGeom prst="line">
            <a:avLst/>
          </a:prstGeom>
          <a:ln w="25400">
            <a:solidFill>
              <a:schemeClr val="accent1"/>
            </a:solidFill>
            <a:tailEnd type="triangle"/>
          </a:ln>
          <a:effectLst>
            <a:outerShdw sx="100000" sy="100000" kx="0" ky="0" algn="b" rotWithShape="0" blurRad="38100" dist="20000" dir="5400000">
              <a:srgbClr val="000000">
                <a:alpha val="38000"/>
              </a:srgbClr>
            </a:outerShdw>
          </a:effectLst>
        </p:spPr>
        <p:txBody>
          <a:bodyPr lIns="45719" rIns="45719"/>
          <a:lstStyle/>
          <a:p>
            <a:pPr/>
          </a:p>
        </p:txBody>
      </p:sp>
      <p:sp>
        <p:nvSpPr>
          <p:cNvPr id="987" name="TextBox 13"/>
          <p:cNvSpPr txBox="1"/>
          <p:nvPr/>
        </p:nvSpPr>
        <p:spPr>
          <a:xfrm>
            <a:off x="502919" y="3657600"/>
            <a:ext cx="3566161" cy="4978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2600">
                <a:solidFill>
                  <a:srgbClr val="000000"/>
                </a:solidFill>
                <a:latin typeface="Ericsson Hilda Bold"/>
                <a:ea typeface="Ericsson Hilda Bold"/>
                <a:cs typeface="Ericsson Hilda Bold"/>
                <a:sym typeface="Ericsson Hilda Bold"/>
              </a:defRPr>
            </a:lvl1pPr>
          </a:lstStyle>
          <a:p>
            <a:pPr/>
            <a:r>
              <a:t>Container Contents:</a:t>
            </a:r>
          </a:p>
        </p:txBody>
      </p:sp>
      <p:sp>
        <p:nvSpPr>
          <p:cNvPr id="988" name="TextBox 14"/>
          <p:cNvSpPr txBox="1"/>
          <p:nvPr/>
        </p:nvSpPr>
        <p:spPr>
          <a:xfrm>
            <a:off x="502919" y="4215560"/>
            <a:ext cx="4937761" cy="2250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50000"/>
              </a:lnSpc>
              <a:defRPr sz="1700">
                <a:solidFill>
                  <a:srgbClr val="242424"/>
                </a:solidFill>
              </a:defRPr>
            </a:pPr>
            <a:r>
              <a:t>• Triton Inference Server (NVIDIA base image)</a:t>
            </a:r>
            <a:endParaRPr>
              <a:solidFill>
                <a:srgbClr val="000000"/>
              </a:solidFill>
            </a:endParaRPr>
          </a:p>
          <a:p>
            <a:pPr>
              <a:lnSpc>
                <a:spcPct val="150000"/>
              </a:lnSpc>
              <a:defRPr sz="1700">
                <a:solidFill>
                  <a:srgbClr val="242424"/>
                </a:solidFill>
              </a:defRPr>
            </a:pPr>
            <a:r>
              <a:t>• Sidecar gRPC/HTTP server (Python)</a:t>
            </a:r>
            <a:endParaRPr>
              <a:solidFill>
                <a:srgbClr val="000000"/>
              </a:solidFill>
            </a:endParaRPr>
          </a:p>
          <a:p>
            <a:pPr>
              <a:lnSpc>
                <a:spcPct val="150000"/>
              </a:lnSpc>
              <a:defRPr sz="1700">
                <a:solidFill>
                  <a:srgbClr val="242424"/>
                </a:solidFill>
              </a:defRPr>
            </a:pPr>
            <a:r>
              <a:t>• YOLOv8n.pt + YOLOv8x-seg.pt (weights)</a:t>
            </a:r>
            <a:endParaRPr>
              <a:solidFill>
                <a:srgbClr val="000000"/>
              </a:solidFill>
            </a:endParaRPr>
          </a:p>
          <a:p>
            <a:pPr>
              <a:lnSpc>
                <a:spcPct val="150000"/>
              </a:lnSpc>
              <a:defRPr sz="1700">
                <a:solidFill>
                  <a:srgbClr val="242424"/>
                </a:solidFill>
              </a:defRPr>
            </a:pPr>
            <a:r>
              <a:t>• export_model.py (ONNX → TRT on first boot)</a:t>
            </a:r>
            <a:endParaRPr>
              <a:solidFill>
                <a:srgbClr val="000000"/>
              </a:solidFill>
            </a:endParaRPr>
          </a:p>
          <a:p>
            <a:pPr>
              <a:lnSpc>
                <a:spcPct val="150000"/>
              </a:lnSpc>
              <a:defRPr sz="1700">
                <a:solidFill>
                  <a:srgbClr val="242424"/>
                </a:solidFill>
              </a:defRPr>
            </a:pPr>
            <a:r>
              <a:t>• Model configs (config.pbtxt)</a:t>
            </a:r>
            <a:endParaRPr>
              <a:solidFill>
                <a:srgbClr val="000000"/>
              </a:solidFill>
            </a:endParaRPr>
          </a:p>
          <a:p>
            <a:pPr>
              <a:lnSpc>
                <a:spcPct val="150000"/>
              </a:lnSpc>
              <a:defRPr sz="1700">
                <a:solidFill>
                  <a:srgbClr val="242424"/>
                </a:solidFill>
              </a:defRPr>
            </a:pPr>
            <a:r>
              <a:t>• entrypoint.sh (orchestrates build + start)</a:t>
            </a:r>
          </a:p>
        </p:txBody>
      </p:sp>
      <p:sp>
        <p:nvSpPr>
          <p:cNvPr id="989" name="TextBox 15"/>
          <p:cNvSpPr txBox="1"/>
          <p:nvPr/>
        </p:nvSpPr>
        <p:spPr>
          <a:xfrm>
            <a:off x="6446520" y="3657600"/>
            <a:ext cx="4480560" cy="4978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2600">
                <a:solidFill>
                  <a:srgbClr val="000000"/>
                </a:solidFill>
                <a:latin typeface="Ericsson Hilda Bold"/>
                <a:ea typeface="Ericsson Hilda Bold"/>
                <a:cs typeface="Ericsson Hilda Bold"/>
                <a:sym typeface="Ericsson Hilda Bold"/>
              </a:defRPr>
            </a:lvl1pPr>
          </a:lstStyle>
          <a:p>
            <a:pPr/>
            <a:r>
              <a:t>First Boot Sequence:</a:t>
            </a:r>
          </a:p>
        </p:txBody>
      </p:sp>
      <p:sp>
        <p:nvSpPr>
          <p:cNvPr id="990" name="TextBox 16"/>
          <p:cNvSpPr txBox="1"/>
          <p:nvPr/>
        </p:nvSpPr>
        <p:spPr>
          <a:xfrm>
            <a:off x="6446520" y="4254919"/>
            <a:ext cx="4937760" cy="186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50000"/>
              </a:lnSpc>
              <a:defRPr sz="1700">
                <a:solidFill>
                  <a:srgbClr val="242424"/>
                </a:solidFill>
              </a:defRPr>
            </a:pPr>
            <a:r>
              <a:t>1. Export .pt → ONNX (if not cached)</a:t>
            </a:r>
            <a:endParaRPr>
              <a:solidFill>
                <a:srgbClr val="000000"/>
              </a:solidFill>
            </a:endParaRPr>
          </a:p>
          <a:p>
            <a:pPr>
              <a:lnSpc>
                <a:spcPct val="150000"/>
              </a:lnSpc>
              <a:defRPr sz="1700">
                <a:solidFill>
                  <a:srgbClr val="242424"/>
                </a:solidFill>
              </a:defRPr>
            </a:pPr>
            <a:r>
              <a:t>2. Build TRT FP16 engine (~4 min)</a:t>
            </a:r>
            <a:endParaRPr>
              <a:solidFill>
                <a:srgbClr val="000000"/>
              </a:solidFill>
            </a:endParaRPr>
          </a:p>
          <a:p>
            <a:pPr>
              <a:lnSpc>
                <a:spcPct val="150000"/>
              </a:lnSpc>
              <a:defRPr sz="1700">
                <a:solidFill>
                  <a:srgbClr val="242424"/>
                </a:solidFill>
              </a:defRPr>
            </a:pPr>
            <a:r>
              <a:t>3. Start Triton (load both models)</a:t>
            </a:r>
            <a:endParaRPr>
              <a:solidFill>
                <a:srgbClr val="000000"/>
              </a:solidFill>
            </a:endParaRPr>
          </a:p>
          <a:p>
            <a:pPr>
              <a:lnSpc>
                <a:spcPct val="150000"/>
              </a:lnSpc>
              <a:defRPr sz="1700">
                <a:solidFill>
                  <a:srgbClr val="242424"/>
                </a:solidFill>
              </a:defRPr>
            </a:pPr>
            <a:r>
              <a:t>4. Start sidecar (gRPC:50051, HTTP:8080)</a:t>
            </a:r>
            <a:endParaRPr>
              <a:solidFill>
                <a:srgbClr val="000000"/>
              </a:solidFill>
            </a:endParaRPr>
          </a:p>
          <a:p>
            <a:pPr>
              <a:lnSpc>
                <a:spcPct val="150000"/>
              </a:lnSpc>
              <a:defRPr sz="1700">
                <a:solidFill>
                  <a:srgbClr val="242424"/>
                </a:solidFill>
              </a:defRPr>
            </a:pPr>
            <a:r>
              <a:t>5. Readiness probe passes → NodePort live</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94" name="Title 1"/>
          <p:cNvSpPr txBox="1"/>
          <p:nvPr>
            <p:ph type="title"/>
          </p:nvPr>
        </p:nvSpPr>
        <p:spPr>
          <a:xfrm>
            <a:off x="479423" y="476250"/>
            <a:ext cx="10073507" cy="1081088"/>
          </a:xfrm>
          <a:prstGeom prst="rect">
            <a:avLst/>
          </a:prstGeom>
        </p:spPr>
        <p:txBody>
          <a:bodyPr/>
          <a:lstStyle/>
          <a:p>
            <a:pPr defTabSz="868680">
              <a:spcBef>
                <a:spcPts val="200"/>
              </a:spcBef>
              <a:defRPr spc="-190" sz="3800">
                <a:solidFill>
                  <a:srgbClr val="000000"/>
                </a:solidFill>
              </a:defRPr>
            </a:pPr>
            <a:r>
              <a:t>Client can select two modes: Detection or Segmentation</a:t>
            </a:r>
          </a:p>
          <a:p>
            <a:pPr defTabSz="868680">
              <a:spcBef>
                <a:spcPts val="200"/>
              </a:spcBef>
              <a:defRPr spc="-147" sz="2945">
                <a:solidFill>
                  <a:srgbClr val="000000"/>
                </a:solidFill>
              </a:defRPr>
            </a:pPr>
            <a:r>
              <a:t>Two AI models that can run either locally or be offloaded</a:t>
            </a:r>
          </a:p>
        </p:txBody>
      </p:sp>
      <p:sp>
        <p:nvSpPr>
          <p:cNvPr id="995" name="Rounded Rectangle 2"/>
          <p:cNvSpPr/>
          <p:nvPr/>
        </p:nvSpPr>
        <p:spPr>
          <a:xfrm>
            <a:off x="640080" y="1828800"/>
            <a:ext cx="5029201" cy="4114800"/>
          </a:xfrm>
          <a:prstGeom prst="roundRect">
            <a:avLst>
              <a:gd name="adj" fmla="val 16667"/>
            </a:avLst>
          </a:prstGeom>
          <a:solidFill>
            <a:srgbClr val="FFFFFF"/>
          </a:solidFill>
          <a:ln w="19050">
            <a:solidFill>
              <a:schemeClr val="accent1"/>
            </a:solidFill>
          </a:ln>
          <a:effectLst>
            <a:outerShdw sx="100000" sy="100000" kx="0" ky="0" algn="b" rotWithShape="0" blurRad="38100" dist="23000" dir="5400000">
              <a:srgbClr val="000000">
                <a:alpha val="35000"/>
              </a:srgbClr>
            </a:outerShdw>
          </a:effectLst>
        </p:spPr>
        <p:txBody>
          <a:bodyPr lIns="36000" tIns="36000" rIns="36000" bIns="36000" anchor="ctr"/>
          <a:lstStyle/>
          <a:p>
            <a:pPr algn="ctr">
              <a:defRPr>
                <a:solidFill>
                  <a:srgbClr val="FFFFFF"/>
                </a:solidFill>
              </a:defRPr>
            </a:pPr>
          </a:p>
        </p:txBody>
      </p:sp>
      <p:sp>
        <p:nvSpPr>
          <p:cNvPr id="996" name="TextBox 3"/>
          <p:cNvSpPr txBox="1"/>
          <p:nvPr/>
        </p:nvSpPr>
        <p:spPr>
          <a:xfrm>
            <a:off x="960119" y="2011679"/>
            <a:ext cx="4480561" cy="383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900">
                <a:solidFill>
                  <a:schemeClr val="accent1"/>
                </a:solidFill>
                <a:latin typeface="Ericsson Hilda Bold"/>
                <a:ea typeface="Ericsson Hilda Bold"/>
                <a:cs typeface="Ericsson Hilda Bold"/>
                <a:sym typeface="Ericsson Hilda Bold"/>
              </a:defRPr>
            </a:lvl1pPr>
          </a:lstStyle>
          <a:p>
            <a:pPr/>
            <a:r>
              <a:t>YOLOv8n — Object Detection</a:t>
            </a:r>
          </a:p>
        </p:txBody>
      </p:sp>
      <p:sp>
        <p:nvSpPr>
          <p:cNvPr id="997" name="TextBox 4"/>
          <p:cNvSpPr txBox="1"/>
          <p:nvPr/>
        </p:nvSpPr>
        <p:spPr>
          <a:xfrm>
            <a:off x="960119" y="2468879"/>
            <a:ext cx="4480561" cy="320040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40000"/>
              </a:lnSpc>
              <a:defRPr sz="1500">
                <a:solidFill>
                  <a:srgbClr val="242424"/>
                </a:solidFill>
              </a:defRPr>
            </a:pPr>
            <a:r>
              <a:t>Parameters: 6.3M</a:t>
            </a:r>
            <a:endParaRPr>
              <a:solidFill>
                <a:srgbClr val="000000"/>
              </a:solidFill>
            </a:endParaRPr>
          </a:p>
          <a:p>
            <a:pPr>
              <a:lnSpc>
                <a:spcPct val="140000"/>
              </a:lnSpc>
              <a:defRPr sz="1500">
                <a:solidFill>
                  <a:srgbClr val="242424"/>
                </a:solidFill>
              </a:defRPr>
            </a:pPr>
            <a:r>
              <a:t>Input: 640×640×3 (FP16)</a:t>
            </a:r>
            <a:endParaRPr>
              <a:solidFill>
                <a:srgbClr val="000000"/>
              </a:solidFill>
            </a:endParaRPr>
          </a:p>
          <a:p>
            <a:pPr>
              <a:lnSpc>
                <a:spcPct val="140000"/>
              </a:lnSpc>
              <a:defRPr sz="1500">
                <a:solidFill>
                  <a:srgbClr val="242424"/>
                </a:solidFill>
              </a:defRPr>
            </a:pPr>
            <a:r>
              <a:t>Output: [1, 84, 8400] (boxes + 80 classes)</a:t>
            </a:r>
            <a:endParaRPr>
              <a:solidFill>
                <a:srgbClr val="000000"/>
              </a:solidFill>
            </a:endParaRPr>
          </a:p>
          <a:p>
            <a:pPr>
              <a:lnSpc>
                <a:spcPct val="140000"/>
              </a:lnSpc>
              <a:defRPr sz="1500">
                <a:solidFill>
                  <a:srgbClr val="242424"/>
                </a:solidFill>
              </a:defRPr>
            </a:pPr>
            <a:r>
              <a:t>Edge inference: ~5ms</a:t>
            </a:r>
            <a:endParaRPr>
              <a:solidFill>
                <a:srgbClr val="000000"/>
              </a:solidFill>
            </a:endParaRPr>
          </a:p>
          <a:p>
            <a:pPr>
              <a:lnSpc>
                <a:spcPct val="140000"/>
              </a:lnSpc>
              <a:defRPr sz="1500">
                <a:solidFill>
                  <a:srgbClr val="242424"/>
                </a:solidFill>
              </a:defRPr>
            </a:pPr>
            <a:r>
              <a:t>Local CPU (M1): ~120ms</a:t>
            </a:r>
            <a:endParaRPr>
              <a:solidFill>
                <a:srgbClr val="000000"/>
              </a:solidFill>
            </a:endParaRPr>
          </a:p>
          <a:p>
            <a:pPr>
              <a:lnSpc>
                <a:spcPct val="140000"/>
              </a:lnSpc>
              <a:defRPr sz="1500">
                <a:solidFill>
                  <a:srgbClr val="242424"/>
                </a:solidFill>
              </a:defRPr>
            </a:pPr>
            <a:r>
              <a:t>Speedup: 24x</a:t>
            </a:r>
            <a:endParaRPr>
              <a:solidFill>
                <a:srgbClr val="000000"/>
              </a:solidFill>
            </a:endParaRPr>
          </a:p>
          <a:p>
            <a:pPr>
              <a:lnSpc>
                <a:spcPct val="140000"/>
              </a:lnSpc>
              <a:defRPr sz="1500">
                <a:solidFill>
                  <a:srgbClr val="242424"/>
                </a:solidFill>
              </a:defRPr>
            </a:pPr>
          </a:p>
          <a:p>
            <a:pPr>
              <a:lnSpc>
                <a:spcPct val="140000"/>
              </a:lnSpc>
              <a:defRPr sz="1500">
                <a:solidFill>
                  <a:srgbClr val="242424"/>
                </a:solidFill>
              </a:defRPr>
            </a:pPr>
          </a:p>
          <a:p>
            <a:pPr>
              <a:lnSpc>
                <a:spcPct val="140000"/>
              </a:lnSpc>
              <a:defRPr sz="1500">
                <a:solidFill>
                  <a:srgbClr val="242424"/>
                </a:solidFill>
              </a:defRPr>
            </a:pPr>
            <a:r>
              <a:t>Use case: Real-time object counting,</a:t>
            </a:r>
            <a:endParaRPr>
              <a:solidFill>
                <a:srgbClr val="000000"/>
              </a:solidFill>
            </a:endParaRPr>
          </a:p>
          <a:p>
            <a:pPr>
              <a:lnSpc>
                <a:spcPct val="140000"/>
              </a:lnSpc>
              <a:defRPr sz="1500">
                <a:solidFill>
                  <a:srgbClr val="242424"/>
                </a:solidFill>
              </a:defRPr>
            </a:pPr>
            <a:r>
              <a:t>tracking, presence detection</a:t>
            </a:r>
          </a:p>
        </p:txBody>
      </p:sp>
      <p:sp>
        <p:nvSpPr>
          <p:cNvPr id="998" name="Rounded Rectangle 5"/>
          <p:cNvSpPr/>
          <p:nvPr/>
        </p:nvSpPr>
        <p:spPr>
          <a:xfrm>
            <a:off x="6217920" y="1828800"/>
            <a:ext cx="5029201" cy="4114800"/>
          </a:xfrm>
          <a:prstGeom prst="roundRect">
            <a:avLst>
              <a:gd name="adj" fmla="val 16667"/>
            </a:avLst>
          </a:prstGeom>
          <a:solidFill>
            <a:srgbClr val="FFFFFF"/>
          </a:solidFill>
          <a:ln w="19050">
            <a:solidFill>
              <a:schemeClr val="accent1"/>
            </a:solidFill>
          </a:ln>
          <a:effectLst>
            <a:outerShdw sx="100000" sy="100000" kx="0" ky="0" algn="b" rotWithShape="0" blurRad="38100" dist="23000" dir="5400000">
              <a:srgbClr val="000000">
                <a:alpha val="35000"/>
              </a:srgbClr>
            </a:outerShdw>
          </a:effectLst>
        </p:spPr>
        <p:txBody>
          <a:bodyPr lIns="36000" tIns="36000" rIns="36000" bIns="36000" anchor="ctr"/>
          <a:lstStyle/>
          <a:p>
            <a:pPr algn="ctr">
              <a:defRPr>
                <a:solidFill>
                  <a:srgbClr val="FFFFFF"/>
                </a:solidFill>
              </a:defRPr>
            </a:pPr>
          </a:p>
        </p:txBody>
      </p:sp>
      <p:sp>
        <p:nvSpPr>
          <p:cNvPr id="999" name="TextBox 6"/>
          <p:cNvSpPr txBox="1"/>
          <p:nvPr/>
        </p:nvSpPr>
        <p:spPr>
          <a:xfrm>
            <a:off x="6537959" y="2011679"/>
            <a:ext cx="4480561" cy="383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30000"/>
              </a:lnSpc>
              <a:defRPr sz="1900">
                <a:solidFill>
                  <a:schemeClr val="accent1"/>
                </a:solidFill>
                <a:latin typeface="Ericsson Hilda Bold"/>
                <a:ea typeface="Ericsson Hilda Bold"/>
                <a:cs typeface="Ericsson Hilda Bold"/>
                <a:sym typeface="Ericsson Hilda Bold"/>
              </a:defRPr>
            </a:lvl1pPr>
          </a:lstStyle>
          <a:p>
            <a:pPr/>
            <a:r>
              <a:t>YOLOv8x-seg — Instance Segmentation</a:t>
            </a:r>
          </a:p>
        </p:txBody>
      </p:sp>
      <p:sp>
        <p:nvSpPr>
          <p:cNvPr id="1000" name="TextBox 7"/>
          <p:cNvSpPr txBox="1"/>
          <p:nvPr/>
        </p:nvSpPr>
        <p:spPr>
          <a:xfrm>
            <a:off x="6537959" y="2468879"/>
            <a:ext cx="4480561" cy="320040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40000"/>
              </a:lnSpc>
              <a:defRPr sz="1500">
                <a:solidFill>
                  <a:srgbClr val="242424"/>
                </a:solidFill>
              </a:defRPr>
            </a:pPr>
            <a:r>
              <a:t>Parameters: 71.8M</a:t>
            </a:r>
            <a:endParaRPr>
              <a:solidFill>
                <a:srgbClr val="000000"/>
              </a:solidFill>
            </a:endParaRPr>
          </a:p>
          <a:p>
            <a:pPr>
              <a:lnSpc>
                <a:spcPct val="140000"/>
              </a:lnSpc>
              <a:defRPr sz="1500">
                <a:solidFill>
                  <a:srgbClr val="242424"/>
                </a:solidFill>
              </a:defRPr>
            </a:pPr>
            <a:r>
              <a:t>Input: 640×640×3 (FP16)</a:t>
            </a:r>
            <a:endParaRPr>
              <a:solidFill>
                <a:srgbClr val="000000"/>
              </a:solidFill>
            </a:endParaRPr>
          </a:p>
          <a:p>
            <a:pPr>
              <a:lnSpc>
                <a:spcPct val="140000"/>
              </a:lnSpc>
              <a:defRPr sz="1500">
                <a:solidFill>
                  <a:srgbClr val="242424"/>
                </a:solidFill>
              </a:defRPr>
            </a:pPr>
            <a:r>
              <a:t>Output 0: [1, 116, 8400] (boxes + masks)</a:t>
            </a:r>
            <a:endParaRPr>
              <a:solidFill>
                <a:srgbClr val="000000"/>
              </a:solidFill>
            </a:endParaRPr>
          </a:p>
          <a:p>
            <a:pPr>
              <a:lnSpc>
                <a:spcPct val="140000"/>
              </a:lnSpc>
              <a:defRPr sz="1500">
                <a:solidFill>
                  <a:srgbClr val="242424"/>
                </a:solidFill>
              </a:defRPr>
            </a:pPr>
            <a:r>
              <a:t>Output 1: [1, 32, 160, 160] (prototypes)</a:t>
            </a:r>
            <a:endParaRPr>
              <a:solidFill>
                <a:srgbClr val="000000"/>
              </a:solidFill>
            </a:endParaRPr>
          </a:p>
          <a:p>
            <a:pPr>
              <a:lnSpc>
                <a:spcPct val="140000"/>
              </a:lnSpc>
              <a:defRPr sz="1500">
                <a:solidFill>
                  <a:srgbClr val="242424"/>
                </a:solidFill>
              </a:defRPr>
            </a:pPr>
            <a:r>
              <a:t>Edge inference: ~9ms</a:t>
            </a:r>
            <a:endParaRPr>
              <a:solidFill>
                <a:srgbClr val="000000"/>
              </a:solidFill>
            </a:endParaRPr>
          </a:p>
          <a:p>
            <a:pPr>
              <a:lnSpc>
                <a:spcPct val="140000"/>
              </a:lnSpc>
              <a:defRPr sz="1500">
                <a:solidFill>
                  <a:srgbClr val="242424"/>
                </a:solidFill>
              </a:defRPr>
            </a:pPr>
            <a:r>
              <a:t>Local CPU (M1): ~530ms</a:t>
            </a:r>
            <a:endParaRPr>
              <a:solidFill>
                <a:srgbClr val="000000"/>
              </a:solidFill>
            </a:endParaRPr>
          </a:p>
          <a:p>
            <a:pPr>
              <a:lnSpc>
                <a:spcPct val="140000"/>
              </a:lnSpc>
              <a:defRPr sz="1500">
                <a:solidFill>
                  <a:srgbClr val="242424"/>
                </a:solidFill>
              </a:defRPr>
            </a:pPr>
            <a:r>
              <a:t>Speedup: 59x</a:t>
            </a:r>
            <a:endParaRPr>
              <a:solidFill>
                <a:srgbClr val="000000"/>
              </a:solidFill>
            </a:endParaRPr>
          </a:p>
          <a:p>
            <a:pPr>
              <a:lnSpc>
                <a:spcPct val="140000"/>
              </a:lnSpc>
              <a:defRPr sz="1500">
                <a:solidFill>
                  <a:srgbClr val="242424"/>
                </a:solidFill>
              </a:defRPr>
            </a:pPr>
          </a:p>
          <a:p>
            <a:pPr>
              <a:lnSpc>
                <a:spcPct val="140000"/>
              </a:lnSpc>
              <a:defRPr sz="1500">
                <a:solidFill>
                  <a:srgbClr val="242424"/>
                </a:solidFill>
              </a:defRPr>
            </a:pPr>
            <a:r>
              <a:t>Use case: Pixel-level object boundaries,</a:t>
            </a:r>
            <a:endParaRPr>
              <a:solidFill>
                <a:srgbClr val="000000"/>
              </a:solidFill>
            </a:endParaRPr>
          </a:p>
          <a:p>
            <a:pPr>
              <a:lnSpc>
                <a:spcPct val="140000"/>
              </a:lnSpc>
              <a:defRPr sz="1500">
                <a:solidFill>
                  <a:srgbClr val="242424"/>
                </a:solidFill>
              </a:defRPr>
            </a:pPr>
            <a:r>
              <a:t>scene understanding, AR overlays</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04" name="Title 1"/>
          <p:cNvSpPr txBox="1"/>
          <p:nvPr>
            <p:ph type="title"/>
          </p:nvPr>
        </p:nvSpPr>
        <p:spPr>
          <a:prstGeom prst="rect">
            <a:avLst/>
          </a:prstGeom>
        </p:spPr>
        <p:txBody>
          <a:bodyPr/>
          <a:lstStyle>
            <a:lvl1pPr>
              <a:defRPr spc="-200">
                <a:solidFill>
                  <a:srgbClr val="000000"/>
                </a:solidFill>
              </a:defRPr>
            </a:lvl1pPr>
          </a:lstStyle>
          <a:p>
            <a:pPr/>
            <a:r>
              <a:t>Runtime Properties - Detection </a:t>
            </a:r>
          </a:p>
        </p:txBody>
      </p:sp>
      <p:pic>
        <p:nvPicPr>
          <p:cNvPr id="1005" name="pasted-movie.png" descr="pasted-movie.png"/>
          <p:cNvPicPr>
            <a:picLocks noChangeAspect="1"/>
          </p:cNvPicPr>
          <p:nvPr/>
        </p:nvPicPr>
        <p:blipFill>
          <a:blip r:embed="rId3">
            <a:extLst/>
          </a:blip>
          <a:stretch>
            <a:fillRect/>
          </a:stretch>
        </p:blipFill>
        <p:spPr>
          <a:xfrm>
            <a:off x="2248703" y="1206926"/>
            <a:ext cx="7694594" cy="3750115"/>
          </a:xfrm>
          <a:prstGeom prst="rect">
            <a:avLst/>
          </a:prstGeom>
          <a:ln w="12700">
            <a:miter lim="400000"/>
          </a:ln>
        </p:spPr>
      </p:pic>
      <p:pic>
        <p:nvPicPr>
          <p:cNvPr id="1006" name="pasted-movie.png" descr="pasted-movie.png"/>
          <p:cNvPicPr>
            <a:picLocks noChangeAspect="1"/>
          </p:cNvPicPr>
          <p:nvPr/>
        </p:nvPicPr>
        <p:blipFill>
          <a:blip r:embed="rId4">
            <a:extLst/>
          </a:blip>
          <a:stretch>
            <a:fillRect/>
          </a:stretch>
        </p:blipFill>
        <p:spPr>
          <a:xfrm>
            <a:off x="2254420" y="5051591"/>
            <a:ext cx="7683160" cy="1634959"/>
          </a:xfrm>
          <a:prstGeom prst="rect">
            <a:avLst/>
          </a:prstGeom>
          <a:ln w="12700">
            <a:miter lim="400000"/>
          </a:ln>
        </p:spPr>
      </p:pic>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10" name="Title 1"/>
          <p:cNvSpPr txBox="1"/>
          <p:nvPr>
            <p:ph type="title"/>
          </p:nvPr>
        </p:nvSpPr>
        <p:spPr>
          <a:prstGeom prst="rect">
            <a:avLst/>
          </a:prstGeom>
        </p:spPr>
        <p:txBody>
          <a:bodyPr/>
          <a:lstStyle>
            <a:lvl1pPr>
              <a:defRPr spc="-200">
                <a:solidFill>
                  <a:srgbClr val="000000"/>
                </a:solidFill>
              </a:defRPr>
            </a:lvl1pPr>
          </a:lstStyle>
          <a:p>
            <a:pPr/>
            <a:r>
              <a:t>Runtime Properties - Segmentation </a:t>
            </a:r>
          </a:p>
        </p:txBody>
      </p:sp>
      <p:pic>
        <p:nvPicPr>
          <p:cNvPr id="1011" name="pasted-movie.png" descr="pasted-movie.png"/>
          <p:cNvPicPr>
            <a:picLocks noChangeAspect="1"/>
          </p:cNvPicPr>
          <p:nvPr/>
        </p:nvPicPr>
        <p:blipFill>
          <a:blip r:embed="rId3">
            <a:extLst/>
          </a:blip>
          <a:stretch>
            <a:fillRect/>
          </a:stretch>
        </p:blipFill>
        <p:spPr>
          <a:xfrm>
            <a:off x="2246867" y="1147135"/>
            <a:ext cx="7698266" cy="3808858"/>
          </a:xfrm>
          <a:prstGeom prst="rect">
            <a:avLst/>
          </a:prstGeom>
          <a:ln w="12700">
            <a:miter lim="400000"/>
          </a:ln>
        </p:spPr>
      </p:pic>
      <p:pic>
        <p:nvPicPr>
          <p:cNvPr id="1012" name="pasted-movie.png" descr="pasted-movie.png"/>
          <p:cNvPicPr>
            <a:picLocks noChangeAspect="1"/>
          </p:cNvPicPr>
          <p:nvPr/>
        </p:nvPicPr>
        <p:blipFill>
          <a:blip r:embed="rId4">
            <a:extLst/>
          </a:blip>
          <a:stretch>
            <a:fillRect/>
          </a:stretch>
        </p:blipFill>
        <p:spPr>
          <a:xfrm>
            <a:off x="2248703" y="5076656"/>
            <a:ext cx="7694594" cy="1610230"/>
          </a:xfrm>
          <a:prstGeom prst="rect">
            <a:avLst/>
          </a:prstGeom>
          <a:ln w="12700">
            <a:miter lim="400000"/>
          </a:ln>
        </p:spPr>
      </p:pic>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PresentationTemplate2025">
  <a:themeElements>
    <a:clrScheme name="PresentationTemplate2025">
      <a:dk1>
        <a:srgbClr val="181818"/>
      </a:dk1>
      <a:lt1>
        <a:srgbClr val="181818"/>
      </a:lt1>
      <a:dk2>
        <a:srgbClr val="A7A7A7"/>
      </a:dk2>
      <a:lt2>
        <a:srgbClr val="535353"/>
      </a:lt2>
      <a:accent1>
        <a:srgbClr val="1174E6"/>
      </a:accent1>
      <a:accent2>
        <a:srgbClr val="23969A"/>
      </a:accent2>
      <a:accent3>
        <a:srgbClr val="976CF4"/>
      </a:accent3>
      <a:accent4>
        <a:srgbClr val="FAD22D"/>
      </a:accent4>
      <a:accent5>
        <a:srgbClr val="E66E19"/>
      </a:accent5>
      <a:accent6>
        <a:srgbClr val="E65D6A"/>
      </a:accent6>
      <a:hlink>
        <a:srgbClr val="0000FF"/>
      </a:hlink>
      <a:folHlink>
        <a:srgbClr val="FF00FF"/>
      </a:folHlink>
    </a:clrScheme>
    <a:fontScheme name="PresentationTemplate2025">
      <a:majorFont>
        <a:latin typeface="Helvetica"/>
        <a:ea typeface="Helvetica"/>
        <a:cs typeface="Helvetica"/>
      </a:majorFont>
      <a:minorFont>
        <a:latin typeface="Ericsson Hilda Light"/>
        <a:ea typeface="Ericsson Hilda Light"/>
        <a:cs typeface="Ericsson Hilda Light"/>
      </a:minorFont>
    </a:fontScheme>
    <a:fmtScheme name="PresentationTemplate202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36000" tIns="36000" rIns="36000" bIns="3600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81818"/>
            </a:solidFill>
            <a:effectLst/>
            <a:uFillTx/>
            <a:latin typeface="Ericsson Hilda Regular"/>
            <a:ea typeface="Ericsson Hilda Regular"/>
            <a:cs typeface="Ericsson Hilda Regular"/>
            <a:sym typeface="Ericsson Hilda Regular"/>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36000" tIns="36000" rIns="36000" bIns="3600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81818"/>
            </a:solidFill>
            <a:effectLst/>
            <a:uFillTx/>
            <a:latin typeface="Ericsson Hilda Regular"/>
            <a:ea typeface="Ericsson Hilda Regular"/>
            <a:cs typeface="Ericsson Hilda Regular"/>
            <a:sym typeface="Ericsson Hilda Regular"/>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PresentationTemplate2025">
  <a:themeElements>
    <a:clrScheme name="PresentationTemplate2025">
      <a:dk1>
        <a:srgbClr val="000000"/>
      </a:dk1>
      <a:lt1>
        <a:srgbClr val="FFFFFF"/>
      </a:lt1>
      <a:dk2>
        <a:srgbClr val="A7A7A7"/>
      </a:dk2>
      <a:lt2>
        <a:srgbClr val="535353"/>
      </a:lt2>
      <a:accent1>
        <a:srgbClr val="1174E6"/>
      </a:accent1>
      <a:accent2>
        <a:srgbClr val="23969A"/>
      </a:accent2>
      <a:accent3>
        <a:srgbClr val="976CF4"/>
      </a:accent3>
      <a:accent4>
        <a:srgbClr val="FAD22D"/>
      </a:accent4>
      <a:accent5>
        <a:srgbClr val="E66E19"/>
      </a:accent5>
      <a:accent6>
        <a:srgbClr val="E65D6A"/>
      </a:accent6>
      <a:hlink>
        <a:srgbClr val="0000FF"/>
      </a:hlink>
      <a:folHlink>
        <a:srgbClr val="FF00FF"/>
      </a:folHlink>
    </a:clrScheme>
    <a:fontScheme name="PresentationTemplate2025">
      <a:majorFont>
        <a:latin typeface="Helvetica"/>
        <a:ea typeface="Helvetica"/>
        <a:cs typeface="Helvetica"/>
      </a:majorFont>
      <a:minorFont>
        <a:latin typeface="Ericsson Hilda Light"/>
        <a:ea typeface="Ericsson Hilda Light"/>
        <a:cs typeface="Ericsson Hilda Light"/>
      </a:minorFont>
    </a:fontScheme>
    <a:fmtScheme name="PresentationTemplate202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36000" tIns="36000" rIns="36000" bIns="3600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81818"/>
            </a:solidFill>
            <a:effectLst/>
            <a:uFillTx/>
            <a:latin typeface="Ericsson Hilda Regular"/>
            <a:ea typeface="Ericsson Hilda Regular"/>
            <a:cs typeface="Ericsson Hilda Regular"/>
            <a:sym typeface="Ericsson Hilda Regular"/>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36000" tIns="36000" rIns="36000" bIns="3600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81818"/>
            </a:solidFill>
            <a:effectLst/>
            <a:uFillTx/>
            <a:latin typeface="Ericsson Hilda Regular"/>
            <a:ea typeface="Ericsson Hilda Regular"/>
            <a:cs typeface="Ericsson Hilda Regular"/>
            <a:sym typeface="Ericsson Hilda Regular"/>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